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140b1d83d764140" /><Relationship Type="http://schemas.openxmlformats.org/officeDocument/2006/relationships/extended-properties" Target="/docProps/app.xml" Id="R64cc8e1063204cf3" /><Relationship Type="http://schemas.openxmlformats.org/officeDocument/2006/relationships/officeDocument" Target="/ppt/presentation.xml" Id="R6c0d355118c948c0" /></Relationships>
</file>

<file path=ppt/presentation.xml><?xml version="1.0" encoding="utf-8"?>
<p:presentation xmlns:p="http://schemas.openxmlformats.org/presentationml/2006/main">
  <p:sldMasterIdLst>
    <p:sldMasterId xmlns:r="http://schemas.openxmlformats.org/officeDocument/2006/relationships" id="2147483648" r:id="R64af1d856aac4915"/>
  </p:sldMasterIdLst>
  <p:notesMasterIdLst>
    <p:notesMasterId xmlns:r="http://schemas.openxmlformats.org/officeDocument/2006/relationships" r:id="R34957486a6f0473f"/>
  </p:notesMasterIdLst>
  <p:sldIdLst>
    <p:sldId xmlns:r="http://schemas.openxmlformats.org/officeDocument/2006/relationships" id="256" r:id="R0af66112da3e4d96"/>
    <p:sldId xmlns:r="http://schemas.openxmlformats.org/officeDocument/2006/relationships" id="257" r:id="R76eea9a5c73b452a"/>
    <p:sldId xmlns:r="http://schemas.openxmlformats.org/officeDocument/2006/relationships" id="258" r:id="R411606b7ffa44d67"/>
    <p:sldId xmlns:r="http://schemas.openxmlformats.org/officeDocument/2006/relationships" id="259" r:id="R43c25270d1644a1a"/>
    <p:sldId xmlns:r="http://schemas.openxmlformats.org/officeDocument/2006/relationships" id="260" r:id="Rcedeab1d254b402d"/>
    <p:sldId xmlns:r="http://schemas.openxmlformats.org/officeDocument/2006/relationships" id="261" r:id="R2b566891e75144df"/>
    <p:sldId xmlns:r="http://schemas.openxmlformats.org/officeDocument/2006/relationships" id="262" r:id="R3eaffcda08b84c56"/>
    <p:sldId xmlns:r="http://schemas.openxmlformats.org/officeDocument/2006/relationships" id="263" r:id="R68cf0feaae0b42c0"/>
    <p:sldId xmlns:r="http://schemas.openxmlformats.org/officeDocument/2006/relationships" id="264" r:id="R5f840c7375f147a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7c5180f1884d77" /><Relationship Type="http://schemas.openxmlformats.org/officeDocument/2006/relationships/slideMaster" Target="/ppt/slideMasters/slideMaster1.xml" Id="R64af1d856aac4915" /><Relationship Type="http://schemas.openxmlformats.org/officeDocument/2006/relationships/notesMaster" Target="/ppt/notesMasters/notesMaster1.xml" Id="R34957486a6f0473f" /><Relationship Type="http://schemas.openxmlformats.org/officeDocument/2006/relationships/presProps" Target="/ppt/presProps.xml" Id="R87a1d9846eea41ad" /><Relationship Type="http://schemas.openxmlformats.org/officeDocument/2006/relationships/tableStyles" Target="/ppt/tableStyles.xml" Id="R00d0111770614df8" /><Relationship Type="http://schemas.openxmlformats.org/officeDocument/2006/relationships/slide" Target="/ppt/slides/slide1.xml" Id="R0af66112da3e4d96" /><Relationship Type="http://schemas.openxmlformats.org/officeDocument/2006/relationships/slide" Target="/ppt/slides/slide2.xml" Id="R76eea9a5c73b452a" /><Relationship Type="http://schemas.openxmlformats.org/officeDocument/2006/relationships/slide" Target="/ppt/slides/slide3.xml" Id="R411606b7ffa44d67" /><Relationship Type="http://schemas.openxmlformats.org/officeDocument/2006/relationships/slide" Target="/ppt/slides/slide4.xml" Id="R43c25270d1644a1a" /><Relationship Type="http://schemas.openxmlformats.org/officeDocument/2006/relationships/slide" Target="/ppt/slides/slide5.xml" Id="Rcedeab1d254b402d" /><Relationship Type="http://schemas.openxmlformats.org/officeDocument/2006/relationships/slide" Target="/ppt/slides/slide6.xml" Id="R2b566891e75144df" /><Relationship Type="http://schemas.openxmlformats.org/officeDocument/2006/relationships/slide" Target="/ppt/slides/slide7.xml" Id="R3eaffcda08b84c56" /><Relationship Type="http://schemas.openxmlformats.org/officeDocument/2006/relationships/slide" Target="/ppt/slides/slide8.xml" Id="R68cf0feaae0b42c0" /><Relationship Type="http://schemas.openxmlformats.org/officeDocument/2006/relationships/slide" Target="/ppt/slides/slide9.xml" Id="R5f840c7375f147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8896b5dc544af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13f38ea5444c09" /><Relationship Type="http://schemas.openxmlformats.org/officeDocument/2006/relationships/notesMaster" Target="/ppt/notesMasters/notesMaster1.xml" Id="R5c764f313ec94a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27b3bee05c44ee5" /><Relationship Type="http://schemas.openxmlformats.org/officeDocument/2006/relationships/notesMaster" Target="/ppt/notesMasters/notesMaster1.xml" Id="R448cb7bb916246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3cd97dcc104076" /><Relationship Type="http://schemas.openxmlformats.org/officeDocument/2006/relationships/notesMaster" Target="/ppt/notesMasters/notesMaster1.xml" Id="R031fba76369d415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ce330ed38d46f8" /><Relationship Type="http://schemas.openxmlformats.org/officeDocument/2006/relationships/notesMaster" Target="/ppt/notesMasters/notesMaster1.xml" Id="R3df8cba283c544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2b6449cc5024d1e" /><Relationship Type="http://schemas.openxmlformats.org/officeDocument/2006/relationships/notesMaster" Target="/ppt/notesMasters/notesMaster1.xml" Id="R725370fcbc8d48d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3566ead3744197" /><Relationship Type="http://schemas.openxmlformats.org/officeDocument/2006/relationships/notesMaster" Target="/ppt/notesMasters/notesMaster1.xml" Id="R578fee32078e46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43d469e3ff7c4d1f" /><Relationship Type="http://schemas.openxmlformats.org/officeDocument/2006/relationships/notesMaster" Target="/ppt/notesMasters/notesMaster1.xml" Id="Ra61f13a0d4204b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d37d9c561e4b5c" /><Relationship Type="http://schemas.openxmlformats.org/officeDocument/2006/relationships/notesMaster" Target="/ppt/notesMasters/notesMaster1.xml" Id="Re2d3eea0c6fe48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46c3864b60407f" /><Relationship Type="http://schemas.openxmlformats.org/officeDocument/2006/relationships/notesMaster" Target="/ppt/notesMasters/notesMaster1.xml" Id="Rcc3a47deddae42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Introduce the team, the classification task and the three architectures.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Explain the target, emphasizing that rating thresholds are our own design choice. Only review text enters the model, preventing direct rating leakage. Dataset source: UCI dataset 462. Mirror: https://github.com/semnan-university-ai/Drug-Review-Dataset</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The full downloaded files contain 161297 training and 53766 test reviews. The chart uses the final 12000-review training subset. Explain why accuracy alone can favor the majority class.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Normalize HTML and case, tokenize text and drop exact normalized duplicates. Remove test reviews also present in the original training partition. Then stratify the train/validation split and draw fixed subsets. Near-duplicates and shared-drug effects remain possible.</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Vanilla has independent input, forget and output gates. CIFG removes one gate by setting the input gate to one minus the forget gate. WMC connects memory to the gates using tanh. Its output gate uses the newly updated memory. Cite the equations in the project appendix. All affine operations use nn.Linear, with no nn.LSTM.</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Compare the first two settings to isolate learning rate, and the first and third to isolate batch size. Nine runs total, four epochs each. Adam, weighted cross entropy and clipping at norm one remain fixed. Select the best epoch by validation macro-F1. One seed means uncertainty remains.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Settings and checkpoints were selected using validation only. Explain the distinction between accuracy and macro-F1. The test subset is fixed across architectures. These are observed differences for a single seed, not proof of general architectural superiority.</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This chart reports test F1 for the configuration with the highest validation macro-F1. Discuss the neutral class and mixed sentiment. Use the saved prediction CSV for concrete examples during questions.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The current results use one seed, limited data and four training epochs. Propose several seeds and more training before stronger claims. Longer sequences may preserve information lost by truncation. Pretrained embeddings, near-duplicate detection and grouping by drug offer further experiments. Total presentation timing is approximately ten minutes.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763cff545a47e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991de4d83334ef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f2d23bc828480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0d42deaba9943f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0c44c235622439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f373eaad0c44b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98A921B-43FA-4054-A98C-1F6C53DCBC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2D9BCAB-39BF-4E4B-80CC-13909B661D7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606296A-6FB1-4EAE-9666-53F450CCF20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29D006-5DC2-4836-9596-FB123F9D084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FBC55C5-6FDE-43DC-B089-1F868905987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A1442C1-4C91-4743-BD37-49A2BBF40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5B19006-C81D-4BEA-B9C4-41F30DDA709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D7B1C8-15D3-4A21-ABF0-0D748F54881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84982E-BF46-4B93-896F-B69F7B966E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F31998-B3B4-4CB8-86AB-9C8BB8D354D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3b49e9923c407f" /><Relationship Type="http://schemas.openxmlformats.org/officeDocument/2006/relationships/slideLayout" Target="/ppt/slideLayouts/slideLayout1.xml" Id="Ra530925ae07c452d" /><Relationship Type="http://schemas.openxmlformats.org/officeDocument/2006/relationships/slideLayout" Target="/ppt/slideLayouts/slideLayout2.xml" Id="R5895a126704e472a" /><Relationship Type="http://schemas.openxmlformats.org/officeDocument/2006/relationships/slideLayout" Target="/ppt/slideLayouts/slideLayout3.xml" Id="Ra4a5e256309c4b0f" /><Relationship Type="http://schemas.openxmlformats.org/officeDocument/2006/relationships/slideLayout" Target="/ppt/slideLayouts/slideLayout4.xml" Id="R89ccf1f672ab40ca" /><Relationship Type="http://schemas.openxmlformats.org/officeDocument/2006/relationships/slideLayout" Target="/ppt/slideLayouts/slideLayout5.xml" Id="R02780f8f3f83443d" /><Relationship Type="http://schemas.openxmlformats.org/officeDocument/2006/relationships/slideLayout" Target="/ppt/slideLayouts/slideLayout6.xml" Id="R9f485754fa134e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30925ae07c452d"/>
    <p:sldLayoutId xmlns:r="http://schemas.openxmlformats.org/officeDocument/2006/relationships" id="2147483650" r:id="R5895a126704e472a"/>
    <p:sldLayoutId xmlns:r="http://schemas.openxmlformats.org/officeDocument/2006/relationships" id="2147483651" r:id="Ra4a5e256309c4b0f"/>
    <p:sldLayoutId xmlns:r="http://schemas.openxmlformats.org/officeDocument/2006/relationships" id="2147483652" r:id="R89ccf1f672ab40ca"/>
    <p:sldLayoutId xmlns:r="http://schemas.openxmlformats.org/officeDocument/2006/relationships" id="2147483653" r:id="R02780f8f3f83443d"/>
    <p:sldLayoutId xmlns:r="http://schemas.openxmlformats.org/officeDocument/2006/relationships" id="2147483654" r:id="R9f485754fa134e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f3a59427eb74e30" /><Relationship Type="http://schemas.openxmlformats.org/officeDocument/2006/relationships/image" Target="/ppt/media/image.png" Id="R7a9a2d29f3904872" /><Relationship Type="http://schemas.openxmlformats.org/officeDocument/2006/relationships/notesSlide" Target="/ppt/notesSlides/notesSlide1.xml" Id="R4eff34741f8b4ef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54c6f9565494dc7" /><Relationship Type="http://schemas.openxmlformats.org/officeDocument/2006/relationships/notesSlide" Target="/ppt/notesSlides/notesSlide2.xml" Id="R796ff01babaf48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446acd0b414e11" /><Relationship Type="http://schemas.openxmlformats.org/officeDocument/2006/relationships/chart" Target="/ppt/slides/charts/chart1.xml" Id="R0b468b24c0d34e83" /><Relationship Type="http://schemas.openxmlformats.org/officeDocument/2006/relationships/notesSlide" Target="/ppt/notesSlides/notesSlide3.xml" Id="R57c32f79811b42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74dfc319ce4040" /><Relationship Type="http://schemas.openxmlformats.org/officeDocument/2006/relationships/notesSlide" Target="/ppt/notesSlides/notesSlide4.xml" Id="R4d2482af7ba648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4b3ae24524a4d9e" /><Relationship Type="http://schemas.openxmlformats.org/officeDocument/2006/relationships/notesSlide" Target="/ppt/notesSlides/notesSlide5.xml" Id="R954377df95514c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c620a87a6e442c0" /><Relationship Type="http://schemas.openxmlformats.org/officeDocument/2006/relationships/chart" Target="/ppt/slides/charts/chart2.xml" Id="Rf5552a8820d048de" /><Relationship Type="http://schemas.openxmlformats.org/officeDocument/2006/relationships/notesSlide" Target="/ppt/notesSlides/notesSlide6.xml" Id="R9399a28771704af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d44068a218a48bc" /><Relationship Type="http://schemas.openxmlformats.org/officeDocument/2006/relationships/notesSlide" Target="/ppt/notesSlides/notesSlide7.xml" Id="Rf20f3d3d7dd943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39afa553b994438" /><Relationship Type="http://schemas.openxmlformats.org/officeDocument/2006/relationships/chart" Target="/ppt/slides/charts/chart3.xml" Id="R68b9a5f69cfb4a3c" /><Relationship Type="http://schemas.openxmlformats.org/officeDocument/2006/relationships/notesSlide" Target="/ppt/notesSlides/notesSlide8.xml" Id="R70e6df46e0dd42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6a314c8496342ba" /><Relationship Type="http://schemas.openxmlformats.org/officeDocument/2006/relationships/notesSlide" Target="/ppt/notesSlides/notesSlide9.xml" Id="R54565b609f9b4e4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Training reviews</c:v>
          </c:tx>
          <c:spPr>
            <a:solidFill xmlns:a="http://schemas.openxmlformats.org/drawingml/2006/main">
              <a:srgbClr val="287B9B"/>
            </a:solidFill>
          </c:spPr>
          <c:invertIfNegative val="0"/>
          <c:cat>
            <c:strRef>
              <c:f>'Chart Data'!$A$2:$A$4</c:f>
              <c:strCache>
                <c:ptCount val="3"/>
                <c:pt idx="0">
                  <c:v>Negative</c:v>
                </c:pt>
                <c:pt idx="1">
                  <c:v>Neutral</c:v>
                </c:pt>
                <c:pt idx="2">
                  <c:v>Positive</c:v>
                </c:pt>
              </c:strCache>
            </c:strRef>
          </c:cat>
          <c:val>
            <c:numRef>
              <c:f>'Chart Data'!$B$2:$B$4</c:f>
              <c:numCache>
                <c:formatCode>General</c:formatCode>
                <c:ptCount val="3"/>
                <c:pt idx="0">
                  <c:v>2975</c:v>
                </c:pt>
                <c:pt idx="1">
                  <c:v>1068</c:v>
                </c:pt>
                <c:pt idx="2">
                  <c:v>7957</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Reviews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vanilla / 0.001 / 64</c:v>
          </c:tx>
          <c:marker>
            <c:symbol val="none"/>
          </c:marker>
          <c:cat>
            <c:numRef>
              <c:f>'Chart Data'!$A$2:$A$5</c:f>
              <c:numCache>
                <c:formatCode>General</c:formatCode>
                <c:ptCount val="4"/>
                <c:pt idx="0">
                  <c:v>1</c:v>
                </c:pt>
                <c:pt idx="1">
                  <c:v>2</c:v>
                </c:pt>
                <c:pt idx="2">
                  <c:v>3</c:v>
                </c:pt>
                <c:pt idx="3">
                  <c:v>4</c:v>
                </c:pt>
              </c:numCache>
            </c:numRef>
          </c:cat>
          <c:val>
            <c:numRef>
              <c:f>'Chart Data'!$B$2:$B$5</c:f>
              <c:numCache>
                <c:formatCode>0.00</c:formatCode>
                <c:ptCount val="4"/>
                <c:pt idx="0">
                  <c:v>0.334413</c:v>
                </c:pt>
                <c:pt idx="1">
                  <c:v>0.410813</c:v>
                </c:pt>
                <c:pt idx="2">
                  <c:v>0.459511</c:v>
                </c:pt>
                <c:pt idx="3">
                  <c:v>0.485908</c:v>
                </c:pt>
              </c:numCache>
            </c:numRef>
          </c:val>
        </c:ser>
        <c:ser>
          <c:idx val="1"/>
          <c:order val="1"/>
          <c:tx>
            <c:v>cifg / 0.001 / 64</c:v>
          </c:tx>
          <c:marker>
            <c:symbol val="none"/>
          </c:marker>
          <c:cat>
            <c:numRef>
              <c:f>'Chart Data'!$C$2:$C$5</c:f>
              <c:numCache>
                <c:formatCode>General</c:formatCode>
                <c:ptCount val="4"/>
                <c:pt idx="0">
                  <c:v>1</c:v>
                </c:pt>
                <c:pt idx="1">
                  <c:v>2</c:v>
                </c:pt>
                <c:pt idx="2">
                  <c:v>3</c:v>
                </c:pt>
                <c:pt idx="3">
                  <c:v>4</c:v>
                </c:pt>
              </c:numCache>
            </c:numRef>
          </c:cat>
          <c:val>
            <c:numRef>
              <c:f>'Chart Data'!$D$2:$D$5</c:f>
              <c:numCache>
                <c:formatCode>0.00</c:formatCode>
                <c:ptCount val="4"/>
                <c:pt idx="0">
                  <c:v>0.359974</c:v>
                </c:pt>
                <c:pt idx="1">
                  <c:v>0.444392</c:v>
                </c:pt>
                <c:pt idx="2">
                  <c:v>0.48735</c:v>
                </c:pt>
                <c:pt idx="3">
                  <c:v>0.513225</c:v>
                </c:pt>
              </c:numCache>
            </c:numRef>
          </c:val>
        </c:ser>
        <c:ser>
          <c:idx val="2"/>
          <c:order val="2"/>
          <c:tx>
            <c:v>wmc / 0.003 / 128</c:v>
          </c:tx>
          <c:marker>
            <c:symbol val="none"/>
          </c:marker>
          <c:cat>
            <c:numRef>
              <c:f>'Chart Data'!$E$2:$E$5</c:f>
              <c:numCache>
                <c:formatCode>General</c:formatCode>
                <c:ptCount val="4"/>
                <c:pt idx="0">
                  <c:v>1</c:v>
                </c:pt>
                <c:pt idx="1">
                  <c:v>2</c:v>
                </c:pt>
                <c:pt idx="2">
                  <c:v>3</c:v>
                </c:pt>
                <c:pt idx="3">
                  <c:v>4</c:v>
                </c:pt>
              </c:numCache>
            </c:numRef>
          </c:cat>
          <c:val>
            <c:numRef>
              <c:f>'Chart Data'!$F$2:$F$5</c:f>
              <c:numCache>
                <c:formatCode>0.00</c:formatCode>
                <c:ptCount val="4"/>
                <c:pt idx="0">
                  <c:v>0.398277</c:v>
                </c:pt>
                <c:pt idx="1">
                  <c:v>0.451536</c:v>
                </c:pt>
                <c:pt idx="2">
                  <c:v>0.438614</c:v>
                </c:pt>
                <c:pt idx="3">
                  <c:v>0.49126</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Validation macro-F1</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legend>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varyColors val="0"/>
        <c:ser>
          <c:idx val="0"/>
          <c:order val="0"/>
          <c:tx>
            <c:v>Test F1</c:v>
          </c:tx>
          <c:spPr>
            <a:solidFill xmlns:a="http://schemas.openxmlformats.org/drawingml/2006/main">
              <a:srgbClr val="287B9B"/>
            </a:solidFill>
          </c:spPr>
          <c:invertIfNegative val="0"/>
          <c:cat>
            <c:strRef>
              <c:f>'Chart Data'!$A$2:$A$4</c:f>
              <c:strCache>
                <c:ptCount val="3"/>
                <c:pt idx="0">
                  <c:v>Negative</c:v>
                </c:pt>
                <c:pt idx="1">
                  <c:v>Neutral</c:v>
                </c:pt>
                <c:pt idx="2">
                  <c:v>Positive</c:v>
                </c:pt>
              </c:strCache>
            </c:strRef>
          </c:cat>
          <c:val>
            <c:numRef>
              <c:f>'Chart Data'!$B$2:$B$4</c:f>
              <c:numCache>
                <c:formatCode>0.0</c:formatCode>
                <c:ptCount val="3"/>
                <c:pt idx="0">
                  <c:v>0.524892</c:v>
                </c:pt>
                <c:pt idx="1">
                  <c:v>0.202627</c:v>
                </c:pt>
                <c:pt idx="2">
                  <c:v>0.772709</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F1</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724DD2-7104-46F6-96CC-FE0DA619C0F1}"/>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Drug review sentiment</a:t>
            </a:r>
          </a:p>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with manual LSTM cells</a:t>
            </a:r>
          </a:p>
        </p:txBody>
      </p:sp>
      <p:sp>
        <p:nvSpPr>
          <p:cNvPr id="2" name="">
            <a:extLst xmlns:a="http://schemas.openxmlformats.org/drawingml/2006/main">
              <a:ext uri="{FF2B5EF4-FFF2-40B4-BE49-F238E27FC236}">
                <a16:creationId xmlns:a16="http://schemas.microsoft.com/office/drawing/2014/main" id="{2EC36BF1-B0CB-495E-B6E7-5EF4A4409686}"/>
              </a:ext>
            </a:extLst>
          </p:cNvPr>
          <p:cNvSpPr>
            <a:spLocks xmlns:a="http://schemas.openxmlformats.org/drawingml/2006/main" noGrp="1"/>
          </p:cNvSpPr>
          <p:nvPr/>
        </p:nvSpPr>
        <p:spPr>
          <a:xfrm xmlns:a="http://schemas.openxmlformats.org/drawingml/2006/main">
            <a:off x="666750" y="26193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23394D"/>
                </a:solidFill>
                <a:latin typeface="Arial"/>
                <a:ea typeface="Arial"/>
                <a:cs typeface="Arial"/>
              </a:defRPr>
            </a:defPPr>
            <a:lvl1pPr>
              <a:defRPr sz="2625" b="0">
                <a:solidFill>
                  <a:srgbClr val="23394D"/>
                </a:solidFill>
                <a:latin typeface="Arial"/>
                <a:ea typeface="Arial"/>
                <a:cs typeface="Arial"/>
              </a:defRPr>
            </a:lvl1pPr>
            <a:lvl2pPr>
              <a:defRPr sz="2625" b="0">
                <a:solidFill>
                  <a:srgbClr val="23394D"/>
                </a:solidFill>
                <a:latin typeface="Arial"/>
                <a:ea typeface="Arial"/>
                <a:cs typeface="Arial"/>
              </a:defRPr>
            </a:lvl2pPr>
            <a:lvl3pPr>
              <a:defRPr sz="2625" b="0">
                <a:solidFill>
                  <a:srgbClr val="23394D"/>
                </a:solidFill>
                <a:latin typeface="Arial"/>
                <a:ea typeface="Arial"/>
                <a:cs typeface="Arial"/>
              </a:defRPr>
            </a:lvl3pPr>
            <a:lvl4pPr>
              <a:defRPr sz="2625" b="0">
                <a:solidFill>
                  <a:srgbClr val="23394D"/>
                </a:solidFill>
                <a:latin typeface="Arial"/>
                <a:ea typeface="Arial"/>
                <a:cs typeface="Arial"/>
              </a:defRPr>
            </a:lvl4pPr>
            <a:lvl5pPr>
              <a:defRPr sz="2625" b="0">
                <a:solidFill>
                  <a:srgbClr val="23394D"/>
                </a:solidFill>
                <a:latin typeface="Arial"/>
                <a:ea typeface="Arial"/>
                <a:cs typeface="Arial"/>
              </a:defRPr>
            </a:lvl5pPr>
            <a:lvl6pPr>
              <a:defRPr sz="2625" b="0">
                <a:solidFill>
                  <a:srgbClr val="23394D"/>
                </a:solidFill>
                <a:latin typeface="Arial"/>
                <a:ea typeface="Arial"/>
                <a:cs typeface="Arial"/>
              </a:defRPr>
            </a:lvl6pPr>
            <a:lvl7pPr>
              <a:defRPr sz="2625" b="0">
                <a:solidFill>
                  <a:srgbClr val="23394D"/>
                </a:solidFill>
                <a:latin typeface="Arial"/>
                <a:ea typeface="Arial"/>
                <a:cs typeface="Arial"/>
              </a:defRPr>
            </a:lvl7pPr>
            <a:lvl8pPr>
              <a:defRPr sz="2625" b="0">
                <a:solidFill>
                  <a:srgbClr val="23394D"/>
                </a:solidFill>
                <a:latin typeface="Arial"/>
                <a:ea typeface="Arial"/>
                <a:cs typeface="Arial"/>
              </a:defRPr>
            </a:lvl8pPr>
            <a:lvl9pPr>
              <a:defRPr sz="2625" b="0">
                <a:solidFill>
                  <a:srgbClr val="23394D"/>
                </a:solidFill>
                <a:latin typeface="Arial"/>
                <a:ea typeface="Arial"/>
                <a:cs typeface="Arial"/>
              </a:defRPr>
            </a:lvl9pPr>
          </a:lstStyle>
          <a:p xmlns:a="http://schemas.openxmlformats.org/drawingml/2006/main">
            <a:pPr>
              <a:defRPr sz="2625" b="0">
                <a:solidFill>
                  <a:srgbClr val="23394D"/>
                </a:solidFill>
                <a:latin typeface="Arial"/>
                <a:ea typeface="Arial"/>
                <a:cs typeface="Arial"/>
              </a:defRPr>
            </a:pPr>
            <a:r>
              <a:rPr sz="2625" b="0">
                <a:solidFill>
                  <a:srgbClr val="23394D"/>
                </a:solidFill>
                <a:latin typeface="Arial"/>
                <a:ea typeface="Arial"/>
                <a:cs typeface="Arial"/>
              </a:rPr>
              <a:t>Vanilla LSTM, CIFG and WMC</a:t>
            </a:r>
          </a:p>
        </p:txBody>
      </p:sp>
      <p:sp>
        <p:nvSpPr>
          <p:cNvPr id="3" name="">
            <a:extLst xmlns:a="http://schemas.openxmlformats.org/drawingml/2006/main">
              <a:ext uri="{FF2B5EF4-FFF2-40B4-BE49-F238E27FC236}">
                <a16:creationId xmlns:a16="http://schemas.microsoft.com/office/drawing/2014/main" id="{739B14E1-CACA-44E5-BF85-2E31572624E2}"/>
              </a:ext>
            </a:extLst>
          </p:cNvPr>
          <p:cNvSpPr>
            <a:spLocks xmlns:a="http://schemas.openxmlformats.org/drawingml/2006/main" noGrp="1"/>
          </p:cNvSpPr>
          <p:nvPr/>
        </p:nvSpPr>
        <p:spPr>
          <a:xfrm xmlns:a="http://schemas.openxmlformats.org/drawingml/2006/main">
            <a:off x="666750" y="3714750"/>
            <a:ext cx="8096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3394D"/>
                </a:solidFill>
                <a:latin typeface="Arial"/>
                <a:ea typeface="Arial"/>
                <a:cs typeface="Arial"/>
              </a:defRPr>
            </a:defPPr>
            <a:lvl1pPr>
              <a:defRPr sz="2025" b="0">
                <a:solidFill>
                  <a:srgbClr val="23394D"/>
                </a:solidFill>
                <a:latin typeface="Arial"/>
                <a:ea typeface="Arial"/>
                <a:cs typeface="Arial"/>
              </a:defRPr>
            </a:lvl1pPr>
            <a:lvl2pPr>
              <a:defRPr sz="2025" b="0">
                <a:solidFill>
                  <a:srgbClr val="23394D"/>
                </a:solidFill>
                <a:latin typeface="Arial"/>
                <a:ea typeface="Arial"/>
                <a:cs typeface="Arial"/>
              </a:defRPr>
            </a:lvl2pPr>
            <a:lvl3pPr>
              <a:defRPr sz="2025" b="0">
                <a:solidFill>
                  <a:srgbClr val="23394D"/>
                </a:solidFill>
                <a:latin typeface="Arial"/>
                <a:ea typeface="Arial"/>
                <a:cs typeface="Arial"/>
              </a:defRPr>
            </a:lvl3pPr>
            <a:lvl4pPr>
              <a:defRPr sz="2025" b="0">
                <a:solidFill>
                  <a:srgbClr val="23394D"/>
                </a:solidFill>
                <a:latin typeface="Arial"/>
                <a:ea typeface="Arial"/>
                <a:cs typeface="Arial"/>
              </a:defRPr>
            </a:lvl4pPr>
            <a:lvl5pPr>
              <a:defRPr sz="2025" b="0">
                <a:solidFill>
                  <a:srgbClr val="23394D"/>
                </a:solidFill>
                <a:latin typeface="Arial"/>
                <a:ea typeface="Arial"/>
                <a:cs typeface="Arial"/>
              </a:defRPr>
            </a:lvl5pPr>
            <a:lvl6pPr>
              <a:defRPr sz="2025" b="0">
                <a:solidFill>
                  <a:srgbClr val="23394D"/>
                </a:solidFill>
                <a:latin typeface="Arial"/>
                <a:ea typeface="Arial"/>
                <a:cs typeface="Arial"/>
              </a:defRPr>
            </a:lvl6pPr>
            <a:lvl7pPr>
              <a:defRPr sz="2025" b="0">
                <a:solidFill>
                  <a:srgbClr val="23394D"/>
                </a:solidFill>
                <a:latin typeface="Arial"/>
                <a:ea typeface="Arial"/>
                <a:cs typeface="Arial"/>
              </a:defRPr>
            </a:lvl7pPr>
            <a:lvl8pPr>
              <a:defRPr sz="2025" b="0">
                <a:solidFill>
                  <a:srgbClr val="23394D"/>
                </a:solidFill>
                <a:latin typeface="Arial"/>
                <a:ea typeface="Arial"/>
                <a:cs typeface="Arial"/>
              </a:defRPr>
            </a:lvl8pPr>
            <a:lvl9pPr>
              <a:defRPr sz="2025" b="0">
                <a:solidFill>
                  <a:srgbClr val="23394D"/>
                </a:solidFill>
                <a:latin typeface="Arial"/>
                <a:ea typeface="Arial"/>
                <a:cs typeface="Arial"/>
              </a:defRPr>
            </a:lvl9pPr>
          </a:lstStyle>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Zouhair Eouichak</a:t>
            </a:r>
          </a:p>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Aymane El Youssi</a:t>
            </a:r>
          </a:p>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Malak Bartal</a:t>
            </a:r>
          </a:p>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Sara Baalla</a:t>
            </a:r>
          </a:p>
        </p:txBody>
      </p:sp>
      <p:sp>
        <p:nvSpPr>
          <p:cNvPr id="4" name="">
            <a:extLst xmlns:a="http://schemas.openxmlformats.org/drawingml/2006/main">
              <a:ext uri="{FF2B5EF4-FFF2-40B4-BE49-F238E27FC236}">
                <a16:creationId xmlns:a16="http://schemas.microsoft.com/office/drawing/2014/main" id="{A35C2325-9423-4E8B-8A67-DC8479A72C7F}"/>
              </a:ext>
            </a:extLst>
          </p:cNvPr>
          <p:cNvSpPr>
            <a:spLocks xmlns:a="http://schemas.openxmlformats.org/drawingml/2006/main" noGrp="1"/>
          </p:cNvSpPr>
          <p:nvPr/>
        </p:nvSpPr>
        <p:spPr>
          <a:xfrm xmlns:a="http://schemas.openxmlformats.org/drawingml/2006/main">
            <a:off x="666750" y="5476875"/>
            <a:ext cx="857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3394D"/>
                </a:solidFill>
                <a:latin typeface="Arial"/>
                <a:ea typeface="Arial"/>
                <a:cs typeface="Arial"/>
              </a:defRPr>
            </a:defPPr>
            <a:lvl1pPr>
              <a:defRPr sz="1875" b="0">
                <a:solidFill>
                  <a:srgbClr val="23394D"/>
                </a:solidFill>
                <a:latin typeface="Arial"/>
                <a:ea typeface="Arial"/>
                <a:cs typeface="Arial"/>
              </a:defRPr>
            </a:lvl1pPr>
            <a:lvl2pPr>
              <a:defRPr sz="1875" b="0">
                <a:solidFill>
                  <a:srgbClr val="23394D"/>
                </a:solidFill>
                <a:latin typeface="Arial"/>
                <a:ea typeface="Arial"/>
                <a:cs typeface="Arial"/>
              </a:defRPr>
            </a:lvl2pPr>
            <a:lvl3pPr>
              <a:defRPr sz="1875" b="0">
                <a:solidFill>
                  <a:srgbClr val="23394D"/>
                </a:solidFill>
                <a:latin typeface="Arial"/>
                <a:ea typeface="Arial"/>
                <a:cs typeface="Arial"/>
              </a:defRPr>
            </a:lvl3pPr>
            <a:lvl4pPr>
              <a:defRPr sz="1875" b="0">
                <a:solidFill>
                  <a:srgbClr val="23394D"/>
                </a:solidFill>
                <a:latin typeface="Arial"/>
                <a:ea typeface="Arial"/>
                <a:cs typeface="Arial"/>
              </a:defRPr>
            </a:lvl4pPr>
            <a:lvl5pPr>
              <a:defRPr sz="1875" b="0">
                <a:solidFill>
                  <a:srgbClr val="23394D"/>
                </a:solidFill>
                <a:latin typeface="Arial"/>
                <a:ea typeface="Arial"/>
                <a:cs typeface="Arial"/>
              </a:defRPr>
            </a:lvl5pPr>
            <a:lvl6pPr>
              <a:defRPr sz="1875" b="0">
                <a:solidFill>
                  <a:srgbClr val="23394D"/>
                </a:solidFill>
                <a:latin typeface="Arial"/>
                <a:ea typeface="Arial"/>
                <a:cs typeface="Arial"/>
              </a:defRPr>
            </a:lvl6pPr>
            <a:lvl7pPr>
              <a:defRPr sz="1875" b="0">
                <a:solidFill>
                  <a:srgbClr val="23394D"/>
                </a:solidFill>
                <a:latin typeface="Arial"/>
                <a:ea typeface="Arial"/>
                <a:cs typeface="Arial"/>
              </a:defRPr>
            </a:lvl7pPr>
            <a:lvl8pPr>
              <a:defRPr sz="1875" b="0">
                <a:solidFill>
                  <a:srgbClr val="23394D"/>
                </a:solidFill>
                <a:latin typeface="Arial"/>
                <a:ea typeface="Arial"/>
                <a:cs typeface="Arial"/>
              </a:defRPr>
            </a:lvl8pPr>
            <a:lvl9pPr>
              <a:defRPr sz="1875" b="0">
                <a:solidFill>
                  <a:srgbClr val="23394D"/>
                </a:solidFill>
                <a:latin typeface="Arial"/>
                <a:ea typeface="Arial"/>
                <a:cs typeface="Arial"/>
              </a:defRPr>
            </a:lvl9pPr>
          </a:lstStyle>
          <a:p xmlns:a="http://schemas.openxmlformats.org/drawingml/2006/main">
            <a:pPr>
              <a:defRPr sz="1875" b="0">
                <a:solidFill>
                  <a:srgbClr val="23394D"/>
                </a:solidFill>
                <a:latin typeface="Arial"/>
                <a:ea typeface="Arial"/>
                <a:cs typeface="Arial"/>
              </a:defRPr>
            </a:pPr>
            <a:r>
              <a:rPr sz="1875" b="0">
                <a:solidFill>
                  <a:srgbClr val="23394D"/>
                </a:solidFill>
                <a:latin typeface="Arial"/>
                <a:ea typeface="Arial"/>
                <a:cs typeface="Arial"/>
              </a:rPr>
              <a:t>TP B / Advanced NLP / 2026-2027</a:t>
            </a:r>
          </a:p>
        </p:txBody>
      </p:sp>
      <p:pic>
        <p:nvPicPr>
          <p:cNvPr id="5" name="">
            <a:extLst xmlns:a="http://schemas.openxmlformats.org/drawingml/2006/main">
              <a:ext uri="{FF2B5EF4-FFF2-40B4-BE49-F238E27FC236}">
                <a16:creationId xmlns:a16="http://schemas.microsoft.com/office/drawing/2014/main" id="{42D2FF86-32C2-4E5C-91CA-CB809AA618D3}"/>
              </a:ext>
            </a:extLst>
          </p:cNvPr>
          <p:cNvPicPr>
            <a:picLocks xmlns:a="http://schemas.openxmlformats.org/drawingml/2006/main" noChangeAspect="1"/>
          </p:cNvPicPr>
          <p:nvPr/>
        </p:nvPicPr>
        <p:blipFill>
          <a:blip xmlns:r="http://schemas.openxmlformats.org/officeDocument/2006/relationships" xmlns:a="http://schemas.openxmlformats.org/drawingml/2006/main" r:embed="R7a9a2d29f3904872"/>
          <a:stretch xmlns:a="http://schemas.openxmlformats.org/drawingml/2006/main"/>
        </p:blipFill>
        <p:spPr>
          <a:xfrm xmlns:a="http://schemas.openxmlformats.org/drawingml/2006/main">
            <a:off x="9525000" y="4748978"/>
            <a:ext cx="1809750" cy="408044"/>
          </a:xfrm>
          <a:prstGeom xmlns:a="http://schemas.openxmlformats.org/drawingml/2006/main" prst="rect">
            <a:avLst/>
          </a:prstGeom>
        </p:spPr>
      </p:pic>
    </p:spTree>
    <p:extLst>
      <p:ext uri="{BB962C8B-B14F-4D97-AF65-F5344CB8AC3E}">
        <p14:creationId xmlns:p14="http://schemas.microsoft.com/office/powerpoint/2010/main" val="1815055896"/>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991022B-B941-4FC4-95EA-56F33A77EF27}"/>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Task and labels</a:t>
            </a:r>
          </a:p>
        </p:txBody>
      </p:sp>
      <p:sp>
        <p:nvSpPr>
          <p:cNvPr id="2" name="">
            <a:extLst xmlns:a="http://schemas.openxmlformats.org/drawingml/2006/main">
              <a:ext uri="{FF2B5EF4-FFF2-40B4-BE49-F238E27FC236}">
                <a16:creationId xmlns:a16="http://schemas.microsoft.com/office/drawing/2014/main" id="{3B2886EE-727B-4E5E-BC92-CDB0FE8A9D8F}"/>
              </a:ext>
            </a:extLst>
          </p:cNvPr>
          <p:cNvSpPr>
            <a:spLocks xmlns:a="http://schemas.openxmlformats.org/drawingml/2006/main" noGrp="1"/>
          </p:cNvSpPr>
          <p:nvPr/>
        </p:nvSpPr>
        <p:spPr>
          <a:xfrm xmlns:a="http://schemas.openxmlformats.org/drawingml/2006/main">
            <a:off x="666750" y="1619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Input: a patient’s written drug review</a:t>
            </a:r>
          </a:p>
        </p:txBody>
      </p:sp>
      <p:sp>
        <p:nvSpPr>
          <p:cNvPr id="3" name="">
            <a:extLst xmlns:a="http://schemas.openxmlformats.org/drawingml/2006/main">
              <a:ext uri="{FF2B5EF4-FFF2-40B4-BE49-F238E27FC236}">
                <a16:creationId xmlns:a16="http://schemas.microsoft.com/office/drawing/2014/main" id="{D3434AF8-EEB5-4EC5-B590-2698596108E2}"/>
              </a:ext>
            </a:extLst>
          </p:cNvPr>
          <p:cNvSpPr>
            <a:spLocks xmlns:a="http://schemas.openxmlformats.org/drawingml/2006/main" noGrp="1"/>
          </p:cNvSpPr>
          <p:nvPr/>
        </p:nvSpPr>
        <p:spPr>
          <a:xfrm xmlns:a="http://schemas.openxmlformats.org/drawingml/2006/main">
            <a:off x="666750" y="26193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Target: negative (1-4), neutral (5-6), positive (7-10)</a:t>
            </a:r>
          </a:p>
        </p:txBody>
      </p:sp>
      <p:sp>
        <p:nvSpPr>
          <p:cNvPr id="4" name="">
            <a:extLst xmlns:a="http://schemas.openxmlformats.org/drawingml/2006/main">
              <a:ext uri="{FF2B5EF4-FFF2-40B4-BE49-F238E27FC236}">
                <a16:creationId xmlns:a16="http://schemas.microsoft.com/office/drawing/2014/main" id="{768B6F1C-C75D-4452-A066-662DD33373D0}"/>
              </a:ext>
            </a:extLst>
          </p:cNvPr>
          <p:cNvSpPr>
            <a:spLocks xmlns:a="http://schemas.openxmlformats.org/drawingml/2006/main" noGrp="1"/>
          </p:cNvSpPr>
          <p:nvPr/>
        </p:nvSpPr>
        <p:spPr>
          <a:xfrm xmlns:a="http://schemas.openxmlformats.org/drawingml/2006/main">
            <a:off x="666750" y="36195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Goal: compare recurrent cells under a shared protocol</a:t>
            </a:r>
          </a:p>
        </p:txBody>
      </p:sp>
      <p:sp>
        <p:nvSpPr>
          <p:cNvPr id="5" name="">
            <a:extLst xmlns:a="http://schemas.openxmlformats.org/drawingml/2006/main">
              <a:ext uri="{FF2B5EF4-FFF2-40B4-BE49-F238E27FC236}">
                <a16:creationId xmlns:a16="http://schemas.microsoft.com/office/drawing/2014/main" id="{D7386A4E-C4DE-4B38-9AA5-A81F89991833}"/>
              </a:ext>
            </a:extLst>
          </p:cNvPr>
          <p:cNvSpPr>
            <a:spLocks xmlns:a="http://schemas.openxmlformats.org/drawingml/2006/main" noGrp="1"/>
          </p:cNvSpPr>
          <p:nvPr/>
        </p:nvSpPr>
        <p:spPr>
          <a:xfrm xmlns:a="http://schemas.openxmlformats.org/drawingml/2006/main">
            <a:off x="666750" y="46196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Primary selection metric: validation macro-F1</a:t>
            </a:r>
          </a:p>
        </p:txBody>
      </p:sp>
    </p:spTree>
    <p:extLst>
      <p:ext uri="{BB962C8B-B14F-4D97-AF65-F5344CB8AC3E}">
        <p14:creationId xmlns:p14="http://schemas.microsoft.com/office/powerpoint/2010/main" val="162957639"/>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19E591D-4017-4519-8138-80324132CDDE}"/>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Dataset exploration</a:t>
            </a:r>
          </a:p>
        </p:txBody>
      </p:sp>
      <p:graphicFrame>
        <p:nvGraphicFramePr>
          <p:cNvPr id="2" name="Chart">
            <a:extLst xmlns:a="http://schemas.openxmlformats.org/drawingml/2006/main">
              <a:ext uri="{FF2B5EF4-FFF2-40B4-BE49-F238E27FC236}">
                <a16:creationId xmlns:a16="http://schemas.microsoft.com/office/drawing/2014/main" id="{4C0E9B35-2E81-413C-83DD-2DBB5A287F65}"/>
              </a:ext>
            </a:extLst>
          </p:cNvPr>
          <p:cNvGraphicFramePr/>
          <p:nvPr/>
        </p:nvGraphicFramePr>
        <p:xfrm>
          <a:off xmlns:a="http://schemas.openxmlformats.org/drawingml/2006/main" x="666750" y="1571625"/>
          <a:ext xmlns:a="http://schemas.openxmlformats.org/drawingml/2006/main" cx="6953250" cy="4000500"/>
        </p:xfrm>
        <a:graphic xmlns:a="http://schemas.openxmlformats.org/drawingml/2006/main">
          <a:graphicData uri="http://schemas.openxmlformats.org/drawingml/2006/chart">
            <c:chart xmlns:r="http://schemas.openxmlformats.org/officeDocument/2006/relationships" xmlns:c="http://schemas.openxmlformats.org/drawingml/2006/chart" r:id="R0b468b24c0d34e83"/>
          </a:graphicData>
        </a:graphic>
      </p:graphicFrame>
      <p:sp>
        <p:nvSpPr>
          <p:cNvPr id="3" name="">
            <a:extLst xmlns:a="http://schemas.openxmlformats.org/drawingml/2006/main">
              <a:ext uri="{FF2B5EF4-FFF2-40B4-BE49-F238E27FC236}">
                <a16:creationId xmlns:a16="http://schemas.microsoft.com/office/drawing/2014/main" id="{F85CFE41-8230-49E4-901B-DE1D4159675D}"/>
              </a:ext>
            </a:extLst>
          </p:cNvPr>
          <p:cNvSpPr>
            <a:spLocks xmlns:a="http://schemas.openxmlformats.org/drawingml/2006/main" noGrp="1"/>
          </p:cNvSpPr>
          <p:nvPr/>
        </p:nvSpPr>
        <p:spPr>
          <a:xfrm xmlns:a="http://schemas.openxmlformats.org/drawingml/2006/main">
            <a:off x="8096250" y="2047875"/>
            <a:ext cx="3429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23394D"/>
                </a:solidFill>
                <a:latin typeface="Arial"/>
                <a:ea typeface="Arial"/>
                <a:cs typeface="Arial"/>
              </a:defRPr>
            </a:defPPr>
            <a:lvl1pPr>
              <a:defRPr sz="2400" b="1">
                <a:solidFill>
                  <a:srgbClr val="23394D"/>
                </a:solidFill>
                <a:latin typeface="Arial"/>
                <a:ea typeface="Arial"/>
                <a:cs typeface="Arial"/>
              </a:defRPr>
            </a:lvl1pPr>
            <a:lvl2pPr>
              <a:defRPr sz="2400" b="1">
                <a:solidFill>
                  <a:srgbClr val="23394D"/>
                </a:solidFill>
                <a:latin typeface="Arial"/>
                <a:ea typeface="Arial"/>
                <a:cs typeface="Arial"/>
              </a:defRPr>
            </a:lvl2pPr>
            <a:lvl3pPr>
              <a:defRPr sz="2400" b="1">
                <a:solidFill>
                  <a:srgbClr val="23394D"/>
                </a:solidFill>
                <a:latin typeface="Arial"/>
                <a:ea typeface="Arial"/>
                <a:cs typeface="Arial"/>
              </a:defRPr>
            </a:lvl3pPr>
            <a:lvl4pPr>
              <a:defRPr sz="2400" b="1">
                <a:solidFill>
                  <a:srgbClr val="23394D"/>
                </a:solidFill>
                <a:latin typeface="Arial"/>
                <a:ea typeface="Arial"/>
                <a:cs typeface="Arial"/>
              </a:defRPr>
            </a:lvl4pPr>
            <a:lvl5pPr>
              <a:defRPr sz="2400" b="1">
                <a:solidFill>
                  <a:srgbClr val="23394D"/>
                </a:solidFill>
                <a:latin typeface="Arial"/>
                <a:ea typeface="Arial"/>
                <a:cs typeface="Arial"/>
              </a:defRPr>
            </a:lvl5pPr>
            <a:lvl6pPr>
              <a:defRPr sz="2400" b="1">
                <a:solidFill>
                  <a:srgbClr val="23394D"/>
                </a:solidFill>
                <a:latin typeface="Arial"/>
                <a:ea typeface="Arial"/>
                <a:cs typeface="Arial"/>
              </a:defRPr>
            </a:lvl6pPr>
            <a:lvl7pPr>
              <a:defRPr sz="2400" b="1">
                <a:solidFill>
                  <a:srgbClr val="23394D"/>
                </a:solidFill>
                <a:latin typeface="Arial"/>
                <a:ea typeface="Arial"/>
                <a:cs typeface="Arial"/>
              </a:defRPr>
            </a:lvl7pPr>
            <a:lvl8pPr>
              <a:defRPr sz="2400" b="1">
                <a:solidFill>
                  <a:srgbClr val="23394D"/>
                </a:solidFill>
                <a:latin typeface="Arial"/>
                <a:ea typeface="Arial"/>
                <a:cs typeface="Arial"/>
              </a:defRPr>
            </a:lvl8pPr>
            <a:lvl9pPr>
              <a:defRPr sz="2400" b="1">
                <a:solidFill>
                  <a:srgbClr val="23394D"/>
                </a:solidFill>
                <a:latin typeface="Arial"/>
                <a:ea typeface="Arial"/>
                <a:cs typeface="Arial"/>
              </a:defRPr>
            </a:lvl9pPr>
          </a:lstStyle>
          <a:p xmlns:a="http://schemas.openxmlformats.org/drawingml/2006/main">
            <a:pPr>
              <a:defRPr sz="2400" b="1">
                <a:solidFill>
                  <a:srgbClr val="23394D"/>
                </a:solidFill>
                <a:latin typeface="Arial"/>
                <a:ea typeface="Arial"/>
                <a:cs typeface="Arial"/>
              </a:defRPr>
            </a:pPr>
            <a:r>
              <a:rPr sz="2400" b="1">
                <a:solidFill>
                  <a:srgbClr val="23394D"/>
                </a:solidFill>
                <a:latin typeface="Arial"/>
                <a:ea typeface="Arial"/>
                <a:cs typeface="Arial"/>
              </a:rPr>
              <a:t>12,000 training</a:t>
            </a:r>
          </a:p>
          <a:p xmlns:a="http://schemas.openxmlformats.org/drawingml/2006/main">
            <a:pPr>
              <a:defRPr sz="2400" b="1">
                <a:solidFill>
                  <a:srgbClr val="23394D"/>
                </a:solidFill>
                <a:latin typeface="Arial"/>
                <a:ea typeface="Arial"/>
                <a:cs typeface="Arial"/>
              </a:defRPr>
            </a:pPr>
            <a:r>
              <a:rPr sz="2400" b="1">
                <a:solidFill>
                  <a:srgbClr val="23394D"/>
                </a:solidFill>
                <a:latin typeface="Arial"/>
                <a:ea typeface="Arial"/>
                <a:cs typeface="Arial"/>
              </a:rPr>
              <a:t>2,000 validation</a:t>
            </a:r>
          </a:p>
          <a:p xmlns:a="http://schemas.openxmlformats.org/drawingml/2006/main">
            <a:pPr>
              <a:defRPr sz="2400" b="1">
                <a:solidFill>
                  <a:srgbClr val="23394D"/>
                </a:solidFill>
                <a:latin typeface="Arial"/>
                <a:ea typeface="Arial"/>
                <a:cs typeface="Arial"/>
              </a:defRPr>
            </a:pPr>
            <a:r>
              <a:rPr sz="2400" b="1">
                <a:solidFill>
                  <a:srgbClr val="23394D"/>
                </a:solidFill>
                <a:latin typeface="Arial"/>
                <a:ea typeface="Arial"/>
                <a:cs typeface="Arial"/>
              </a:rPr>
              <a:t>4,000 test</a:t>
            </a:r>
          </a:p>
        </p:txBody>
      </p:sp>
      <p:sp>
        <p:nvSpPr>
          <p:cNvPr id="4" name="">
            <a:extLst xmlns:a="http://schemas.openxmlformats.org/drawingml/2006/main">
              <a:ext uri="{FF2B5EF4-FFF2-40B4-BE49-F238E27FC236}">
                <a16:creationId xmlns:a16="http://schemas.microsoft.com/office/drawing/2014/main" id="{15F7C2BD-9653-452C-938C-DCBF2915C7EC}"/>
              </a:ext>
            </a:extLst>
          </p:cNvPr>
          <p:cNvSpPr>
            <a:spLocks xmlns:a="http://schemas.openxmlformats.org/drawingml/2006/main" noGrp="1"/>
          </p:cNvSpPr>
          <p:nvPr/>
        </p:nvSpPr>
        <p:spPr>
          <a:xfrm xmlns:a="http://schemas.openxmlformats.org/drawingml/2006/main">
            <a:off x="8096250" y="4381500"/>
            <a:ext cx="342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3394D"/>
                </a:solidFill>
                <a:latin typeface="Arial"/>
                <a:ea typeface="Arial"/>
                <a:cs typeface="Arial"/>
              </a:defRPr>
            </a:defPPr>
            <a:lvl1pPr>
              <a:defRPr sz="2025" b="0">
                <a:solidFill>
                  <a:srgbClr val="23394D"/>
                </a:solidFill>
                <a:latin typeface="Arial"/>
                <a:ea typeface="Arial"/>
                <a:cs typeface="Arial"/>
              </a:defRPr>
            </a:lvl1pPr>
            <a:lvl2pPr>
              <a:defRPr sz="2025" b="0">
                <a:solidFill>
                  <a:srgbClr val="23394D"/>
                </a:solidFill>
                <a:latin typeface="Arial"/>
                <a:ea typeface="Arial"/>
                <a:cs typeface="Arial"/>
              </a:defRPr>
            </a:lvl2pPr>
            <a:lvl3pPr>
              <a:defRPr sz="2025" b="0">
                <a:solidFill>
                  <a:srgbClr val="23394D"/>
                </a:solidFill>
                <a:latin typeface="Arial"/>
                <a:ea typeface="Arial"/>
                <a:cs typeface="Arial"/>
              </a:defRPr>
            </a:lvl3pPr>
            <a:lvl4pPr>
              <a:defRPr sz="2025" b="0">
                <a:solidFill>
                  <a:srgbClr val="23394D"/>
                </a:solidFill>
                <a:latin typeface="Arial"/>
                <a:ea typeface="Arial"/>
                <a:cs typeface="Arial"/>
              </a:defRPr>
            </a:lvl4pPr>
            <a:lvl5pPr>
              <a:defRPr sz="2025" b="0">
                <a:solidFill>
                  <a:srgbClr val="23394D"/>
                </a:solidFill>
                <a:latin typeface="Arial"/>
                <a:ea typeface="Arial"/>
                <a:cs typeface="Arial"/>
              </a:defRPr>
            </a:lvl5pPr>
            <a:lvl6pPr>
              <a:defRPr sz="2025" b="0">
                <a:solidFill>
                  <a:srgbClr val="23394D"/>
                </a:solidFill>
                <a:latin typeface="Arial"/>
                <a:ea typeface="Arial"/>
                <a:cs typeface="Arial"/>
              </a:defRPr>
            </a:lvl6pPr>
            <a:lvl7pPr>
              <a:defRPr sz="2025" b="0">
                <a:solidFill>
                  <a:srgbClr val="23394D"/>
                </a:solidFill>
                <a:latin typeface="Arial"/>
                <a:ea typeface="Arial"/>
                <a:cs typeface="Arial"/>
              </a:defRPr>
            </a:lvl7pPr>
            <a:lvl8pPr>
              <a:defRPr sz="2025" b="0">
                <a:solidFill>
                  <a:srgbClr val="23394D"/>
                </a:solidFill>
                <a:latin typeface="Arial"/>
                <a:ea typeface="Arial"/>
                <a:cs typeface="Arial"/>
              </a:defRPr>
            </a:lvl8pPr>
            <a:lvl9pPr>
              <a:defRPr sz="2025" b="0">
                <a:solidFill>
                  <a:srgbClr val="23394D"/>
                </a:solidFill>
                <a:latin typeface="Arial"/>
                <a:ea typeface="Arial"/>
                <a:cs typeface="Arial"/>
              </a:defRPr>
            </a:lvl9pPr>
          </a:lstStyle>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Stratified subsets</a:t>
            </a:r>
          </a:p>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Seed 42</a:t>
            </a:r>
          </a:p>
        </p:txBody>
      </p:sp>
    </p:spTree>
    <p:extLst>
      <p:ext uri="{BB962C8B-B14F-4D97-AF65-F5344CB8AC3E}">
        <p14:creationId xmlns:p14="http://schemas.microsoft.com/office/powerpoint/2010/main" val="1994779686"/>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2997154-37B2-4C67-9762-14CE7DBDB6D6}"/>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Preprocessing and leakage control</a:t>
            </a:r>
          </a:p>
        </p:txBody>
      </p:sp>
      <p:sp>
        <p:nvSpPr>
          <p:cNvPr id="2" name="">
            <a:extLst xmlns:a="http://schemas.openxmlformats.org/drawingml/2006/main">
              <a:ext uri="{FF2B5EF4-FFF2-40B4-BE49-F238E27FC236}">
                <a16:creationId xmlns:a16="http://schemas.microsoft.com/office/drawing/2014/main" id="{A59A3B20-F20E-4EF4-BE89-83F6A1DAC1E2}"/>
              </a:ext>
            </a:extLst>
          </p:cNvPr>
          <p:cNvSpPr>
            <a:spLocks xmlns:a="http://schemas.openxmlformats.org/drawingml/2006/main" noGrp="1"/>
          </p:cNvSpPr>
          <p:nvPr/>
        </p:nvSpPr>
        <p:spPr>
          <a:xfrm xmlns:a="http://schemas.openxmlformats.org/drawingml/2006/main">
            <a:off x="666750" y="1619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32,114 test reviews removed for train overlap</a:t>
            </a:r>
          </a:p>
        </p:txBody>
      </p:sp>
      <p:sp>
        <p:nvSpPr>
          <p:cNvPr id="3" name="">
            <a:extLst xmlns:a="http://schemas.openxmlformats.org/drawingml/2006/main">
              <a:ext uri="{FF2B5EF4-FFF2-40B4-BE49-F238E27FC236}">
                <a16:creationId xmlns:a16="http://schemas.microsoft.com/office/drawing/2014/main" id="{9F55A362-BBBD-4BB9-AA77-AADC88461BFF}"/>
              </a:ext>
            </a:extLst>
          </p:cNvPr>
          <p:cNvSpPr>
            <a:spLocks xmlns:a="http://schemas.openxmlformats.org/drawingml/2006/main" noGrp="1"/>
          </p:cNvSpPr>
          <p:nvPr/>
        </p:nvSpPr>
        <p:spPr>
          <a:xfrm xmlns:a="http://schemas.openxmlformats.org/drawingml/2006/main">
            <a:off x="666750" y="26193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Vocabulary: 12,000 tokens, fitted on training text only</a:t>
            </a:r>
          </a:p>
        </p:txBody>
      </p:sp>
      <p:sp>
        <p:nvSpPr>
          <p:cNvPr id="4" name="">
            <a:extLst xmlns:a="http://schemas.openxmlformats.org/drawingml/2006/main">
              <a:ext uri="{FF2B5EF4-FFF2-40B4-BE49-F238E27FC236}">
                <a16:creationId xmlns:a16="http://schemas.microsoft.com/office/drawing/2014/main" id="{324686B6-B289-4E7D-A582-C79034961765}"/>
              </a:ext>
            </a:extLst>
          </p:cNvPr>
          <p:cNvSpPr>
            <a:spLocks xmlns:a="http://schemas.openxmlformats.org/drawingml/2006/main" noGrp="1"/>
          </p:cNvSpPr>
          <p:nvPr/>
        </p:nvSpPr>
        <p:spPr>
          <a:xfrm xmlns:a="http://schemas.openxmlformats.org/drawingml/2006/main">
            <a:off x="666750" y="36195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96-token limit truncates 43.4% of training reviews</a:t>
            </a:r>
          </a:p>
        </p:txBody>
      </p:sp>
      <p:sp>
        <p:nvSpPr>
          <p:cNvPr id="5" name="">
            <a:extLst xmlns:a="http://schemas.openxmlformats.org/drawingml/2006/main">
              <a:ext uri="{FF2B5EF4-FFF2-40B4-BE49-F238E27FC236}">
                <a16:creationId xmlns:a16="http://schemas.microsoft.com/office/drawing/2014/main" id="{3D3647B7-257A-4808-A92B-BF865BE9F85A}"/>
              </a:ext>
            </a:extLst>
          </p:cNvPr>
          <p:cNvSpPr>
            <a:spLocks xmlns:a="http://schemas.openxmlformats.org/drawingml/2006/main" noGrp="1"/>
          </p:cNvSpPr>
          <p:nvPr/>
        </p:nvSpPr>
        <p:spPr>
          <a:xfrm xmlns:a="http://schemas.openxmlformats.org/drawingml/2006/main">
            <a:off x="666750" y="46196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Padding preserves the previous hidden and memory states</a:t>
            </a:r>
          </a:p>
        </p:txBody>
      </p:sp>
    </p:spTree>
    <p:extLst>
      <p:ext uri="{BB962C8B-B14F-4D97-AF65-F5344CB8AC3E}">
        <p14:creationId xmlns:p14="http://schemas.microsoft.com/office/powerpoint/2010/main" val="185258012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07AD37C-AF69-49A3-B8CE-9DAD18E120B8}"/>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Three manually implemented cells</a:t>
            </a:r>
          </a:p>
        </p:txBody>
      </p:sp>
      <p:graphicFrame>
        <p:nvGraphicFramePr>
          <p:cNvPr id="2" name="">
            <a:extLst xmlns:a="http://schemas.openxmlformats.org/drawingml/2006/main">
              <a:ext uri="{FF2B5EF4-FFF2-40B4-BE49-F238E27FC236}">
                <a16:creationId xmlns:a16="http://schemas.microsoft.com/office/drawing/2014/main" id="{A40E9A81-3308-4B34-8829-4990D693F132}"/>
              </a:ext>
            </a:extLst>
          </p:cNvPr>
          <p:cNvGraphicFramePr/>
          <p:nvPr/>
        </p:nvGraphicFramePr>
        <p:xfrm>
          <a:off xmlns:a="http://schemas.openxmlformats.org/drawingml/2006/main" x="666750" y="1714500"/>
          <a:ext xmlns:a="http://schemas.openxmlformats.org/drawingml/2006/main" cx="10810875" cy="3238500"/>
        </p:xfrm>
        <a:graphic xmlns:a="http://schemas.openxmlformats.org/drawingml/2006/main">
          <a:graphicData uri="http://schemas.openxmlformats.org/drawingml/2006/table">
            <a:tbl>
              <a:tblPr/>
              <a:tblGrid>
                <a:gridCol w="3603625"/>
                <a:gridCol w="3603625"/>
                <a:gridCol w="3603625"/>
              </a:tblGrid>
              <a:tr h="809625">
                <a:tc>
                  <a:txBody>
                    <a:bodyPr/>
                    <a:lstStyle/>
                    <a:p>
                      <a:r>
                        <a:rPr sz="1875" b="1">
                          <a:solidFill>
                            <a:srgbClr val="FFFFFF"/>
                          </a:solidFill>
                          <a:latin typeface="Arial"/>
                          <a:ea typeface="Arial"/>
                          <a:cs typeface="Arial"/>
                        </a:rPr>
                        <a:t>Cell</a:t>
                      </a:r>
                    </a:p>
                  </a:txBody>
                  <a:tcPr marL="91440" marR="91440" marT="45720" marB="45720">
                    <a:solidFill>
                      <a:srgbClr val="173955"/>
                    </a:solidFill>
                  </a:tcPr>
                </a:tc>
                <a:tc>
                  <a:txBody>
                    <a:bodyPr/>
                    <a:lstStyle/>
                    <a:p>
                      <a:r>
                        <a:rPr sz="1875" b="1">
                          <a:solidFill>
                            <a:srgbClr val="FFFFFF"/>
                          </a:solidFill>
                          <a:latin typeface="Arial"/>
                          <a:ea typeface="Arial"/>
                          <a:cs typeface="Arial"/>
                        </a:rPr>
                        <a:t>Distinctive operation</a:t>
                      </a:r>
                    </a:p>
                  </a:txBody>
                  <a:tcPr marL="91440" marR="91440" marT="45720" marB="45720">
                    <a:solidFill>
                      <a:srgbClr val="173955"/>
                    </a:solidFill>
                  </a:tcPr>
                </a:tc>
                <a:tc>
                  <a:txBody>
                    <a:bodyPr/>
                    <a:lstStyle/>
                    <a:p>
                      <a:r>
                        <a:rPr sz="1875" b="1">
                          <a:solidFill>
                            <a:srgbClr val="FFFFFF"/>
                          </a:solidFill>
                          <a:latin typeface="Arial"/>
                          <a:ea typeface="Arial"/>
                          <a:cs typeface="Arial"/>
                        </a:rPr>
                        <a:t>Parameters</a:t>
                      </a:r>
                    </a:p>
                  </a:txBody>
                  <a:tcPr marL="91440" marR="91440" marT="45720" marB="45720">
                    <a:solidFill>
                      <a:srgbClr val="173955"/>
                    </a:solidFill>
                  </a:tcPr>
                </a:tc>
              </a:tr>
              <a:tr h="809625">
                <a:tc>
                  <a:txBody>
                    <a:bodyPr/>
                    <a:lstStyle/>
                    <a:p>
                      <a:r>
                        <a:rPr sz="1875" b="0">
                          <a:solidFill>
                            <a:srgbClr val="23394D"/>
                          </a:solidFill>
                          <a:latin typeface="Arial"/>
                          <a:ea typeface="Arial"/>
                          <a:cs typeface="Arial"/>
                        </a:rPr>
                        <a:t>Vanilla</a:t>
                      </a:r>
                    </a:p>
                  </a:txBody>
                  <a:tcPr marL="91440" marR="91440" marT="45720" marB="45720">
                    <a:solidFill>
                      <a:srgbClr val="EAF0F6"/>
                    </a:solidFill>
                  </a:tcPr>
                </a:tc>
                <a:tc>
                  <a:txBody>
                    <a:bodyPr/>
                    <a:lstStyle/>
                    <a:p>
                      <a:r>
                        <a:rPr sz="1875" b="0">
                          <a:solidFill>
                            <a:srgbClr val="23394D"/>
                          </a:solidFill>
                          <a:latin typeface="Arial"/>
                          <a:ea typeface="Arial"/>
                          <a:cs typeface="Arial"/>
                        </a:rPr>
                        <a:t>Independent gates</a:t>
                      </a:r>
                    </a:p>
                  </a:txBody>
                  <a:tcPr marL="91440" marR="91440" marT="45720" marB="45720">
                    <a:solidFill>
                      <a:srgbClr val="EAF0F6"/>
                    </a:solidFill>
                  </a:tcPr>
                </a:tc>
                <a:tc>
                  <a:txBody>
                    <a:bodyPr/>
                    <a:lstStyle/>
                    <a:p>
                      <a:r>
                        <a:rPr sz="1875" b="0">
                          <a:solidFill>
                            <a:srgbClr val="23394D"/>
                          </a:solidFill>
                          <a:latin typeface="Arial"/>
                          <a:ea typeface="Arial"/>
                          <a:cs typeface="Arial"/>
                        </a:rPr>
                        <a:t>801,219</a:t>
                      </a:r>
                    </a:p>
                  </a:txBody>
                  <a:tcPr marL="91440" marR="91440" marT="45720" marB="45720">
                    <a:solidFill>
                      <a:srgbClr val="EAF0F6"/>
                    </a:solidFill>
                  </a:tcPr>
                </a:tc>
              </a:tr>
              <a:tr h="809625">
                <a:tc>
                  <a:txBody>
                    <a:bodyPr/>
                    <a:lstStyle/>
                    <a:p>
                      <a:r>
                        <a:rPr sz="1875" b="0">
                          <a:solidFill>
                            <a:srgbClr val="23394D"/>
                          </a:solidFill>
                          <a:latin typeface="Arial"/>
                          <a:ea typeface="Arial"/>
                          <a:cs typeface="Arial"/>
                        </a:rPr>
                        <a:t>CIFG</a:t>
                      </a:r>
                    </a:p>
                  </a:txBody>
                  <a:tcPr marL="91440" marR="91440" marT="45720" marB="45720">
                    <a:solidFill>
                      <a:srgbClr val="FFFFFF"/>
                    </a:solidFill>
                  </a:tcPr>
                </a:tc>
                <a:tc>
                  <a:txBody>
                    <a:bodyPr/>
                    <a:lstStyle/>
                    <a:p>
                      <a:r>
                        <a:rPr sz="1875" b="0">
                          <a:solidFill>
                            <a:srgbClr val="23394D"/>
                          </a:solidFill>
                          <a:latin typeface="Arial"/>
                          <a:ea typeface="Arial"/>
                          <a:cs typeface="Arial"/>
                        </a:rPr>
                        <a:t>i_t = 1 - f_t</a:t>
                      </a:r>
                    </a:p>
                  </a:txBody>
                  <a:tcPr marL="91440" marR="91440" marT="45720" marB="45720">
                    <a:solidFill>
                      <a:srgbClr val="FFFFFF"/>
                    </a:solidFill>
                  </a:tcPr>
                </a:tc>
                <a:tc>
                  <a:txBody>
                    <a:bodyPr/>
                    <a:lstStyle/>
                    <a:p>
                      <a:r>
                        <a:rPr sz="1875" b="0">
                          <a:solidFill>
                            <a:srgbClr val="23394D"/>
                          </a:solidFill>
                          <a:latin typeface="Arial"/>
                          <a:ea typeface="Arial"/>
                          <a:cs typeface="Arial"/>
                        </a:rPr>
                        <a:t>792,963</a:t>
                      </a:r>
                    </a:p>
                  </a:txBody>
                  <a:tcPr marL="91440" marR="91440" marT="45720" marB="45720">
                    <a:solidFill>
                      <a:srgbClr val="FFFFFF"/>
                    </a:solidFill>
                  </a:tcPr>
                </a:tc>
              </a:tr>
              <a:tr h="809625">
                <a:tc>
                  <a:txBody>
                    <a:bodyPr/>
                    <a:lstStyle/>
                    <a:p>
                      <a:r>
                        <a:rPr sz="1875" b="0">
                          <a:solidFill>
                            <a:srgbClr val="23394D"/>
                          </a:solidFill>
                          <a:latin typeface="Arial"/>
                          <a:ea typeface="Arial"/>
                          <a:cs typeface="Arial"/>
                        </a:rPr>
                        <a:t>WMC</a:t>
                      </a:r>
                    </a:p>
                  </a:txBody>
                  <a:tcPr marL="91440" marR="91440" marT="45720" marB="45720">
                    <a:solidFill>
                      <a:srgbClr val="EAF0F6"/>
                    </a:solidFill>
                  </a:tcPr>
                </a:tc>
                <a:tc>
                  <a:txBody>
                    <a:bodyPr/>
                    <a:lstStyle/>
                    <a:p>
                      <a:r>
                        <a:rPr sz="1875" b="0">
                          <a:solidFill>
                            <a:srgbClr val="23394D"/>
                          </a:solidFill>
                          <a:latin typeface="Arial"/>
                          <a:ea typeface="Arial"/>
                          <a:cs typeface="Arial"/>
                        </a:rPr>
                        <a:t>Memory-to-gate connections</a:t>
                      </a:r>
                    </a:p>
                  </a:txBody>
                  <a:tcPr marL="91440" marR="91440" marT="45720" marB="45720">
                    <a:solidFill>
                      <a:srgbClr val="EAF0F6"/>
                    </a:solidFill>
                  </a:tcPr>
                </a:tc>
                <a:tc>
                  <a:txBody>
                    <a:bodyPr/>
                    <a:lstStyle/>
                    <a:p>
                      <a:r>
                        <a:rPr sz="1875" b="0">
                          <a:solidFill>
                            <a:srgbClr val="23394D"/>
                          </a:solidFill>
                          <a:latin typeface="Arial"/>
                          <a:ea typeface="Arial"/>
                          <a:cs typeface="Arial"/>
                        </a:rPr>
                        <a:t>813,507</a:t>
                      </a:r>
                    </a:p>
                  </a:txBody>
                  <a:tcPr marL="91440" marR="91440" marT="45720" marB="45720">
                    <a:solidFill>
                      <a:srgbClr val="EAF0F6"/>
                    </a:solidFill>
                  </a:tcPr>
                </a:tc>
              </a:tr>
            </a:tbl>
          </a:graphicData>
        </a:graphic>
      </p:graphicFrame>
      <p:sp>
        <p:nvSpPr>
          <p:cNvPr id="3" name="">
            <a:extLst xmlns:a="http://schemas.openxmlformats.org/drawingml/2006/main">
              <a:ext uri="{FF2B5EF4-FFF2-40B4-BE49-F238E27FC236}">
                <a16:creationId xmlns:a16="http://schemas.microsoft.com/office/drawing/2014/main" id="{9BF98B34-B8B0-4007-9CC4-CBFEE4D540BC}"/>
              </a:ext>
            </a:extLst>
          </p:cNvPr>
          <p:cNvSpPr>
            <a:spLocks xmlns:a="http://schemas.openxmlformats.org/drawingml/2006/main" noGrp="1"/>
          </p:cNvSpPr>
          <p:nvPr/>
        </p:nvSpPr>
        <p:spPr>
          <a:xfrm xmlns:a="http://schemas.openxmlformats.org/drawingml/2006/main">
            <a:off x="666750" y="54292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3394D"/>
                </a:solidFill>
                <a:latin typeface="Arial"/>
                <a:ea typeface="Arial"/>
                <a:cs typeface="Arial"/>
              </a:defRPr>
            </a:defPPr>
            <a:lvl1pPr>
              <a:defRPr sz="2025" b="0">
                <a:solidFill>
                  <a:srgbClr val="23394D"/>
                </a:solidFill>
                <a:latin typeface="Arial"/>
                <a:ea typeface="Arial"/>
                <a:cs typeface="Arial"/>
              </a:defRPr>
            </a:lvl1pPr>
            <a:lvl2pPr>
              <a:defRPr sz="2025" b="0">
                <a:solidFill>
                  <a:srgbClr val="23394D"/>
                </a:solidFill>
                <a:latin typeface="Arial"/>
                <a:ea typeface="Arial"/>
                <a:cs typeface="Arial"/>
              </a:defRPr>
            </a:lvl2pPr>
            <a:lvl3pPr>
              <a:defRPr sz="2025" b="0">
                <a:solidFill>
                  <a:srgbClr val="23394D"/>
                </a:solidFill>
                <a:latin typeface="Arial"/>
                <a:ea typeface="Arial"/>
                <a:cs typeface="Arial"/>
              </a:defRPr>
            </a:lvl3pPr>
            <a:lvl4pPr>
              <a:defRPr sz="2025" b="0">
                <a:solidFill>
                  <a:srgbClr val="23394D"/>
                </a:solidFill>
                <a:latin typeface="Arial"/>
                <a:ea typeface="Arial"/>
                <a:cs typeface="Arial"/>
              </a:defRPr>
            </a:lvl4pPr>
            <a:lvl5pPr>
              <a:defRPr sz="2025" b="0">
                <a:solidFill>
                  <a:srgbClr val="23394D"/>
                </a:solidFill>
                <a:latin typeface="Arial"/>
                <a:ea typeface="Arial"/>
                <a:cs typeface="Arial"/>
              </a:defRPr>
            </a:lvl5pPr>
            <a:lvl6pPr>
              <a:defRPr sz="2025" b="0">
                <a:solidFill>
                  <a:srgbClr val="23394D"/>
                </a:solidFill>
                <a:latin typeface="Arial"/>
                <a:ea typeface="Arial"/>
                <a:cs typeface="Arial"/>
              </a:defRPr>
            </a:lvl6pPr>
            <a:lvl7pPr>
              <a:defRPr sz="2025" b="0">
                <a:solidFill>
                  <a:srgbClr val="23394D"/>
                </a:solidFill>
                <a:latin typeface="Arial"/>
                <a:ea typeface="Arial"/>
                <a:cs typeface="Arial"/>
              </a:defRPr>
            </a:lvl7pPr>
            <a:lvl8pPr>
              <a:defRPr sz="2025" b="0">
                <a:solidFill>
                  <a:srgbClr val="23394D"/>
                </a:solidFill>
                <a:latin typeface="Arial"/>
                <a:ea typeface="Arial"/>
                <a:cs typeface="Arial"/>
              </a:defRPr>
            </a:lvl8pPr>
            <a:lvl9pPr>
              <a:defRPr sz="2025" b="0">
                <a:solidFill>
                  <a:srgbClr val="23394D"/>
                </a:solidFill>
                <a:latin typeface="Arial"/>
                <a:ea typeface="Arial"/>
                <a:cs typeface="Arial"/>
              </a:defRPr>
            </a:lvl9pPr>
          </a:lstStyle>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Shared 64-dimensional embedding and hidden state, dropout 0.2</a:t>
            </a:r>
          </a:p>
        </p:txBody>
      </p:sp>
    </p:spTree>
    <p:extLst>
      <p:ext uri="{BB962C8B-B14F-4D97-AF65-F5344CB8AC3E}">
        <p14:creationId xmlns:p14="http://schemas.microsoft.com/office/powerpoint/2010/main" val="2016874944"/>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F4CCE2C-38AE-41F5-9BE9-CBB80694CF70}"/>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Hyperparameter experiments</a:t>
            </a:r>
          </a:p>
        </p:txBody>
      </p:sp>
      <p:graphicFrame>
        <p:nvGraphicFramePr>
          <p:cNvPr id="2" name="Chart">
            <a:extLst xmlns:a="http://schemas.openxmlformats.org/drawingml/2006/main">
              <a:ext uri="{FF2B5EF4-FFF2-40B4-BE49-F238E27FC236}">
                <a16:creationId xmlns:a16="http://schemas.microsoft.com/office/drawing/2014/main" id="{74D5F8B2-A802-4797-8AED-131645EB869F}"/>
              </a:ext>
            </a:extLst>
          </p:cNvPr>
          <p:cNvGraphicFramePr/>
          <p:nvPr/>
        </p:nvGraphicFramePr>
        <p:xfrm>
          <a:off xmlns:a="http://schemas.openxmlformats.org/drawingml/2006/main" x="619125" y="1476375"/>
          <a:ext xmlns:a="http://schemas.openxmlformats.org/drawingml/2006/main" cx="10953750" cy="3857625"/>
        </p:xfrm>
        <a:graphic xmlns:a="http://schemas.openxmlformats.org/drawingml/2006/main">
          <a:graphicData uri="http://schemas.openxmlformats.org/drawingml/2006/chart">
            <c:chart xmlns:r="http://schemas.openxmlformats.org/officeDocument/2006/relationships" xmlns:c="http://schemas.openxmlformats.org/drawingml/2006/chart" r:id="Rf5552a8820d048de"/>
          </a:graphicData>
        </a:graphic>
      </p:graphicFrame>
      <p:sp>
        <p:nvSpPr>
          <p:cNvPr id="3" name="">
            <a:extLst xmlns:a="http://schemas.openxmlformats.org/drawingml/2006/main">
              <a:ext uri="{FF2B5EF4-FFF2-40B4-BE49-F238E27FC236}">
                <a16:creationId xmlns:a16="http://schemas.microsoft.com/office/drawing/2014/main" id="{F61E7B66-449B-447B-A1AF-BB4FA95C56A4}"/>
              </a:ext>
            </a:extLst>
          </p:cNvPr>
          <p:cNvSpPr>
            <a:spLocks xmlns:a="http://schemas.openxmlformats.org/drawingml/2006/main" noGrp="1"/>
          </p:cNvSpPr>
          <p:nvPr/>
        </p:nvSpPr>
        <p:spPr>
          <a:xfrm xmlns:a="http://schemas.openxmlformats.org/drawingml/2006/main">
            <a:off x="666750" y="57150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3394D"/>
                </a:solidFill>
                <a:latin typeface="Arial"/>
                <a:ea typeface="Arial"/>
                <a:cs typeface="Arial"/>
              </a:defRPr>
            </a:defPPr>
            <a:lvl1pPr>
              <a:defRPr sz="1875" b="0">
                <a:solidFill>
                  <a:srgbClr val="23394D"/>
                </a:solidFill>
                <a:latin typeface="Arial"/>
                <a:ea typeface="Arial"/>
                <a:cs typeface="Arial"/>
              </a:defRPr>
            </a:lvl1pPr>
            <a:lvl2pPr>
              <a:defRPr sz="1875" b="0">
                <a:solidFill>
                  <a:srgbClr val="23394D"/>
                </a:solidFill>
                <a:latin typeface="Arial"/>
                <a:ea typeface="Arial"/>
                <a:cs typeface="Arial"/>
              </a:defRPr>
            </a:lvl2pPr>
            <a:lvl3pPr>
              <a:defRPr sz="1875" b="0">
                <a:solidFill>
                  <a:srgbClr val="23394D"/>
                </a:solidFill>
                <a:latin typeface="Arial"/>
                <a:ea typeface="Arial"/>
                <a:cs typeface="Arial"/>
              </a:defRPr>
            </a:lvl3pPr>
            <a:lvl4pPr>
              <a:defRPr sz="1875" b="0">
                <a:solidFill>
                  <a:srgbClr val="23394D"/>
                </a:solidFill>
                <a:latin typeface="Arial"/>
                <a:ea typeface="Arial"/>
                <a:cs typeface="Arial"/>
              </a:defRPr>
            </a:lvl4pPr>
            <a:lvl5pPr>
              <a:defRPr sz="1875" b="0">
                <a:solidFill>
                  <a:srgbClr val="23394D"/>
                </a:solidFill>
                <a:latin typeface="Arial"/>
                <a:ea typeface="Arial"/>
                <a:cs typeface="Arial"/>
              </a:defRPr>
            </a:lvl5pPr>
            <a:lvl6pPr>
              <a:defRPr sz="1875" b="0">
                <a:solidFill>
                  <a:srgbClr val="23394D"/>
                </a:solidFill>
                <a:latin typeface="Arial"/>
                <a:ea typeface="Arial"/>
                <a:cs typeface="Arial"/>
              </a:defRPr>
            </a:lvl6pPr>
            <a:lvl7pPr>
              <a:defRPr sz="1875" b="0">
                <a:solidFill>
                  <a:srgbClr val="23394D"/>
                </a:solidFill>
                <a:latin typeface="Arial"/>
                <a:ea typeface="Arial"/>
                <a:cs typeface="Arial"/>
              </a:defRPr>
            </a:lvl7pPr>
            <a:lvl8pPr>
              <a:defRPr sz="1875" b="0">
                <a:solidFill>
                  <a:srgbClr val="23394D"/>
                </a:solidFill>
                <a:latin typeface="Arial"/>
                <a:ea typeface="Arial"/>
                <a:cs typeface="Arial"/>
              </a:defRPr>
            </a:lvl8pPr>
            <a:lvl9pPr>
              <a:defRPr sz="1875" b="0">
                <a:solidFill>
                  <a:srgbClr val="23394D"/>
                </a:solidFill>
                <a:latin typeface="Arial"/>
                <a:ea typeface="Arial"/>
                <a:cs typeface="Arial"/>
              </a:defRPr>
            </a:lvl9pPr>
          </a:lstStyle>
          <a:p xmlns:a="http://schemas.openxmlformats.org/drawingml/2006/main">
            <a:pPr>
              <a:defRPr sz="1875" b="0">
                <a:solidFill>
                  <a:srgbClr val="23394D"/>
                </a:solidFill>
                <a:latin typeface="Arial"/>
                <a:ea typeface="Arial"/>
                <a:cs typeface="Arial"/>
              </a:defRPr>
            </a:pPr>
            <a:r>
              <a:rPr sz="1875" b="0">
                <a:solidFill>
                  <a:srgbClr val="23394D"/>
                </a:solidFill>
                <a:latin typeface="Arial"/>
                <a:ea typeface="Arial"/>
                <a:cs typeface="Arial"/>
              </a:rPr>
              <a:t>Adam / learning rates 0.001 and 0.003 / batch sizes 64 and 128</a:t>
            </a:r>
          </a:p>
        </p:txBody>
      </p:sp>
    </p:spTree>
    <p:extLst>
      <p:ext uri="{BB962C8B-B14F-4D97-AF65-F5344CB8AC3E}">
        <p14:creationId xmlns:p14="http://schemas.microsoft.com/office/powerpoint/2010/main" val="1186604705"/>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A76256F-5A8C-4014-8241-C646D40451A8}"/>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Held-out test results</a:t>
            </a:r>
          </a:p>
        </p:txBody>
      </p:sp>
      <p:graphicFrame>
        <p:nvGraphicFramePr>
          <p:cNvPr id="2" name="">
            <a:extLst xmlns:a="http://schemas.openxmlformats.org/drawingml/2006/main">
              <a:ext uri="{FF2B5EF4-FFF2-40B4-BE49-F238E27FC236}">
                <a16:creationId xmlns:a16="http://schemas.microsoft.com/office/drawing/2014/main" id="{9F866C34-E866-44CC-83AC-079E7426F969}"/>
              </a:ext>
            </a:extLst>
          </p:cNvPr>
          <p:cNvGraphicFramePr/>
          <p:nvPr/>
        </p:nvGraphicFramePr>
        <p:xfrm>
          <a:off xmlns:a="http://schemas.openxmlformats.org/drawingml/2006/main" x="666750" y="1714500"/>
          <a:ext xmlns:a="http://schemas.openxmlformats.org/drawingml/2006/main" cx="10810875" cy="3238500"/>
        </p:xfrm>
        <a:graphic xmlns:a="http://schemas.openxmlformats.org/drawingml/2006/main">
          <a:graphicData uri="http://schemas.openxmlformats.org/drawingml/2006/table">
            <a:tbl>
              <a:tblPr/>
              <a:tblGrid>
                <a:gridCol w="2702719"/>
                <a:gridCol w="2702719"/>
                <a:gridCol w="2702719"/>
                <a:gridCol w="2702719"/>
              </a:tblGrid>
              <a:tr h="809625">
                <a:tc>
                  <a:txBody>
                    <a:bodyPr/>
                    <a:lstStyle/>
                    <a:p>
                      <a:r>
                        <a:rPr sz="1875" b="1">
                          <a:solidFill>
                            <a:srgbClr val="FFFFFF"/>
                          </a:solidFill>
                          <a:latin typeface="Arial"/>
                          <a:ea typeface="Arial"/>
                          <a:cs typeface="Arial"/>
                        </a:rPr>
                        <a:t>Cell</a:t>
                      </a:r>
                    </a:p>
                  </a:txBody>
                  <a:tcPr marL="91440" marR="91440" marT="45720" marB="45720">
                    <a:solidFill>
                      <a:srgbClr val="173955"/>
                    </a:solidFill>
                  </a:tcPr>
                </a:tc>
                <a:tc>
                  <a:txBody>
                    <a:bodyPr/>
                    <a:lstStyle/>
                    <a:p>
                      <a:r>
                        <a:rPr sz="1875" b="1">
                          <a:solidFill>
                            <a:srgbClr val="FFFFFF"/>
                          </a:solidFill>
                          <a:latin typeface="Arial"/>
                          <a:ea typeface="Arial"/>
                          <a:cs typeface="Arial"/>
                        </a:rPr>
                        <a:t>Accuracy</a:t>
                      </a:r>
                    </a:p>
                  </a:txBody>
                  <a:tcPr marL="91440" marR="91440" marT="45720" marB="45720">
                    <a:solidFill>
                      <a:srgbClr val="173955"/>
                    </a:solidFill>
                  </a:tcPr>
                </a:tc>
                <a:tc>
                  <a:txBody>
                    <a:bodyPr/>
                    <a:lstStyle/>
                    <a:p>
                      <a:r>
                        <a:rPr sz="1875" b="1">
                          <a:solidFill>
                            <a:srgbClr val="FFFFFF"/>
                          </a:solidFill>
                          <a:latin typeface="Arial"/>
                          <a:ea typeface="Arial"/>
                          <a:cs typeface="Arial"/>
                        </a:rPr>
                        <a:t>Macro-F1</a:t>
                      </a:r>
                    </a:p>
                  </a:txBody>
                  <a:tcPr marL="91440" marR="91440" marT="45720" marB="45720">
                    <a:solidFill>
                      <a:srgbClr val="173955"/>
                    </a:solidFill>
                  </a:tcPr>
                </a:tc>
                <a:tc>
                  <a:txBody>
                    <a:bodyPr/>
                    <a:lstStyle/>
                    <a:p>
                      <a:r>
                        <a:rPr sz="1875" b="1">
                          <a:solidFill>
                            <a:srgbClr val="FFFFFF"/>
                          </a:solidFill>
                          <a:latin typeface="Arial"/>
                          <a:ea typeface="Arial"/>
                          <a:cs typeface="Arial"/>
                        </a:rPr>
                        <a:t>LR / batch</a:t>
                      </a:r>
                    </a:p>
                  </a:txBody>
                  <a:tcPr marL="91440" marR="91440" marT="45720" marB="45720">
                    <a:solidFill>
                      <a:srgbClr val="173955"/>
                    </a:solidFill>
                  </a:tcPr>
                </a:tc>
              </a:tr>
              <a:tr h="809625">
                <a:tc>
                  <a:txBody>
                    <a:bodyPr/>
                    <a:lstStyle/>
                    <a:p>
                      <a:r>
                        <a:rPr sz="1875" b="0">
                          <a:solidFill>
                            <a:srgbClr val="23394D"/>
                          </a:solidFill>
                          <a:latin typeface="Arial"/>
                          <a:ea typeface="Arial"/>
                          <a:cs typeface="Arial"/>
                        </a:rPr>
                        <a:t>VANILLA</a:t>
                      </a:r>
                    </a:p>
                  </a:txBody>
                  <a:tcPr marL="91440" marR="91440" marT="45720" marB="45720">
                    <a:solidFill>
                      <a:srgbClr val="EAF0F6"/>
                    </a:solidFill>
                  </a:tcPr>
                </a:tc>
                <a:tc>
                  <a:txBody>
                    <a:bodyPr/>
                    <a:lstStyle/>
                    <a:p>
                      <a:r>
                        <a:rPr sz="1875" b="0">
                          <a:solidFill>
                            <a:srgbClr val="23394D"/>
                          </a:solidFill>
                          <a:latin typeface="Arial"/>
                          <a:ea typeface="Arial"/>
                          <a:cs typeface="Arial"/>
                        </a:rPr>
                        <a:t>0.5887</a:t>
                      </a:r>
                    </a:p>
                  </a:txBody>
                  <a:tcPr marL="91440" marR="91440" marT="45720" marB="45720">
                    <a:solidFill>
                      <a:srgbClr val="EAF0F6"/>
                    </a:solidFill>
                  </a:tcPr>
                </a:tc>
                <a:tc>
                  <a:txBody>
                    <a:bodyPr/>
                    <a:lstStyle/>
                    <a:p>
                      <a:r>
                        <a:rPr sz="1875" b="0">
                          <a:solidFill>
                            <a:srgbClr val="23394D"/>
                          </a:solidFill>
                          <a:latin typeface="Arial"/>
                          <a:ea typeface="Arial"/>
                          <a:cs typeface="Arial"/>
                        </a:rPr>
                        <a:t>0.4745</a:t>
                      </a:r>
                    </a:p>
                  </a:txBody>
                  <a:tcPr marL="91440" marR="91440" marT="45720" marB="45720">
                    <a:solidFill>
                      <a:srgbClr val="EAF0F6"/>
                    </a:solidFill>
                  </a:tcPr>
                </a:tc>
                <a:tc>
                  <a:txBody>
                    <a:bodyPr/>
                    <a:lstStyle/>
                    <a:p>
                      <a:r>
                        <a:rPr sz="1875" b="0">
                          <a:solidFill>
                            <a:srgbClr val="23394D"/>
                          </a:solidFill>
                          <a:latin typeface="Arial"/>
                          <a:ea typeface="Arial"/>
                          <a:cs typeface="Arial"/>
                        </a:rPr>
                        <a:t>0.001 / 64</a:t>
                      </a:r>
                    </a:p>
                  </a:txBody>
                  <a:tcPr marL="91440" marR="91440" marT="45720" marB="45720">
                    <a:solidFill>
                      <a:srgbClr val="EAF0F6"/>
                    </a:solidFill>
                  </a:tcPr>
                </a:tc>
              </a:tr>
              <a:tr h="809625">
                <a:tc>
                  <a:txBody>
                    <a:bodyPr/>
                    <a:lstStyle/>
                    <a:p>
                      <a:r>
                        <a:rPr sz="1875" b="0">
                          <a:solidFill>
                            <a:srgbClr val="23394D"/>
                          </a:solidFill>
                          <a:latin typeface="Arial"/>
                          <a:ea typeface="Arial"/>
                          <a:cs typeface="Arial"/>
                        </a:rPr>
                        <a:t>CIFG</a:t>
                      </a:r>
                    </a:p>
                  </a:txBody>
                  <a:tcPr marL="91440" marR="91440" marT="45720" marB="45720">
                    <a:solidFill>
                      <a:srgbClr val="FFFFFF"/>
                    </a:solidFill>
                  </a:tcPr>
                </a:tc>
                <a:tc>
                  <a:txBody>
                    <a:bodyPr/>
                    <a:lstStyle/>
                    <a:p>
                      <a:r>
                        <a:rPr sz="1875" b="0">
                          <a:solidFill>
                            <a:srgbClr val="23394D"/>
                          </a:solidFill>
                          <a:latin typeface="Arial"/>
                          <a:ea typeface="Arial"/>
                          <a:cs typeface="Arial"/>
                        </a:rPr>
                        <a:t>0.6395</a:t>
                      </a:r>
                    </a:p>
                  </a:txBody>
                  <a:tcPr marL="91440" marR="91440" marT="45720" marB="45720">
                    <a:solidFill>
                      <a:srgbClr val="FFFFFF"/>
                    </a:solidFill>
                  </a:tcPr>
                </a:tc>
                <a:tc>
                  <a:txBody>
                    <a:bodyPr/>
                    <a:lstStyle/>
                    <a:p>
                      <a:r>
                        <a:rPr sz="1875" b="0">
                          <a:solidFill>
                            <a:srgbClr val="23394D"/>
                          </a:solidFill>
                          <a:latin typeface="Arial"/>
                          <a:ea typeface="Arial"/>
                          <a:cs typeface="Arial"/>
                        </a:rPr>
                        <a:t>0.5001</a:t>
                      </a:r>
                    </a:p>
                  </a:txBody>
                  <a:tcPr marL="91440" marR="91440" marT="45720" marB="45720">
                    <a:solidFill>
                      <a:srgbClr val="FFFFFF"/>
                    </a:solidFill>
                  </a:tcPr>
                </a:tc>
                <a:tc>
                  <a:txBody>
                    <a:bodyPr/>
                    <a:lstStyle/>
                    <a:p>
                      <a:r>
                        <a:rPr sz="1875" b="0">
                          <a:solidFill>
                            <a:srgbClr val="23394D"/>
                          </a:solidFill>
                          <a:latin typeface="Arial"/>
                          <a:ea typeface="Arial"/>
                          <a:cs typeface="Arial"/>
                        </a:rPr>
                        <a:t>0.001 / 64</a:t>
                      </a:r>
                    </a:p>
                  </a:txBody>
                  <a:tcPr marL="91440" marR="91440" marT="45720" marB="45720">
                    <a:solidFill>
                      <a:srgbClr val="FFFFFF"/>
                    </a:solidFill>
                  </a:tcPr>
                </a:tc>
              </a:tr>
              <a:tr h="809625">
                <a:tc>
                  <a:txBody>
                    <a:bodyPr/>
                    <a:lstStyle/>
                    <a:p>
                      <a:r>
                        <a:rPr sz="1875" b="0">
                          <a:solidFill>
                            <a:srgbClr val="23394D"/>
                          </a:solidFill>
                          <a:latin typeface="Arial"/>
                          <a:ea typeface="Arial"/>
                          <a:cs typeface="Arial"/>
                        </a:rPr>
                        <a:t>WMC</a:t>
                      </a:r>
                    </a:p>
                  </a:txBody>
                  <a:tcPr marL="91440" marR="91440" marT="45720" marB="45720">
                    <a:solidFill>
                      <a:srgbClr val="EAF0F6"/>
                    </a:solidFill>
                  </a:tcPr>
                </a:tc>
                <a:tc>
                  <a:txBody>
                    <a:bodyPr/>
                    <a:lstStyle/>
                    <a:p>
                      <a:r>
                        <a:rPr sz="1875" b="0">
                          <a:solidFill>
                            <a:srgbClr val="23394D"/>
                          </a:solidFill>
                          <a:latin typeface="Arial"/>
                          <a:ea typeface="Arial"/>
                          <a:cs typeface="Arial"/>
                        </a:rPr>
                        <a:t>0.6292</a:t>
                      </a:r>
                    </a:p>
                  </a:txBody>
                  <a:tcPr marL="91440" marR="91440" marT="45720" marB="45720">
                    <a:solidFill>
                      <a:srgbClr val="EAF0F6"/>
                    </a:solidFill>
                  </a:tcPr>
                </a:tc>
                <a:tc>
                  <a:txBody>
                    <a:bodyPr/>
                    <a:lstStyle/>
                    <a:p>
                      <a:r>
                        <a:rPr sz="1875" b="0">
                          <a:solidFill>
                            <a:srgbClr val="23394D"/>
                          </a:solidFill>
                          <a:latin typeface="Arial"/>
                          <a:ea typeface="Arial"/>
                          <a:cs typeface="Arial"/>
                        </a:rPr>
                        <a:t>0.4924</a:t>
                      </a:r>
                    </a:p>
                  </a:txBody>
                  <a:tcPr marL="91440" marR="91440" marT="45720" marB="45720">
                    <a:solidFill>
                      <a:srgbClr val="EAF0F6"/>
                    </a:solidFill>
                  </a:tcPr>
                </a:tc>
                <a:tc>
                  <a:txBody>
                    <a:bodyPr/>
                    <a:lstStyle/>
                    <a:p>
                      <a:r>
                        <a:rPr sz="1875" b="0">
                          <a:solidFill>
                            <a:srgbClr val="23394D"/>
                          </a:solidFill>
                          <a:latin typeface="Arial"/>
                          <a:ea typeface="Arial"/>
                          <a:cs typeface="Arial"/>
                        </a:rPr>
                        <a:t>0.003 / 128</a:t>
                      </a:r>
                    </a:p>
                  </a:txBody>
                  <a:tcPr marL="91440" marR="91440" marT="45720" marB="45720">
                    <a:solidFill>
                      <a:srgbClr val="EAF0F6"/>
                    </a:solidFill>
                  </a:tcPr>
                </a:tc>
              </a:tr>
            </a:tbl>
          </a:graphicData>
        </a:graphic>
      </p:graphicFrame>
      <p:sp>
        <p:nvSpPr>
          <p:cNvPr id="3" name="">
            <a:extLst xmlns:a="http://schemas.openxmlformats.org/drawingml/2006/main">
              <a:ext uri="{FF2B5EF4-FFF2-40B4-BE49-F238E27FC236}">
                <a16:creationId xmlns:a16="http://schemas.microsoft.com/office/drawing/2014/main" id="{30999B5E-553F-4805-8BA6-33B834285D9E}"/>
              </a:ext>
            </a:extLst>
          </p:cNvPr>
          <p:cNvSpPr>
            <a:spLocks xmlns:a="http://schemas.openxmlformats.org/drawingml/2006/main" noGrp="1"/>
          </p:cNvSpPr>
          <p:nvPr/>
        </p:nvSpPr>
        <p:spPr>
          <a:xfrm xmlns:a="http://schemas.openxmlformats.org/drawingml/2006/main">
            <a:off x="666750" y="54768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3394D"/>
                </a:solidFill>
                <a:latin typeface="Arial"/>
                <a:ea typeface="Arial"/>
                <a:cs typeface="Arial"/>
              </a:defRPr>
            </a:defPPr>
            <a:lvl1pPr>
              <a:defRPr sz="2100" b="0">
                <a:solidFill>
                  <a:srgbClr val="23394D"/>
                </a:solidFill>
                <a:latin typeface="Arial"/>
                <a:ea typeface="Arial"/>
                <a:cs typeface="Arial"/>
              </a:defRPr>
            </a:lvl1pPr>
            <a:lvl2pPr>
              <a:defRPr sz="2100" b="0">
                <a:solidFill>
                  <a:srgbClr val="23394D"/>
                </a:solidFill>
                <a:latin typeface="Arial"/>
                <a:ea typeface="Arial"/>
                <a:cs typeface="Arial"/>
              </a:defRPr>
            </a:lvl2pPr>
            <a:lvl3pPr>
              <a:defRPr sz="2100" b="0">
                <a:solidFill>
                  <a:srgbClr val="23394D"/>
                </a:solidFill>
                <a:latin typeface="Arial"/>
                <a:ea typeface="Arial"/>
                <a:cs typeface="Arial"/>
              </a:defRPr>
            </a:lvl3pPr>
            <a:lvl4pPr>
              <a:defRPr sz="2100" b="0">
                <a:solidFill>
                  <a:srgbClr val="23394D"/>
                </a:solidFill>
                <a:latin typeface="Arial"/>
                <a:ea typeface="Arial"/>
                <a:cs typeface="Arial"/>
              </a:defRPr>
            </a:lvl4pPr>
            <a:lvl5pPr>
              <a:defRPr sz="2100" b="0">
                <a:solidFill>
                  <a:srgbClr val="23394D"/>
                </a:solidFill>
                <a:latin typeface="Arial"/>
                <a:ea typeface="Arial"/>
                <a:cs typeface="Arial"/>
              </a:defRPr>
            </a:lvl5pPr>
            <a:lvl6pPr>
              <a:defRPr sz="2100" b="0">
                <a:solidFill>
                  <a:srgbClr val="23394D"/>
                </a:solidFill>
                <a:latin typeface="Arial"/>
                <a:ea typeface="Arial"/>
                <a:cs typeface="Arial"/>
              </a:defRPr>
            </a:lvl6pPr>
            <a:lvl7pPr>
              <a:defRPr sz="2100" b="0">
                <a:solidFill>
                  <a:srgbClr val="23394D"/>
                </a:solidFill>
                <a:latin typeface="Arial"/>
                <a:ea typeface="Arial"/>
                <a:cs typeface="Arial"/>
              </a:defRPr>
            </a:lvl7pPr>
            <a:lvl8pPr>
              <a:defRPr sz="2100" b="0">
                <a:solidFill>
                  <a:srgbClr val="23394D"/>
                </a:solidFill>
                <a:latin typeface="Arial"/>
                <a:ea typeface="Arial"/>
                <a:cs typeface="Arial"/>
              </a:defRPr>
            </a:lvl8pPr>
            <a:lvl9pPr>
              <a:defRPr sz="2100" b="0">
                <a:solidFill>
                  <a:srgbClr val="23394D"/>
                </a:solidFill>
                <a:latin typeface="Arial"/>
                <a:ea typeface="Arial"/>
                <a:cs typeface="Arial"/>
              </a:defRPr>
            </a:lvl9pPr>
          </a:lstStyle>
          <a:p xmlns:a="http://schemas.openxmlformats.org/drawingml/2006/main">
            <a:pPr>
              <a:defRPr sz="2100" b="0">
                <a:solidFill>
                  <a:srgbClr val="23394D"/>
                </a:solidFill>
                <a:latin typeface="Arial"/>
                <a:ea typeface="Arial"/>
                <a:cs typeface="Arial"/>
              </a:defRPr>
            </a:pPr>
            <a:r>
              <a:rPr sz="2100" b="0">
                <a:solidFill>
                  <a:srgbClr val="23394D"/>
                </a:solidFill>
                <a:latin typeface="Arial"/>
                <a:ea typeface="Arial"/>
                <a:cs typeface="Arial"/>
              </a:rPr>
              <a:t>Majority baseline: accuracy 0.6640, macro-F1 0.2660</a:t>
            </a:r>
          </a:p>
        </p:txBody>
      </p:sp>
    </p:spTree>
    <p:extLst>
      <p:ext uri="{BB962C8B-B14F-4D97-AF65-F5344CB8AC3E}">
        <p14:creationId xmlns:p14="http://schemas.microsoft.com/office/powerpoint/2010/main" val="1243262184"/>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6DAC0E9-43BF-44CE-9F8C-5254E5D9D140}"/>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Class-level performance</a:t>
            </a:r>
          </a:p>
        </p:txBody>
      </p:sp>
      <p:graphicFrame>
        <p:nvGraphicFramePr>
          <p:cNvPr id="2" name="Chart">
            <a:extLst xmlns:a="http://schemas.openxmlformats.org/drawingml/2006/main">
              <a:ext uri="{FF2B5EF4-FFF2-40B4-BE49-F238E27FC236}">
                <a16:creationId xmlns:a16="http://schemas.microsoft.com/office/drawing/2014/main" id="{4867732C-4EE1-4A5B-9251-491BF327BBBC}"/>
              </a:ext>
            </a:extLst>
          </p:cNvPr>
          <p:cNvGraphicFramePr/>
          <p:nvPr/>
        </p:nvGraphicFramePr>
        <p:xfrm>
          <a:off xmlns:a="http://schemas.openxmlformats.org/drawingml/2006/main" x="666750" y="1619250"/>
          <a:ext xmlns:a="http://schemas.openxmlformats.org/drawingml/2006/main" cx="7143750" cy="3905250"/>
        </p:xfrm>
        <a:graphic xmlns:a="http://schemas.openxmlformats.org/drawingml/2006/main">
          <a:graphicData uri="http://schemas.openxmlformats.org/drawingml/2006/chart">
            <c:chart xmlns:r="http://schemas.openxmlformats.org/officeDocument/2006/relationships" xmlns:c="http://schemas.openxmlformats.org/drawingml/2006/chart" r:id="R68b9a5f69cfb4a3c"/>
          </a:graphicData>
        </a:graphic>
      </p:graphicFrame>
      <p:sp>
        <p:nvSpPr>
          <p:cNvPr id="3" name="">
            <a:extLst xmlns:a="http://schemas.openxmlformats.org/drawingml/2006/main">
              <a:ext uri="{FF2B5EF4-FFF2-40B4-BE49-F238E27FC236}">
                <a16:creationId xmlns:a16="http://schemas.microsoft.com/office/drawing/2014/main" id="{27821C7A-69E4-407E-8E89-191E707DC400}"/>
              </a:ext>
            </a:extLst>
          </p:cNvPr>
          <p:cNvSpPr>
            <a:spLocks xmlns:a="http://schemas.openxmlformats.org/drawingml/2006/main" noGrp="1"/>
          </p:cNvSpPr>
          <p:nvPr/>
        </p:nvSpPr>
        <p:spPr>
          <a:xfrm xmlns:a="http://schemas.openxmlformats.org/drawingml/2006/main">
            <a:off x="8286750" y="2238375"/>
            <a:ext cx="304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23394D"/>
                </a:solidFill>
                <a:latin typeface="Arial"/>
                <a:ea typeface="Arial"/>
                <a:cs typeface="Arial"/>
              </a:defRPr>
            </a:defPPr>
            <a:lvl1pPr>
              <a:defRPr sz="2250" b="1">
                <a:solidFill>
                  <a:srgbClr val="23394D"/>
                </a:solidFill>
                <a:latin typeface="Arial"/>
                <a:ea typeface="Arial"/>
                <a:cs typeface="Arial"/>
              </a:defRPr>
            </a:lvl1pPr>
            <a:lvl2pPr>
              <a:defRPr sz="2250" b="1">
                <a:solidFill>
                  <a:srgbClr val="23394D"/>
                </a:solidFill>
                <a:latin typeface="Arial"/>
                <a:ea typeface="Arial"/>
                <a:cs typeface="Arial"/>
              </a:defRPr>
            </a:lvl2pPr>
            <a:lvl3pPr>
              <a:defRPr sz="2250" b="1">
                <a:solidFill>
                  <a:srgbClr val="23394D"/>
                </a:solidFill>
                <a:latin typeface="Arial"/>
                <a:ea typeface="Arial"/>
                <a:cs typeface="Arial"/>
              </a:defRPr>
            </a:lvl3pPr>
            <a:lvl4pPr>
              <a:defRPr sz="2250" b="1">
                <a:solidFill>
                  <a:srgbClr val="23394D"/>
                </a:solidFill>
                <a:latin typeface="Arial"/>
                <a:ea typeface="Arial"/>
                <a:cs typeface="Arial"/>
              </a:defRPr>
            </a:lvl4pPr>
            <a:lvl5pPr>
              <a:defRPr sz="2250" b="1">
                <a:solidFill>
                  <a:srgbClr val="23394D"/>
                </a:solidFill>
                <a:latin typeface="Arial"/>
                <a:ea typeface="Arial"/>
                <a:cs typeface="Arial"/>
              </a:defRPr>
            </a:lvl5pPr>
            <a:lvl6pPr>
              <a:defRPr sz="2250" b="1">
                <a:solidFill>
                  <a:srgbClr val="23394D"/>
                </a:solidFill>
                <a:latin typeface="Arial"/>
                <a:ea typeface="Arial"/>
                <a:cs typeface="Arial"/>
              </a:defRPr>
            </a:lvl6pPr>
            <a:lvl7pPr>
              <a:defRPr sz="2250" b="1">
                <a:solidFill>
                  <a:srgbClr val="23394D"/>
                </a:solidFill>
                <a:latin typeface="Arial"/>
                <a:ea typeface="Arial"/>
                <a:cs typeface="Arial"/>
              </a:defRPr>
            </a:lvl7pPr>
            <a:lvl8pPr>
              <a:defRPr sz="2250" b="1">
                <a:solidFill>
                  <a:srgbClr val="23394D"/>
                </a:solidFill>
                <a:latin typeface="Arial"/>
                <a:ea typeface="Arial"/>
                <a:cs typeface="Arial"/>
              </a:defRPr>
            </a:lvl8pPr>
            <a:lvl9pPr>
              <a:defRPr sz="2250" b="1">
                <a:solidFill>
                  <a:srgbClr val="23394D"/>
                </a:solidFill>
                <a:latin typeface="Arial"/>
                <a:ea typeface="Arial"/>
                <a:cs typeface="Arial"/>
              </a:defRPr>
            </a:lvl9pPr>
          </a:lstStyle>
          <a:p xmlns:a="http://schemas.openxmlformats.org/drawingml/2006/main">
            <a:pPr>
              <a:defRPr sz="2250" b="1">
                <a:solidFill>
                  <a:srgbClr val="23394D"/>
                </a:solidFill>
                <a:latin typeface="Arial"/>
                <a:ea typeface="Arial"/>
                <a:cs typeface="Arial"/>
              </a:defRPr>
            </a:pPr>
            <a:r>
              <a:rPr sz="2250" b="1">
                <a:solidFill>
                  <a:srgbClr val="23394D"/>
                </a:solidFill>
                <a:latin typeface="Arial"/>
                <a:ea typeface="Arial"/>
                <a:cs typeface="Arial"/>
              </a:rPr>
              <a:t>CIFG</a:t>
            </a:r>
          </a:p>
          <a:p xmlns:a="http://schemas.openxmlformats.org/drawingml/2006/main">
            <a:pPr>
              <a:defRPr sz="2250" b="1">
                <a:solidFill>
                  <a:srgbClr val="23394D"/>
                </a:solidFill>
                <a:latin typeface="Arial"/>
                <a:ea typeface="Arial"/>
                <a:cs typeface="Arial"/>
              </a:defRPr>
            </a:pPr>
            <a:r>
              <a:rPr sz="2250" b="1">
                <a:solidFill>
                  <a:srgbClr val="23394D"/>
                </a:solidFill>
                <a:latin typeface="Arial"/>
                <a:ea typeface="Arial"/>
                <a:cs typeface="Arial"/>
              </a:rPr>
              <a:t>Selected by validation macro-F1</a:t>
            </a:r>
          </a:p>
        </p:txBody>
      </p:sp>
    </p:spTree>
    <p:extLst>
      <p:ext uri="{BB962C8B-B14F-4D97-AF65-F5344CB8AC3E}">
        <p14:creationId xmlns:p14="http://schemas.microsoft.com/office/powerpoint/2010/main" val="1433051826"/>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9A4AB3-10D8-4AE8-8D52-A9A9F08970AC}"/>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Limitations and improvements</a:t>
            </a:r>
          </a:p>
        </p:txBody>
      </p:sp>
      <p:sp>
        <p:nvSpPr>
          <p:cNvPr id="2" name="">
            <a:extLst xmlns:a="http://schemas.openxmlformats.org/drawingml/2006/main">
              <a:ext uri="{FF2B5EF4-FFF2-40B4-BE49-F238E27FC236}">
                <a16:creationId xmlns:a16="http://schemas.microsoft.com/office/drawing/2014/main" id="{C91DB747-A6A5-438F-9E04-B97A9F7346B4}"/>
              </a:ext>
            </a:extLst>
          </p:cNvPr>
          <p:cNvSpPr>
            <a:spLocks xmlns:a="http://schemas.openxmlformats.org/drawingml/2006/main" noGrp="1"/>
          </p:cNvSpPr>
          <p:nvPr/>
        </p:nvSpPr>
        <p:spPr>
          <a:xfrm xmlns:a="http://schemas.openxmlformats.org/drawingml/2006/main">
            <a:off x="666750" y="1619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Repeat with several seeds and longer training</a:t>
            </a:r>
          </a:p>
        </p:txBody>
      </p:sp>
      <p:sp>
        <p:nvSpPr>
          <p:cNvPr id="3" name="">
            <a:extLst xmlns:a="http://schemas.openxmlformats.org/drawingml/2006/main">
              <a:ext uri="{FF2B5EF4-FFF2-40B4-BE49-F238E27FC236}">
                <a16:creationId xmlns:a16="http://schemas.microsoft.com/office/drawing/2014/main" id="{31512562-9768-451B-9611-FAA12E1CD13B}"/>
              </a:ext>
            </a:extLst>
          </p:cNvPr>
          <p:cNvSpPr>
            <a:spLocks xmlns:a="http://schemas.openxmlformats.org/drawingml/2006/main" noGrp="1"/>
          </p:cNvSpPr>
          <p:nvPr/>
        </p:nvSpPr>
        <p:spPr>
          <a:xfrm xmlns:a="http://schemas.openxmlformats.org/drawingml/2006/main">
            <a:off x="666750" y="26193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Test longer sequences and larger training subsets</a:t>
            </a:r>
          </a:p>
        </p:txBody>
      </p:sp>
      <p:sp>
        <p:nvSpPr>
          <p:cNvPr id="4" name="">
            <a:extLst xmlns:a="http://schemas.openxmlformats.org/drawingml/2006/main">
              <a:ext uri="{FF2B5EF4-FFF2-40B4-BE49-F238E27FC236}">
                <a16:creationId xmlns:a16="http://schemas.microsoft.com/office/drawing/2014/main" id="{7A326F07-D5A8-4136-B072-4CB2142C9B33}"/>
              </a:ext>
            </a:extLst>
          </p:cNvPr>
          <p:cNvSpPr>
            <a:spLocks xmlns:a="http://schemas.openxmlformats.org/drawingml/2006/main" noGrp="1"/>
          </p:cNvSpPr>
          <p:nvPr/>
        </p:nvSpPr>
        <p:spPr>
          <a:xfrm xmlns:a="http://schemas.openxmlformats.org/drawingml/2006/main">
            <a:off x="666750" y="36195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Inspect mixed sentiment and ambiguous rating labels</a:t>
            </a:r>
          </a:p>
        </p:txBody>
      </p:sp>
      <p:sp>
        <p:nvSpPr>
          <p:cNvPr id="5" name="">
            <a:extLst xmlns:a="http://schemas.openxmlformats.org/drawingml/2006/main">
              <a:ext uri="{FF2B5EF4-FFF2-40B4-BE49-F238E27FC236}">
                <a16:creationId xmlns:a16="http://schemas.microsoft.com/office/drawing/2014/main" id="{49400399-501B-4CC9-85EB-9B04A6E52E6F}"/>
              </a:ext>
            </a:extLst>
          </p:cNvPr>
          <p:cNvSpPr>
            <a:spLocks xmlns:a="http://schemas.openxmlformats.org/drawingml/2006/main" noGrp="1"/>
          </p:cNvSpPr>
          <p:nvPr/>
        </p:nvSpPr>
        <p:spPr>
          <a:xfrm xmlns:a="http://schemas.openxmlformats.org/drawingml/2006/main">
            <a:off x="666750" y="46196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Evaluate stronger deduplication and generalization by drug</a:t>
            </a:r>
          </a:p>
        </p:txBody>
      </p:sp>
    </p:spTree>
    <p:extLst>
      <p:ext uri="{BB962C8B-B14F-4D97-AF65-F5344CB8AC3E}">
        <p14:creationId xmlns:p14="http://schemas.microsoft.com/office/powerpoint/2010/main" val="10983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2026-10-20T13:43:07.8180000Z</dcterms:created>
  <dcterms:modified xsi:type="dcterms:W3CDTF">2026-10-20T13:43:07.8180000Z</dcterms:modified>
</coreProperties>
</file>