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9f9fd0d2f54d2d" /><Relationship Type="http://schemas.openxmlformats.org/officeDocument/2006/relationships/extended-properties" Target="/docProps/app.xml" Id="Rc965ff734c474df4" /><Relationship Type="http://schemas.openxmlformats.org/officeDocument/2006/relationships/officeDocument" Target="/ppt/presentation.xml" Id="R0779118dea604c52" /></Relationships>
</file>

<file path=ppt/presentation.xml><?xml version="1.0" encoding="utf-8"?>
<p:presentation xmlns:p="http://schemas.openxmlformats.org/presentationml/2006/main">
  <p:sldMasterIdLst>
    <p:sldMasterId xmlns:r="http://schemas.openxmlformats.org/officeDocument/2006/relationships" id="2147483648" r:id="R3475f613edcf4cc6"/>
  </p:sldMasterIdLst>
  <p:notesMasterIdLst>
    <p:notesMasterId xmlns:r="http://schemas.openxmlformats.org/officeDocument/2006/relationships" r:id="R1090ea39fc9c4c24"/>
  </p:notesMasterIdLst>
  <p:sldIdLst>
    <p:sldId xmlns:r="http://schemas.openxmlformats.org/officeDocument/2006/relationships" id="256" r:id="R96feffa4d7bf445b"/>
    <p:sldId xmlns:r="http://schemas.openxmlformats.org/officeDocument/2006/relationships" id="257" r:id="R443435bb818d47a4"/>
    <p:sldId xmlns:r="http://schemas.openxmlformats.org/officeDocument/2006/relationships" id="258" r:id="R0df17b76664d4275"/>
    <p:sldId xmlns:r="http://schemas.openxmlformats.org/officeDocument/2006/relationships" id="259" r:id="R10838315f48d4a79"/>
    <p:sldId xmlns:r="http://schemas.openxmlformats.org/officeDocument/2006/relationships" id="260" r:id="R6bb360b9df924014"/>
    <p:sldId xmlns:r="http://schemas.openxmlformats.org/officeDocument/2006/relationships" id="261" r:id="R81e1463827784d54"/>
    <p:sldId xmlns:r="http://schemas.openxmlformats.org/officeDocument/2006/relationships" id="262" r:id="R329018107bc14f16"/>
    <p:sldId xmlns:r="http://schemas.openxmlformats.org/officeDocument/2006/relationships" id="263" r:id="Rf63c3a5418924ffe"/>
    <p:sldId xmlns:r="http://schemas.openxmlformats.org/officeDocument/2006/relationships" id="264" r:id="R7a91aad10db54b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478e258ffb4400" /><Relationship Type="http://schemas.openxmlformats.org/officeDocument/2006/relationships/slideMaster" Target="/ppt/slideMasters/slideMaster1.xml" Id="R3475f613edcf4cc6" /><Relationship Type="http://schemas.openxmlformats.org/officeDocument/2006/relationships/notesMaster" Target="/ppt/notesMasters/notesMaster1.xml" Id="R1090ea39fc9c4c24" /><Relationship Type="http://schemas.openxmlformats.org/officeDocument/2006/relationships/presProps" Target="/ppt/presProps.xml" Id="R0ff32842da084a37" /><Relationship Type="http://schemas.openxmlformats.org/officeDocument/2006/relationships/tableStyles" Target="/ppt/tableStyles.xml" Id="R1b12bcaa3e6e42d1" /><Relationship Type="http://schemas.openxmlformats.org/officeDocument/2006/relationships/slide" Target="/ppt/slides/slide1.xml" Id="R96feffa4d7bf445b" /><Relationship Type="http://schemas.openxmlformats.org/officeDocument/2006/relationships/slide" Target="/ppt/slides/slide2.xml" Id="R443435bb818d47a4" /><Relationship Type="http://schemas.openxmlformats.org/officeDocument/2006/relationships/slide" Target="/ppt/slides/slide3.xml" Id="R0df17b76664d4275" /><Relationship Type="http://schemas.openxmlformats.org/officeDocument/2006/relationships/slide" Target="/ppt/slides/slide4.xml" Id="R10838315f48d4a79" /><Relationship Type="http://schemas.openxmlformats.org/officeDocument/2006/relationships/slide" Target="/ppt/slides/slide5.xml" Id="R6bb360b9df924014" /><Relationship Type="http://schemas.openxmlformats.org/officeDocument/2006/relationships/slide" Target="/ppt/slides/slide6.xml" Id="R81e1463827784d54" /><Relationship Type="http://schemas.openxmlformats.org/officeDocument/2006/relationships/slide" Target="/ppt/slides/slide7.xml" Id="R329018107bc14f16" /><Relationship Type="http://schemas.openxmlformats.org/officeDocument/2006/relationships/slide" Target="/ppt/slides/slide8.xml" Id="Rf63c3a5418924ffe" /><Relationship Type="http://schemas.openxmlformats.org/officeDocument/2006/relationships/slide" Target="/ppt/slides/slide9.xml" Id="R7a91aad10db54b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7a4f5a85ff47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1a88c03f754fd1" /><Relationship Type="http://schemas.openxmlformats.org/officeDocument/2006/relationships/notesMaster" Target="/ppt/notesMasters/notesMaster1.xml" Id="R71a183a655ac4f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697eaac5154f2e" /><Relationship Type="http://schemas.openxmlformats.org/officeDocument/2006/relationships/notesMaster" Target="/ppt/notesMasters/notesMaster1.xml" Id="R9d84cac0306e4d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31b3bad8b543a6" /><Relationship Type="http://schemas.openxmlformats.org/officeDocument/2006/relationships/notesMaster" Target="/ppt/notesMasters/notesMaster1.xml" Id="Re07eaa9dddbc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1288cd2c5c4133" /><Relationship Type="http://schemas.openxmlformats.org/officeDocument/2006/relationships/notesMaster" Target="/ppt/notesMasters/notesMaster1.xml" Id="Rbe5cd662c68c4a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b9f094eac542eb" /><Relationship Type="http://schemas.openxmlformats.org/officeDocument/2006/relationships/notesMaster" Target="/ppt/notesMasters/notesMaster1.xml" Id="Ra4ef1fce9f7a46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6412ef09d14b68" /><Relationship Type="http://schemas.openxmlformats.org/officeDocument/2006/relationships/notesMaster" Target="/ppt/notesMasters/notesMaster1.xml" Id="Rcc4a42f94ffd4e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506538129d43c1" /><Relationship Type="http://schemas.openxmlformats.org/officeDocument/2006/relationships/notesMaster" Target="/ppt/notesMasters/notesMaster1.xml" Id="R0e2459f9264348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80a5fe12984e33" /><Relationship Type="http://schemas.openxmlformats.org/officeDocument/2006/relationships/notesMaster" Target="/ppt/notesMasters/notesMaster1.xml" Id="Rb84438331caa42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799424a74347b7" /><Relationship Type="http://schemas.openxmlformats.org/officeDocument/2006/relationships/notesMaster" Target="/ppt/notesMasters/notesMaster1.xml" Id="Rdbbaca93099c4b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Introduce the four listed team members and the comparison of vanilla LSTM, CIFG and WMC. This is a rating-derived sentiment classification experiment.</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Explain that only review text enters the model. The patient rating defines the target. Thresholds 1-4, 5-6 and 7-10 are our design choice, not an explicit assignment requirement. The research question is whether changing the recurrent cell improves performance under a common protocol.</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The full source partitions contain 161297 training and 53766 test examples. The training subset retains 2975 negative, 1068 neutral and 7957 positive examples. Explain stratification and why accuracy alone rewards the frequent class.</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Describe HTML decoding, lowercasing and tokenization. Remove duplicates within each source split and then remove 32114 normalized test reviews also present in training. Draw fixed stratified subsets. Vocabulary uses training text only. At 96 tokens, 43.4 percent of training reviews are truncated. Padding never updates recurrent states. Exact matching does not eliminate all near-duplicates.</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All models use a 64-dimensional embedding, a 64-dimensional hidden state, dropout 0.2 and a three-class head. Vanilla learns gates independently. CIFG sets input equal to one minus forget. WMC connects previous memory to input/forget gates and updated current memory to the output gate. Cells use nn.Linear and no nn.LSTM. Parameter counts include embeddings and classifier.</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85 seconds. Three configurations per architecture give nine total runs. A versus B compares learning rate at batch 128. A versus C compares batch size at learning rate .001. Four epochs and one seed. Adam, weighted cross entropy, dropout .2 and clipping norm one remain fixed. Select the best checkpoint and configuration using validation macro-F1. The plot shows selected configurations only; all nine histories remain in the report and repository.</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Select settings using validation only, then evaluate all selected models on the same held-out test subset. CIFG test macro-F1 .5001, accuracy .6395. Majority predictor macro-F1 .2660, accuracy .6640. All models improve macro-F1 but remain below majority accuracy. This single-seed result does not prove universal superiority.</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displayed F1 values belong to CIFG, selected by validation. The neutral class has fewer examples and middle ratings may express mixed sentiment. These are plausible explanations, not a proven causal analysis. Examine saved errors. The actual confusion matrix is available in the report and results folder.</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Prioritize multiple seeds and more training before broad architecture claims. Longer sequences may recover information lost to truncation. More training data and pretrained embeddings may improve performance. Stronger duplicate detection or drug-grouped evaluation would test generalization. Total intended timing is ten minutes.</a:t>
            </a:r>
          </a:p>
          <a:p xmlns:a="http://schemas.openxmlformats.org/drawingml/2006/main">
            <a:r>
              <a:t>Sources: Guidelines_RNN_2627.pdf; local results/data_summary.json, experiments.json, final_results.json and classification reports. Public code: https://github.com/cleora88/rnn-drug-review-lstm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16f09e0d504b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d42b9fd9fb45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efa353089149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fe87cc8ef740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2333b4ac3649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ba8f3f942c4e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25E0F2-35C5-4D64-9FEA-F14FE5093A1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989D7D-A18F-443B-877A-A8A6BDBB55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7A295D-0F2D-4FD4-BABC-A35E500484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1A1F4C-C01A-4867-9B6D-F41B729EAA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820098-4EE6-44F6-8ED8-4A461BA516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0755F3-1010-465B-9BF0-7B60719CF5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5BB6A1-3054-41EE-B7A2-F83303CE1F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7A13CC-3575-423B-8595-8DCFD7AB63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E5299-2C88-45A5-AA68-1F3730441B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683AE8-24F9-4953-956A-9A8E66ABAF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4a44d1d5fe4817" /><Relationship Type="http://schemas.openxmlformats.org/officeDocument/2006/relationships/slideLayout" Target="/ppt/slideLayouts/slideLayout1.xml" Id="R6bd60a463cf8446b" /><Relationship Type="http://schemas.openxmlformats.org/officeDocument/2006/relationships/slideLayout" Target="/ppt/slideLayouts/slideLayout2.xml" Id="Rf84d5647c0314882" /><Relationship Type="http://schemas.openxmlformats.org/officeDocument/2006/relationships/slideLayout" Target="/ppt/slideLayouts/slideLayout3.xml" Id="R735fd2bdee54477c" /><Relationship Type="http://schemas.openxmlformats.org/officeDocument/2006/relationships/slideLayout" Target="/ppt/slideLayouts/slideLayout4.xml" Id="R3c8316340c404b38" /><Relationship Type="http://schemas.openxmlformats.org/officeDocument/2006/relationships/slideLayout" Target="/ppt/slideLayouts/slideLayout5.xml" Id="Ra5ae435cb6c84db0" /><Relationship Type="http://schemas.openxmlformats.org/officeDocument/2006/relationships/slideLayout" Target="/ppt/slideLayouts/slideLayout6.xml" Id="R24dd936018de41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d60a463cf8446b"/>
    <p:sldLayoutId xmlns:r="http://schemas.openxmlformats.org/officeDocument/2006/relationships" id="2147483650" r:id="Rf84d5647c0314882"/>
    <p:sldLayoutId xmlns:r="http://schemas.openxmlformats.org/officeDocument/2006/relationships" id="2147483651" r:id="R735fd2bdee54477c"/>
    <p:sldLayoutId xmlns:r="http://schemas.openxmlformats.org/officeDocument/2006/relationships" id="2147483652" r:id="R3c8316340c404b38"/>
    <p:sldLayoutId xmlns:r="http://schemas.openxmlformats.org/officeDocument/2006/relationships" id="2147483653" r:id="Ra5ae435cb6c84db0"/>
    <p:sldLayoutId xmlns:r="http://schemas.openxmlformats.org/officeDocument/2006/relationships" id="2147483654" r:id="R24dd936018de41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4077b328394693" /><Relationship Type="http://schemas.openxmlformats.org/officeDocument/2006/relationships/image" Target="/ppt/media/image.png" Id="R63f233196d904d9b" /><Relationship Type="http://schemas.openxmlformats.org/officeDocument/2006/relationships/notesSlide" Target="/ppt/notesSlides/notesSlide1.xml" Id="R4f51896aaf4a4a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a4ac16adf64e6c" /><Relationship Type="http://schemas.openxmlformats.org/officeDocument/2006/relationships/notesSlide" Target="/ppt/notesSlides/notesSlide2.xml" Id="Rc88d9efa3bf144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bb41da45ac4476" /><Relationship Type="http://schemas.openxmlformats.org/officeDocument/2006/relationships/chart" Target="/ppt/slides/charts/chart1.xml" Id="Rf1b0cef67c3d452a" /><Relationship Type="http://schemas.openxmlformats.org/officeDocument/2006/relationships/notesSlide" Target="/ppt/notesSlides/notesSlide3.xml" Id="R97ce1bcad28c41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35fcf3ce7d4b33" /><Relationship Type="http://schemas.openxmlformats.org/officeDocument/2006/relationships/notesSlide" Target="/ppt/notesSlides/notesSlide4.xml" Id="Rb838e2b611c146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729f2ce7d64936" /><Relationship Type="http://schemas.openxmlformats.org/officeDocument/2006/relationships/notesSlide" Target="/ppt/notesSlides/notesSlide5.xml" Id="R3d7c4834f5e846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1e3151659147e6" /><Relationship Type="http://schemas.openxmlformats.org/officeDocument/2006/relationships/chart" Target="/ppt/slides/charts/chart2.xml" Id="R1bd555057f8e4338" /><Relationship Type="http://schemas.openxmlformats.org/officeDocument/2006/relationships/notesSlide" Target="/ppt/notesSlides/notesSlide6.xml" Id="R80df9dcc9d884a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00eae92aec41b3" /><Relationship Type="http://schemas.openxmlformats.org/officeDocument/2006/relationships/chart" Target="/ppt/slides/charts/chart3.xml" Id="Rd4e9a64a48b4461d" /><Relationship Type="http://schemas.openxmlformats.org/officeDocument/2006/relationships/notesSlide" Target="/ppt/notesSlides/notesSlide7.xml" Id="R77d6fce3c69847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779ca7aa2749eb" /><Relationship Type="http://schemas.openxmlformats.org/officeDocument/2006/relationships/chart" Target="/ppt/slides/charts/chart4.xml" Id="R17f481b38d954f70" /><Relationship Type="http://schemas.openxmlformats.org/officeDocument/2006/relationships/notesSlide" Target="/ppt/notesSlides/notesSlide8.xml" Id="R4e90775fbcef40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543ad578ea41f6" /><Relationship Type="http://schemas.openxmlformats.org/officeDocument/2006/relationships/notesSlide" Target="/ppt/notesSlides/notesSlide9.xml" Id="R0db0e0742fc84a7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Training reviews</c:v>
          </c:tx>
          <c:spPr>
            <a:solidFill xmlns:a="http://schemas.openxmlformats.org/drawingml/2006/main">
              <a:srgbClr val="007F7A"/>
            </a:solidFill>
          </c:spPr>
          <c:invertIfNegative val="0"/>
          <c:cat>
            <c:strRef>
              <c:f>'Chart Data'!$A$2:$A$4</c:f>
              <c:strCache>
                <c:ptCount val="3"/>
                <c:pt idx="0">
                  <c:v>Negative</c:v>
                </c:pt>
                <c:pt idx="1">
                  <c:v>Neutral</c:v>
                </c:pt>
                <c:pt idx="2">
                  <c:v>Positive</c:v>
                </c:pt>
              </c:strCache>
            </c:strRef>
          </c:cat>
          <c:val>
            <c:numRef>
              <c:f>'Chart Data'!$B$2:$B$4</c:f>
              <c:numCache>
                <c:formatCode>#,##0</c:formatCode>
                <c:ptCount val="3"/>
                <c:pt idx="0">
                  <c:v>2975</c:v>
                </c:pt>
                <c:pt idx="1">
                  <c:v>1068</c:v>
                </c:pt>
                <c:pt idx="2">
                  <c:v>7957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Reviews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plotVisOnly val="1"/>
  </c:chart>
  <c:spPr>
    <a:solidFill xmlns:a="http://schemas.openxmlformats.org/drawingml/2006/main">
      <a:srgbClr val="F7F5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VANILLA</c:v>
          </c:tx>
          <c:spPr>
            <a:solidFill xmlns:a="http://schemas.openxmlformats.org/drawingml/2006/main">
              <a:srgbClr val="18364B"/>
            </a:solidFill>
          </c:spPr>
          <c:marker>
            <c:symbol val="none"/>
          </c:marker>
          <c:cat>
            <c:numRef>
              <c:f>'Chart Data'!$A$2:$A$5</c:f>
              <c:numCache>
                <c:formatCode>General</c:formatCode>
                <c:ptCount val="4"/>
                <c:pt idx="0">
                  <c:v>1</c:v>
                </c:pt>
                <c:pt idx="1">
                  <c:v>2</c:v>
                </c:pt>
                <c:pt idx="2">
                  <c:v>3</c:v>
                </c:pt>
                <c:pt idx="3">
                  <c:v>4</c:v>
                </c:pt>
              </c:numCache>
            </c:numRef>
          </c:cat>
          <c:val>
            <c:numRef>
              <c:f>'Chart Data'!$B$2:$B$5</c:f>
              <c:numCache>
                <c:formatCode>0.00</c:formatCode>
                <c:ptCount val="4"/>
                <c:pt idx="0">
                  <c:v>0.334413</c:v>
                </c:pt>
                <c:pt idx="1">
                  <c:v>0.410813</c:v>
                </c:pt>
                <c:pt idx="2">
                  <c:v>0.459511</c:v>
                </c:pt>
                <c:pt idx="3">
                  <c:v>0.485908</c:v>
                </c:pt>
              </c:numCache>
            </c:numRef>
          </c:val>
        </c:ser>
        <c:ser>
          <c:idx val="1"/>
          <c:order val="1"/>
          <c:tx>
            <c:v>CIFG</c:v>
          </c:tx>
          <c:spPr>
            <a:solidFill xmlns:a="http://schemas.openxmlformats.org/drawingml/2006/main">
              <a:srgbClr val="007F7A"/>
            </a:solidFill>
          </c:spPr>
          <c:marker>
            <c:symbol val="none"/>
          </c:marker>
          <c:cat>
            <c:numRef>
              <c:f>'Chart Data'!$C$2:$C$5</c:f>
              <c:numCache>
                <c:formatCode>General</c:formatCode>
                <c:ptCount val="4"/>
                <c:pt idx="0">
                  <c:v>1</c:v>
                </c:pt>
                <c:pt idx="1">
                  <c:v>2</c:v>
                </c:pt>
                <c:pt idx="2">
                  <c:v>3</c:v>
                </c:pt>
                <c:pt idx="3">
                  <c:v>4</c:v>
                </c:pt>
              </c:numCache>
            </c:numRef>
          </c:cat>
          <c:val>
            <c:numRef>
              <c:f>'Chart Data'!$D$2:$D$5</c:f>
              <c:numCache>
                <c:formatCode>0.00</c:formatCode>
                <c:ptCount val="4"/>
                <c:pt idx="0">
                  <c:v>0.359974</c:v>
                </c:pt>
                <c:pt idx="1">
                  <c:v>0.444392</c:v>
                </c:pt>
                <c:pt idx="2">
                  <c:v>0.48735</c:v>
                </c:pt>
                <c:pt idx="3">
                  <c:v>0.513225</c:v>
                </c:pt>
              </c:numCache>
            </c:numRef>
          </c:val>
        </c:ser>
        <c:ser>
          <c:idx val="2"/>
          <c:order val="2"/>
          <c:tx>
            <c:v>WMC</c:v>
          </c:tx>
          <c:spPr>
            <a:solidFill xmlns:a="http://schemas.openxmlformats.org/drawingml/2006/main">
              <a:srgbClr val="B26D16"/>
            </a:solidFill>
          </c:spPr>
          <c:marker>
            <c:symbol val="none"/>
          </c:marker>
          <c:cat>
            <c:numRef>
              <c:f>'Chart Data'!$E$2:$E$5</c:f>
              <c:numCache>
                <c:formatCode>General</c:formatCode>
                <c:ptCount val="4"/>
                <c:pt idx="0">
                  <c:v>1</c:v>
                </c:pt>
                <c:pt idx="1">
                  <c:v>2</c:v>
                </c:pt>
                <c:pt idx="2">
                  <c:v>3</c:v>
                </c:pt>
                <c:pt idx="3">
                  <c:v>4</c:v>
                </c:pt>
              </c:numCache>
            </c:numRef>
          </c:cat>
          <c:val>
            <c:numRef>
              <c:f>'Chart Data'!$F$2:$F$5</c:f>
              <c:numCache>
                <c:formatCode>0.00</c:formatCode>
                <c:ptCount val="4"/>
                <c:pt idx="0">
                  <c:v>0.398277</c:v>
                </c:pt>
                <c:pt idx="1">
                  <c:v>0.451536</c:v>
                </c:pt>
                <c:pt idx="2">
                  <c:v>0.438614</c:v>
                </c:pt>
                <c:pt idx="3">
                  <c:v>0.49126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Validation macro-F1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legend>
    <c:plotVisOnly val="1"/>
  </c:chart>
  <c:spPr>
    <a:solidFill xmlns:a="http://schemas.openxmlformats.org/drawingml/2006/main">
      <a:srgbClr val="F7F5EE"/>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Test macro-F1</c:v>
          </c:tx>
          <c:spPr>
            <a:solidFill xmlns:a="http://schemas.openxmlformats.org/drawingml/2006/main">
              <a:srgbClr val="007F7A"/>
            </a:solidFill>
          </c:spPr>
          <c:invertIfNegative val="0"/>
          <c:cat>
            <c:strRef>
              <c:f>'Chart Data'!$A$2:$A$5</c:f>
              <c:strCache>
                <c:ptCount val="4"/>
                <c:pt idx="0">
                  <c:v>Vanilla</c:v>
                </c:pt>
                <c:pt idx="1">
                  <c:v>CIFG</c:v>
                </c:pt>
                <c:pt idx="2">
                  <c:v>WMC</c:v>
                </c:pt>
                <c:pt idx="3">
                  <c:v>Majority</c:v>
                </c:pt>
              </c:strCache>
            </c:strRef>
          </c:cat>
          <c:val>
            <c:numRef>
              <c:f>'Chart Data'!$B$2:$B$5</c:f>
              <c:numCache>
                <c:formatCode>0.0</c:formatCode>
                <c:ptCount val="4"/>
                <c:pt idx="0">
                  <c:v>0.47448</c:v>
                </c:pt>
                <c:pt idx="1">
                  <c:v>0.50008</c:v>
                </c:pt>
                <c:pt idx="2">
                  <c:v>0.49236</c:v>
                </c:pt>
                <c:pt idx="3">
                  <c:v>0.26603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Macro-F1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plotVisOnly val="1"/>
  </c:chart>
  <c:spPr>
    <a:solidFill xmlns:a="http://schemas.openxmlformats.org/drawingml/2006/main">
      <a:srgbClr val="F7F5EE"/>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CIFG test F1</c:v>
          </c:tx>
          <c:spPr>
            <a:solidFill xmlns:a="http://schemas.openxmlformats.org/drawingml/2006/main">
              <a:srgbClr val="007F7A"/>
            </a:solidFill>
          </c:spPr>
          <c:invertIfNegative val="0"/>
          <c:cat>
            <c:strRef>
              <c:f>'Chart Data'!$A$2:$A$4</c:f>
              <c:strCache>
                <c:ptCount val="3"/>
                <c:pt idx="0">
                  <c:v>Negative</c:v>
                </c:pt>
                <c:pt idx="1">
                  <c:v>Neutral</c:v>
                </c:pt>
                <c:pt idx="2">
                  <c:v>Positive</c:v>
                </c:pt>
              </c:strCache>
            </c:strRef>
          </c:cat>
          <c:val>
            <c:numRef>
              <c:f>'Chart Data'!$B$2:$B$4</c:f>
              <c:numCache>
                <c:formatCode>0.0</c:formatCode>
                <c:ptCount val="3"/>
                <c:pt idx="0">
                  <c:v>0.524892</c:v>
                </c:pt>
                <c:pt idx="1">
                  <c:v>0.202627</c:v>
                </c:pt>
                <c:pt idx="2">
                  <c:v>0.772709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Class F1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plotVisOnly val="1"/>
  </c:chart>
  <c:spPr>
    <a:solidFill xmlns:a="http://schemas.openxmlformats.org/drawingml/2006/main">
      <a:srgbClr val="F7F5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4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F146BB-C66B-4A7E-A118-964AFF090B7C}"/>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91DDD0"/>
                </a:solidFill>
                <a:latin typeface="Arial"/>
                <a:ea typeface="Arial"/>
                <a:cs typeface="Arial"/>
              </a:defRPr>
            </a:defPPr>
            <a:lvl1pPr>
              <a:defRPr sz="1275" b="1">
                <a:solidFill>
                  <a:srgbClr val="91DDD0"/>
                </a:solidFill>
                <a:latin typeface="Arial"/>
                <a:ea typeface="Arial"/>
                <a:cs typeface="Arial"/>
              </a:defRPr>
            </a:lvl1pPr>
            <a:lvl2pPr>
              <a:defRPr sz="1275" b="1">
                <a:solidFill>
                  <a:srgbClr val="91DDD0"/>
                </a:solidFill>
                <a:latin typeface="Arial"/>
                <a:ea typeface="Arial"/>
                <a:cs typeface="Arial"/>
              </a:defRPr>
            </a:lvl2pPr>
            <a:lvl3pPr>
              <a:defRPr sz="1275" b="1">
                <a:solidFill>
                  <a:srgbClr val="91DDD0"/>
                </a:solidFill>
                <a:latin typeface="Arial"/>
                <a:ea typeface="Arial"/>
                <a:cs typeface="Arial"/>
              </a:defRPr>
            </a:lvl3pPr>
            <a:lvl4pPr>
              <a:defRPr sz="1275" b="1">
                <a:solidFill>
                  <a:srgbClr val="91DDD0"/>
                </a:solidFill>
                <a:latin typeface="Arial"/>
                <a:ea typeface="Arial"/>
                <a:cs typeface="Arial"/>
              </a:defRPr>
            </a:lvl4pPr>
            <a:lvl5pPr>
              <a:defRPr sz="1275" b="1">
                <a:solidFill>
                  <a:srgbClr val="91DDD0"/>
                </a:solidFill>
                <a:latin typeface="Arial"/>
                <a:ea typeface="Arial"/>
                <a:cs typeface="Arial"/>
              </a:defRPr>
            </a:lvl5pPr>
            <a:lvl6pPr>
              <a:defRPr sz="1275" b="1">
                <a:solidFill>
                  <a:srgbClr val="91DDD0"/>
                </a:solidFill>
                <a:latin typeface="Arial"/>
                <a:ea typeface="Arial"/>
                <a:cs typeface="Arial"/>
              </a:defRPr>
            </a:lvl6pPr>
            <a:lvl7pPr>
              <a:defRPr sz="1275" b="1">
                <a:solidFill>
                  <a:srgbClr val="91DDD0"/>
                </a:solidFill>
                <a:latin typeface="Arial"/>
                <a:ea typeface="Arial"/>
                <a:cs typeface="Arial"/>
              </a:defRPr>
            </a:lvl7pPr>
            <a:lvl8pPr>
              <a:defRPr sz="1275" b="1">
                <a:solidFill>
                  <a:srgbClr val="91DDD0"/>
                </a:solidFill>
                <a:latin typeface="Arial"/>
                <a:ea typeface="Arial"/>
                <a:cs typeface="Arial"/>
              </a:defRPr>
            </a:lvl8pPr>
            <a:lvl9pPr>
              <a:defRPr sz="1275" b="1">
                <a:solidFill>
                  <a:srgbClr val="91DDD0"/>
                </a:solidFill>
                <a:latin typeface="Arial"/>
                <a:ea typeface="Arial"/>
                <a:cs typeface="Arial"/>
              </a:defRPr>
            </a:lvl9pPr>
          </a:lstStyle>
          <a:p xmlns:a="http://schemas.openxmlformats.org/drawingml/2006/main">
            <a:pPr>
              <a:defRPr sz="1275" b="1">
                <a:solidFill>
                  <a:srgbClr val="91DDD0"/>
                </a:solidFill>
                <a:latin typeface="Arial"/>
                <a:ea typeface="Arial"/>
                <a:cs typeface="Arial"/>
              </a:defRPr>
            </a:pPr>
            <a:r>
              <a:rPr sz="1275" b="1">
                <a:solidFill>
                  <a:srgbClr val="91DDD0"/>
                </a:solidFill>
                <a:latin typeface="Arial"/>
                <a:ea typeface="Arial"/>
                <a:cs typeface="Arial"/>
              </a:rPr>
              <a:t>UIR / ADVANCED NATURAL LANGUAGE PROCESSING</a:t>
            </a:r>
          </a:p>
        </p:txBody>
      </p:sp>
      <p:sp>
        <p:nvSpPr>
          <p:cNvPr id="2" name="">
            <a:extLst xmlns:a="http://schemas.openxmlformats.org/drawingml/2006/main">
              <a:ext uri="{FF2B5EF4-FFF2-40B4-BE49-F238E27FC236}">
                <a16:creationId xmlns:a16="http://schemas.microsoft.com/office/drawing/2014/main" id="{6A248CE5-ADD5-41B1-BD29-1839233A74FA}"/>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7F5EE"/>
                </a:solidFill>
                <a:latin typeface="Arial"/>
                <a:ea typeface="Arial"/>
                <a:cs typeface="Arial"/>
              </a:defRPr>
            </a:defPPr>
            <a:lvl1pPr>
              <a:defRPr sz="3600" b="1">
                <a:solidFill>
                  <a:srgbClr val="F7F5EE"/>
                </a:solidFill>
                <a:latin typeface="Arial"/>
                <a:ea typeface="Arial"/>
                <a:cs typeface="Arial"/>
              </a:defRPr>
            </a:lvl1pPr>
            <a:lvl2pPr>
              <a:defRPr sz="3600" b="1">
                <a:solidFill>
                  <a:srgbClr val="F7F5EE"/>
                </a:solidFill>
                <a:latin typeface="Arial"/>
                <a:ea typeface="Arial"/>
                <a:cs typeface="Arial"/>
              </a:defRPr>
            </a:lvl2pPr>
            <a:lvl3pPr>
              <a:defRPr sz="3600" b="1">
                <a:solidFill>
                  <a:srgbClr val="F7F5EE"/>
                </a:solidFill>
                <a:latin typeface="Arial"/>
                <a:ea typeface="Arial"/>
                <a:cs typeface="Arial"/>
              </a:defRPr>
            </a:lvl3pPr>
            <a:lvl4pPr>
              <a:defRPr sz="3600" b="1">
                <a:solidFill>
                  <a:srgbClr val="F7F5EE"/>
                </a:solidFill>
                <a:latin typeface="Arial"/>
                <a:ea typeface="Arial"/>
                <a:cs typeface="Arial"/>
              </a:defRPr>
            </a:lvl4pPr>
            <a:lvl5pPr>
              <a:defRPr sz="3600" b="1">
                <a:solidFill>
                  <a:srgbClr val="F7F5EE"/>
                </a:solidFill>
                <a:latin typeface="Arial"/>
                <a:ea typeface="Arial"/>
                <a:cs typeface="Arial"/>
              </a:defRPr>
            </a:lvl5pPr>
            <a:lvl6pPr>
              <a:defRPr sz="3600" b="1">
                <a:solidFill>
                  <a:srgbClr val="F7F5EE"/>
                </a:solidFill>
                <a:latin typeface="Arial"/>
                <a:ea typeface="Arial"/>
                <a:cs typeface="Arial"/>
              </a:defRPr>
            </a:lvl6pPr>
            <a:lvl7pPr>
              <a:defRPr sz="3600" b="1">
                <a:solidFill>
                  <a:srgbClr val="F7F5EE"/>
                </a:solidFill>
                <a:latin typeface="Arial"/>
                <a:ea typeface="Arial"/>
                <a:cs typeface="Arial"/>
              </a:defRPr>
            </a:lvl7pPr>
            <a:lvl8pPr>
              <a:defRPr sz="3600" b="1">
                <a:solidFill>
                  <a:srgbClr val="F7F5EE"/>
                </a:solidFill>
                <a:latin typeface="Arial"/>
                <a:ea typeface="Arial"/>
                <a:cs typeface="Arial"/>
              </a:defRPr>
            </a:lvl8pPr>
            <a:lvl9pPr>
              <a:defRPr sz="3600" b="1">
                <a:solidFill>
                  <a:srgbClr val="F7F5EE"/>
                </a:solidFill>
                <a:latin typeface="Arial"/>
                <a:ea typeface="Arial"/>
                <a:cs typeface="Arial"/>
              </a:defRPr>
            </a:lvl9pPr>
          </a:lstStyle>
          <a:p xmlns:a="http://schemas.openxmlformats.org/drawingml/2006/main">
            <a:pPr>
              <a:defRPr sz="3600" b="1">
                <a:solidFill>
                  <a:srgbClr val="F7F5EE"/>
                </a:solidFill>
                <a:latin typeface="Arial"/>
                <a:ea typeface="Arial"/>
                <a:cs typeface="Arial"/>
              </a:defRPr>
            </a:pPr>
            <a:r>
              <a:rPr sz="3600" b="1">
                <a:solidFill>
                  <a:srgbClr val="F7F5EE"/>
                </a:solidFill>
                <a:latin typeface="Arial"/>
                <a:ea typeface="Arial"/>
                <a:cs typeface="Arial"/>
              </a:rPr>
              <a:t>Drug review sentiment</a:t>
            </a:r>
          </a:p>
          <a:p xmlns:a="http://schemas.openxmlformats.org/drawingml/2006/main">
            <a:pPr>
              <a:defRPr sz="3600" b="1">
                <a:solidFill>
                  <a:srgbClr val="F7F5EE"/>
                </a:solidFill>
                <a:latin typeface="Arial"/>
                <a:ea typeface="Arial"/>
                <a:cs typeface="Arial"/>
              </a:defRPr>
            </a:pPr>
            <a:r>
              <a:rPr sz="3600" b="1">
                <a:solidFill>
                  <a:srgbClr val="F7F5EE"/>
                </a:solidFill>
                <a:latin typeface="Arial"/>
                <a:ea typeface="Arial"/>
                <a:cs typeface="Arial"/>
              </a:rPr>
              <a:t>with manual LSTM cells</a:t>
            </a:r>
          </a:p>
        </p:txBody>
      </p:sp>
      <p:sp>
        <p:nvSpPr>
          <p:cNvPr id="3" name="">
            <a:extLst xmlns:a="http://schemas.openxmlformats.org/drawingml/2006/main">
              <a:ext uri="{FF2B5EF4-FFF2-40B4-BE49-F238E27FC236}">
                <a16:creationId xmlns:a16="http://schemas.microsoft.com/office/drawing/2014/main" id="{A34253BE-C092-4830-8AE8-2A5021E99A52}"/>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1DDD0"/>
                </a:solidFill>
                <a:latin typeface="Arial"/>
                <a:ea typeface="Arial"/>
                <a:cs typeface="Arial"/>
              </a:defRPr>
            </a:defPPr>
            <a:lvl1pPr>
              <a:defRPr sz="1200" b="0">
                <a:solidFill>
                  <a:srgbClr val="91DDD0"/>
                </a:solidFill>
                <a:latin typeface="Arial"/>
                <a:ea typeface="Arial"/>
                <a:cs typeface="Arial"/>
              </a:defRPr>
            </a:lvl1pPr>
            <a:lvl2pPr>
              <a:defRPr sz="1200" b="0">
                <a:solidFill>
                  <a:srgbClr val="91DDD0"/>
                </a:solidFill>
                <a:latin typeface="Arial"/>
                <a:ea typeface="Arial"/>
                <a:cs typeface="Arial"/>
              </a:defRPr>
            </a:lvl2pPr>
            <a:lvl3pPr>
              <a:defRPr sz="1200" b="0">
                <a:solidFill>
                  <a:srgbClr val="91DDD0"/>
                </a:solidFill>
                <a:latin typeface="Arial"/>
                <a:ea typeface="Arial"/>
                <a:cs typeface="Arial"/>
              </a:defRPr>
            </a:lvl3pPr>
            <a:lvl4pPr>
              <a:defRPr sz="1200" b="0">
                <a:solidFill>
                  <a:srgbClr val="91DDD0"/>
                </a:solidFill>
                <a:latin typeface="Arial"/>
                <a:ea typeface="Arial"/>
                <a:cs typeface="Arial"/>
              </a:defRPr>
            </a:lvl4pPr>
            <a:lvl5pPr>
              <a:defRPr sz="1200" b="0">
                <a:solidFill>
                  <a:srgbClr val="91DDD0"/>
                </a:solidFill>
                <a:latin typeface="Arial"/>
                <a:ea typeface="Arial"/>
                <a:cs typeface="Arial"/>
              </a:defRPr>
            </a:lvl5pPr>
            <a:lvl6pPr>
              <a:defRPr sz="1200" b="0">
                <a:solidFill>
                  <a:srgbClr val="91DDD0"/>
                </a:solidFill>
                <a:latin typeface="Arial"/>
                <a:ea typeface="Arial"/>
                <a:cs typeface="Arial"/>
              </a:defRPr>
            </a:lvl6pPr>
            <a:lvl7pPr>
              <a:defRPr sz="1200" b="0">
                <a:solidFill>
                  <a:srgbClr val="91DDD0"/>
                </a:solidFill>
                <a:latin typeface="Arial"/>
                <a:ea typeface="Arial"/>
                <a:cs typeface="Arial"/>
              </a:defRPr>
            </a:lvl7pPr>
            <a:lvl8pPr>
              <a:defRPr sz="1200" b="0">
                <a:solidFill>
                  <a:srgbClr val="91DDD0"/>
                </a:solidFill>
                <a:latin typeface="Arial"/>
                <a:ea typeface="Arial"/>
                <a:cs typeface="Arial"/>
              </a:defRPr>
            </a:lvl8pPr>
            <a:lvl9pPr>
              <a:defRPr sz="1200" b="0">
                <a:solidFill>
                  <a:srgbClr val="91DDD0"/>
                </a:solidFill>
                <a:latin typeface="Arial"/>
                <a:ea typeface="Arial"/>
                <a:cs typeface="Arial"/>
              </a:defRPr>
            </a:lvl9pPr>
          </a:lstStyle>
          <a:p xmlns:a="http://schemas.openxmlformats.org/drawingml/2006/main">
            <a:pPr>
              <a:defRPr sz="1200" b="0">
                <a:solidFill>
                  <a:srgbClr val="91DDD0"/>
                </a:solidFill>
                <a:latin typeface="Arial"/>
                <a:ea typeface="Arial"/>
                <a:cs typeface="Arial"/>
              </a:defRPr>
            </a:pPr>
            <a:r>
              <a:rPr sz="1200" b="0">
                <a:solidFill>
                  <a:srgbClr val="91DDD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C1423BE-3C82-4A78-AD7F-AFA5B2F07D93}"/>
              </a:ext>
            </a:extLst>
          </p:cNvPr>
          <p:cNvSpPr>
            <a:spLocks xmlns:a="http://schemas.openxmlformats.org/drawingml/2006/main" noGrp="1"/>
          </p:cNvSpPr>
          <p:nvPr/>
        </p:nvSpPr>
        <p:spPr>
          <a:xfrm xmlns:a="http://schemas.openxmlformats.org/drawingml/2006/main">
            <a:off x="647700" y="2571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91DDD0"/>
                </a:solidFill>
                <a:latin typeface="Arial"/>
                <a:ea typeface="Arial"/>
                <a:cs typeface="Arial"/>
              </a:defRPr>
            </a:defPPr>
            <a:lvl1pPr>
              <a:defRPr sz="2325" b="0">
                <a:solidFill>
                  <a:srgbClr val="91DDD0"/>
                </a:solidFill>
                <a:latin typeface="Arial"/>
                <a:ea typeface="Arial"/>
                <a:cs typeface="Arial"/>
              </a:defRPr>
            </a:lvl1pPr>
            <a:lvl2pPr>
              <a:defRPr sz="2325" b="0">
                <a:solidFill>
                  <a:srgbClr val="91DDD0"/>
                </a:solidFill>
                <a:latin typeface="Arial"/>
                <a:ea typeface="Arial"/>
                <a:cs typeface="Arial"/>
              </a:defRPr>
            </a:lvl2pPr>
            <a:lvl3pPr>
              <a:defRPr sz="2325" b="0">
                <a:solidFill>
                  <a:srgbClr val="91DDD0"/>
                </a:solidFill>
                <a:latin typeface="Arial"/>
                <a:ea typeface="Arial"/>
                <a:cs typeface="Arial"/>
              </a:defRPr>
            </a:lvl3pPr>
            <a:lvl4pPr>
              <a:defRPr sz="2325" b="0">
                <a:solidFill>
                  <a:srgbClr val="91DDD0"/>
                </a:solidFill>
                <a:latin typeface="Arial"/>
                <a:ea typeface="Arial"/>
                <a:cs typeface="Arial"/>
              </a:defRPr>
            </a:lvl4pPr>
            <a:lvl5pPr>
              <a:defRPr sz="2325" b="0">
                <a:solidFill>
                  <a:srgbClr val="91DDD0"/>
                </a:solidFill>
                <a:latin typeface="Arial"/>
                <a:ea typeface="Arial"/>
                <a:cs typeface="Arial"/>
              </a:defRPr>
            </a:lvl5pPr>
            <a:lvl6pPr>
              <a:defRPr sz="2325" b="0">
                <a:solidFill>
                  <a:srgbClr val="91DDD0"/>
                </a:solidFill>
                <a:latin typeface="Arial"/>
                <a:ea typeface="Arial"/>
                <a:cs typeface="Arial"/>
              </a:defRPr>
            </a:lvl6pPr>
            <a:lvl7pPr>
              <a:defRPr sz="2325" b="0">
                <a:solidFill>
                  <a:srgbClr val="91DDD0"/>
                </a:solidFill>
                <a:latin typeface="Arial"/>
                <a:ea typeface="Arial"/>
                <a:cs typeface="Arial"/>
              </a:defRPr>
            </a:lvl7pPr>
            <a:lvl8pPr>
              <a:defRPr sz="2325" b="0">
                <a:solidFill>
                  <a:srgbClr val="91DDD0"/>
                </a:solidFill>
                <a:latin typeface="Arial"/>
                <a:ea typeface="Arial"/>
                <a:cs typeface="Arial"/>
              </a:defRPr>
            </a:lvl8pPr>
            <a:lvl9pPr>
              <a:defRPr sz="2325" b="0">
                <a:solidFill>
                  <a:srgbClr val="91DDD0"/>
                </a:solidFill>
                <a:latin typeface="Arial"/>
                <a:ea typeface="Arial"/>
                <a:cs typeface="Arial"/>
              </a:defRPr>
            </a:lvl9pPr>
          </a:lstStyle>
          <a:p xmlns:a="http://schemas.openxmlformats.org/drawingml/2006/main">
            <a:pPr>
              <a:defRPr sz="2325" b="0">
                <a:solidFill>
                  <a:srgbClr val="91DDD0"/>
                </a:solidFill>
                <a:latin typeface="Arial"/>
                <a:ea typeface="Arial"/>
                <a:cs typeface="Arial"/>
              </a:defRPr>
            </a:pPr>
            <a:r>
              <a:rPr sz="2325" b="0">
                <a:solidFill>
                  <a:srgbClr val="91DDD0"/>
                </a:solidFill>
                <a:latin typeface="Arial"/>
                <a:ea typeface="Arial"/>
                <a:cs typeface="Arial"/>
              </a:rPr>
              <a:t>Vanilla LSTM   /   CIFG   /   WMC</a:t>
            </a:r>
          </a:p>
        </p:txBody>
      </p:sp>
      <p:sp>
        <p:nvSpPr>
          <p:cNvPr id="5" name="">
            <a:extLst xmlns:a="http://schemas.openxmlformats.org/drawingml/2006/main">
              <a:ext uri="{FF2B5EF4-FFF2-40B4-BE49-F238E27FC236}">
                <a16:creationId xmlns:a16="http://schemas.microsoft.com/office/drawing/2014/main" id="{7EEC8792-E14D-4154-9477-671545D0CDC3}"/>
              </a:ext>
            </a:extLst>
          </p:cNvPr>
          <p:cNvSpPr>
            <a:spLocks xmlns:a="http://schemas.openxmlformats.org/drawingml/2006/main" noGrp="1"/>
          </p:cNvSpPr>
          <p:nvPr/>
        </p:nvSpPr>
        <p:spPr>
          <a:xfrm xmlns:a="http://schemas.openxmlformats.org/drawingml/2006/main">
            <a:off x="647700" y="390525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7F5EE"/>
                </a:solidFill>
                <a:latin typeface="Arial"/>
                <a:ea typeface="Arial"/>
                <a:cs typeface="Arial"/>
              </a:defRPr>
            </a:defPPr>
            <a:lvl1pPr>
              <a:defRPr sz="1950" b="0">
                <a:solidFill>
                  <a:srgbClr val="F7F5EE"/>
                </a:solidFill>
                <a:latin typeface="Arial"/>
                <a:ea typeface="Arial"/>
                <a:cs typeface="Arial"/>
              </a:defRPr>
            </a:lvl1pPr>
            <a:lvl2pPr>
              <a:defRPr sz="1950" b="0">
                <a:solidFill>
                  <a:srgbClr val="F7F5EE"/>
                </a:solidFill>
                <a:latin typeface="Arial"/>
                <a:ea typeface="Arial"/>
                <a:cs typeface="Arial"/>
              </a:defRPr>
            </a:lvl2pPr>
            <a:lvl3pPr>
              <a:defRPr sz="1950" b="0">
                <a:solidFill>
                  <a:srgbClr val="F7F5EE"/>
                </a:solidFill>
                <a:latin typeface="Arial"/>
                <a:ea typeface="Arial"/>
                <a:cs typeface="Arial"/>
              </a:defRPr>
            </a:lvl3pPr>
            <a:lvl4pPr>
              <a:defRPr sz="1950" b="0">
                <a:solidFill>
                  <a:srgbClr val="F7F5EE"/>
                </a:solidFill>
                <a:latin typeface="Arial"/>
                <a:ea typeface="Arial"/>
                <a:cs typeface="Arial"/>
              </a:defRPr>
            </a:lvl4pPr>
            <a:lvl5pPr>
              <a:defRPr sz="1950" b="0">
                <a:solidFill>
                  <a:srgbClr val="F7F5EE"/>
                </a:solidFill>
                <a:latin typeface="Arial"/>
                <a:ea typeface="Arial"/>
                <a:cs typeface="Arial"/>
              </a:defRPr>
            </a:lvl5pPr>
            <a:lvl6pPr>
              <a:defRPr sz="1950" b="0">
                <a:solidFill>
                  <a:srgbClr val="F7F5EE"/>
                </a:solidFill>
                <a:latin typeface="Arial"/>
                <a:ea typeface="Arial"/>
                <a:cs typeface="Arial"/>
              </a:defRPr>
            </a:lvl6pPr>
            <a:lvl7pPr>
              <a:defRPr sz="1950" b="0">
                <a:solidFill>
                  <a:srgbClr val="F7F5EE"/>
                </a:solidFill>
                <a:latin typeface="Arial"/>
                <a:ea typeface="Arial"/>
                <a:cs typeface="Arial"/>
              </a:defRPr>
            </a:lvl7pPr>
            <a:lvl8pPr>
              <a:defRPr sz="1950" b="0">
                <a:solidFill>
                  <a:srgbClr val="F7F5EE"/>
                </a:solidFill>
                <a:latin typeface="Arial"/>
                <a:ea typeface="Arial"/>
                <a:cs typeface="Arial"/>
              </a:defRPr>
            </a:lvl8pPr>
            <a:lvl9pPr>
              <a:defRPr sz="1950" b="0">
                <a:solidFill>
                  <a:srgbClr val="F7F5EE"/>
                </a:solidFill>
                <a:latin typeface="Arial"/>
                <a:ea typeface="Arial"/>
                <a:cs typeface="Arial"/>
              </a:defRPr>
            </a:lvl9pPr>
          </a:lstStyle>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Zouhair Eouichak</a:t>
            </a:r>
          </a:p>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Aymane El Youssi</a:t>
            </a:r>
          </a:p>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Malak Bartal</a:t>
            </a:r>
          </a:p>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Sara Baalla</a:t>
            </a:r>
          </a:p>
        </p:txBody>
      </p:sp>
      <p:sp>
        <p:nvSpPr>
          <p:cNvPr id="6" name="">
            <a:extLst xmlns:a="http://schemas.openxmlformats.org/drawingml/2006/main">
              <a:ext uri="{FF2B5EF4-FFF2-40B4-BE49-F238E27FC236}">
                <a16:creationId xmlns:a16="http://schemas.microsoft.com/office/drawing/2014/main" id="{6F9E537B-5682-448D-BF2A-F427A797C590}"/>
              </a:ext>
            </a:extLst>
          </p:cNvPr>
          <p:cNvSpPr>
            <a:spLocks xmlns:a="http://schemas.openxmlformats.org/drawingml/2006/main" noGrp="1"/>
          </p:cNvSpPr>
          <p:nvPr/>
        </p:nvSpPr>
        <p:spPr>
          <a:xfrm xmlns:a="http://schemas.openxmlformats.org/drawingml/2006/main">
            <a:off x="8239125" y="397192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F7F5EE"/>
                </a:solidFill>
                <a:latin typeface="Arial"/>
                <a:ea typeface="Arial"/>
                <a:cs typeface="Arial"/>
              </a:defRPr>
            </a:defPPr>
            <a:lvl1pPr>
              <a:defRPr sz="1950" b="1">
                <a:solidFill>
                  <a:srgbClr val="F7F5EE"/>
                </a:solidFill>
                <a:latin typeface="Arial"/>
                <a:ea typeface="Arial"/>
                <a:cs typeface="Arial"/>
              </a:defRPr>
            </a:lvl1pPr>
            <a:lvl2pPr>
              <a:defRPr sz="1950" b="1">
                <a:solidFill>
                  <a:srgbClr val="F7F5EE"/>
                </a:solidFill>
                <a:latin typeface="Arial"/>
                <a:ea typeface="Arial"/>
                <a:cs typeface="Arial"/>
              </a:defRPr>
            </a:lvl2pPr>
            <a:lvl3pPr>
              <a:defRPr sz="1950" b="1">
                <a:solidFill>
                  <a:srgbClr val="F7F5EE"/>
                </a:solidFill>
                <a:latin typeface="Arial"/>
                <a:ea typeface="Arial"/>
                <a:cs typeface="Arial"/>
              </a:defRPr>
            </a:lvl3pPr>
            <a:lvl4pPr>
              <a:defRPr sz="1950" b="1">
                <a:solidFill>
                  <a:srgbClr val="F7F5EE"/>
                </a:solidFill>
                <a:latin typeface="Arial"/>
                <a:ea typeface="Arial"/>
                <a:cs typeface="Arial"/>
              </a:defRPr>
            </a:lvl4pPr>
            <a:lvl5pPr>
              <a:defRPr sz="1950" b="1">
                <a:solidFill>
                  <a:srgbClr val="F7F5EE"/>
                </a:solidFill>
                <a:latin typeface="Arial"/>
                <a:ea typeface="Arial"/>
                <a:cs typeface="Arial"/>
              </a:defRPr>
            </a:lvl5pPr>
            <a:lvl6pPr>
              <a:defRPr sz="1950" b="1">
                <a:solidFill>
                  <a:srgbClr val="F7F5EE"/>
                </a:solidFill>
                <a:latin typeface="Arial"/>
                <a:ea typeface="Arial"/>
                <a:cs typeface="Arial"/>
              </a:defRPr>
            </a:lvl6pPr>
            <a:lvl7pPr>
              <a:defRPr sz="1950" b="1">
                <a:solidFill>
                  <a:srgbClr val="F7F5EE"/>
                </a:solidFill>
                <a:latin typeface="Arial"/>
                <a:ea typeface="Arial"/>
                <a:cs typeface="Arial"/>
              </a:defRPr>
            </a:lvl7pPr>
            <a:lvl8pPr>
              <a:defRPr sz="1950" b="1">
                <a:solidFill>
                  <a:srgbClr val="F7F5EE"/>
                </a:solidFill>
                <a:latin typeface="Arial"/>
                <a:ea typeface="Arial"/>
                <a:cs typeface="Arial"/>
              </a:defRPr>
            </a:lvl8pPr>
            <a:lvl9pPr>
              <a:defRPr sz="1950" b="1">
                <a:solidFill>
                  <a:srgbClr val="F7F5EE"/>
                </a:solidFill>
                <a:latin typeface="Arial"/>
                <a:ea typeface="Arial"/>
                <a:cs typeface="Arial"/>
              </a:defRPr>
            </a:lvl9pPr>
          </a:lstStyle>
          <a:p xmlns:a="http://schemas.openxmlformats.org/drawingml/2006/main">
            <a:pPr>
              <a:defRPr sz="1950" b="1">
                <a:solidFill>
                  <a:srgbClr val="F7F5EE"/>
                </a:solidFill>
                <a:latin typeface="Arial"/>
                <a:ea typeface="Arial"/>
                <a:cs typeface="Arial"/>
              </a:defRPr>
            </a:pPr>
            <a:r>
              <a:rPr sz="1950" b="1">
                <a:solidFill>
                  <a:srgbClr val="F7F5EE"/>
                </a:solidFill>
                <a:latin typeface="Arial"/>
                <a:ea typeface="Arial"/>
                <a:cs typeface="Arial"/>
              </a:rPr>
              <a:t>TP B</a:t>
            </a:r>
          </a:p>
          <a:p xmlns:a="http://schemas.openxmlformats.org/drawingml/2006/main">
            <a:pPr>
              <a:defRPr sz="1950" b="1">
                <a:solidFill>
                  <a:srgbClr val="F7F5EE"/>
                </a:solidFill>
                <a:latin typeface="Arial"/>
                <a:ea typeface="Arial"/>
                <a:cs typeface="Arial"/>
              </a:defRPr>
            </a:pPr>
            <a:r>
              <a:rPr sz="1950" b="1">
                <a:solidFill>
                  <a:srgbClr val="F7F5EE"/>
                </a:solidFill>
                <a:latin typeface="Arial"/>
                <a:ea typeface="Arial"/>
                <a:cs typeface="Arial"/>
              </a:rPr>
              <a:t>2026 / 2027</a:t>
            </a:r>
          </a:p>
        </p:txBody>
      </p:sp>
      <p:pic>
        <p:nvPicPr>
          <p:cNvPr id="7" name="">
            <a:extLst xmlns:a="http://schemas.openxmlformats.org/drawingml/2006/main">
              <a:ext uri="{FF2B5EF4-FFF2-40B4-BE49-F238E27FC236}">
                <a16:creationId xmlns:a16="http://schemas.microsoft.com/office/drawing/2014/main" id="{8E7BDD0C-F0C9-4B84-9422-FAC0CF7878B6}"/>
              </a:ext>
            </a:extLst>
          </p:cNvPr>
          <p:cNvPicPr>
            <a:picLocks xmlns:a="http://schemas.openxmlformats.org/drawingml/2006/main" noChangeAspect="1"/>
          </p:cNvPicPr>
          <p:nvPr/>
        </p:nvPicPr>
        <p:blipFill>
          <a:blip xmlns:r="http://schemas.openxmlformats.org/officeDocument/2006/relationships" xmlns:a="http://schemas.openxmlformats.org/drawingml/2006/main" r:embed="R63f233196d904d9b"/>
          <a:stretch xmlns:a="http://schemas.openxmlformats.org/drawingml/2006/main"/>
        </p:blipFill>
        <p:spPr>
          <a:xfrm xmlns:a="http://schemas.openxmlformats.org/drawingml/2006/main">
            <a:off x="8155120" y="5200650"/>
            <a:ext cx="3168385" cy="714375"/>
          </a:xfrm>
          <a:prstGeom xmlns:a="http://schemas.openxmlformats.org/drawingml/2006/main" prst="rect">
            <a:avLst/>
          </a:prstGeom>
        </p:spPr>
      </p:pic>
    </p:spTree>
    <p:extLst>
      <p:ext uri="{BB962C8B-B14F-4D97-AF65-F5344CB8AC3E}">
        <p14:creationId xmlns:p14="http://schemas.microsoft.com/office/powerpoint/2010/main" val="119454741"/>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F5C5B0C-2663-4D17-861D-079328CA75BA}"/>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01 / TASK</a:t>
            </a:r>
          </a:p>
        </p:txBody>
      </p:sp>
      <p:sp>
        <p:nvSpPr>
          <p:cNvPr id="2" name="">
            <a:extLst xmlns:a="http://schemas.openxmlformats.org/drawingml/2006/main">
              <a:ext uri="{FF2B5EF4-FFF2-40B4-BE49-F238E27FC236}">
                <a16:creationId xmlns:a16="http://schemas.microsoft.com/office/drawing/2014/main" id="{DE093669-107A-446A-96E7-0026154DC2C0}"/>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Rating-based sentiment classification</a:t>
            </a:r>
          </a:p>
        </p:txBody>
      </p:sp>
      <p:sp>
        <p:nvSpPr>
          <p:cNvPr id="3" name="">
            <a:extLst xmlns:a="http://schemas.openxmlformats.org/drawingml/2006/main">
              <a:ext uri="{FF2B5EF4-FFF2-40B4-BE49-F238E27FC236}">
                <a16:creationId xmlns:a16="http://schemas.microsoft.com/office/drawing/2014/main" id="{05955885-34AB-457D-A1D9-93A3E5D0B774}"/>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E6E17C8-42D5-4159-BEC5-3AA75E5A622E}"/>
              </a:ext>
            </a:extLst>
          </p:cNvPr>
          <p:cNvSpPr>
            <a:spLocks xmlns:a="http://schemas.openxmlformats.org/drawingml/2006/main" noGrp="1"/>
          </p:cNvSpPr>
          <p:nvPr/>
        </p:nvSpPr>
        <p:spPr>
          <a:xfrm xmlns:a="http://schemas.openxmlformats.org/drawingml/2006/main">
            <a:off x="647700" y="20955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F7A"/>
                </a:solidFill>
                <a:latin typeface="Arial"/>
                <a:ea typeface="Arial"/>
                <a:cs typeface="Arial"/>
              </a:defRPr>
            </a:defPPr>
            <a:lvl1pPr>
              <a:defRPr sz="1350" b="1">
                <a:solidFill>
                  <a:srgbClr val="007F7A"/>
                </a:solidFill>
                <a:latin typeface="Arial"/>
                <a:ea typeface="Arial"/>
                <a:cs typeface="Arial"/>
              </a:defRPr>
            </a:lvl1pPr>
            <a:lvl2pPr>
              <a:defRPr sz="1350" b="1">
                <a:solidFill>
                  <a:srgbClr val="007F7A"/>
                </a:solidFill>
                <a:latin typeface="Arial"/>
                <a:ea typeface="Arial"/>
                <a:cs typeface="Arial"/>
              </a:defRPr>
            </a:lvl2pPr>
            <a:lvl3pPr>
              <a:defRPr sz="1350" b="1">
                <a:solidFill>
                  <a:srgbClr val="007F7A"/>
                </a:solidFill>
                <a:latin typeface="Arial"/>
                <a:ea typeface="Arial"/>
                <a:cs typeface="Arial"/>
              </a:defRPr>
            </a:lvl3pPr>
            <a:lvl4pPr>
              <a:defRPr sz="1350" b="1">
                <a:solidFill>
                  <a:srgbClr val="007F7A"/>
                </a:solidFill>
                <a:latin typeface="Arial"/>
                <a:ea typeface="Arial"/>
                <a:cs typeface="Arial"/>
              </a:defRPr>
            </a:lvl4pPr>
            <a:lvl5pPr>
              <a:defRPr sz="1350" b="1">
                <a:solidFill>
                  <a:srgbClr val="007F7A"/>
                </a:solidFill>
                <a:latin typeface="Arial"/>
                <a:ea typeface="Arial"/>
                <a:cs typeface="Arial"/>
              </a:defRPr>
            </a:lvl5pPr>
            <a:lvl6pPr>
              <a:defRPr sz="1350" b="1">
                <a:solidFill>
                  <a:srgbClr val="007F7A"/>
                </a:solidFill>
                <a:latin typeface="Arial"/>
                <a:ea typeface="Arial"/>
                <a:cs typeface="Arial"/>
              </a:defRPr>
            </a:lvl6pPr>
            <a:lvl7pPr>
              <a:defRPr sz="1350" b="1">
                <a:solidFill>
                  <a:srgbClr val="007F7A"/>
                </a:solidFill>
                <a:latin typeface="Arial"/>
                <a:ea typeface="Arial"/>
                <a:cs typeface="Arial"/>
              </a:defRPr>
            </a:lvl7pPr>
            <a:lvl8pPr>
              <a:defRPr sz="1350" b="1">
                <a:solidFill>
                  <a:srgbClr val="007F7A"/>
                </a:solidFill>
                <a:latin typeface="Arial"/>
                <a:ea typeface="Arial"/>
                <a:cs typeface="Arial"/>
              </a:defRPr>
            </a:lvl8pPr>
            <a:lvl9pPr>
              <a:defRPr sz="1350" b="1">
                <a:solidFill>
                  <a:srgbClr val="007F7A"/>
                </a:solidFill>
                <a:latin typeface="Arial"/>
                <a:ea typeface="Arial"/>
                <a:cs typeface="Arial"/>
              </a:defRPr>
            </a:lvl9pPr>
          </a:lstStyle>
          <a:p xmlns:a="http://schemas.openxmlformats.org/drawingml/2006/main">
            <a:pPr>
              <a:defRPr sz="1350" b="1">
                <a:solidFill>
                  <a:srgbClr val="007F7A"/>
                </a:solidFill>
                <a:latin typeface="Arial"/>
                <a:ea typeface="Arial"/>
                <a:cs typeface="Arial"/>
              </a:defRPr>
            </a:pPr>
            <a:r>
              <a:rPr sz="1350" b="1">
                <a:solidFill>
                  <a:srgbClr val="007F7A"/>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8EEEBAC1-EDF7-4383-800C-7CFFF56CFE21}"/>
              </a:ext>
            </a:extLst>
          </p:cNvPr>
          <p:cNvSpPr>
            <a:spLocks xmlns:a="http://schemas.openxmlformats.org/drawingml/2006/main" noGrp="1"/>
          </p:cNvSpPr>
          <p:nvPr/>
        </p:nvSpPr>
        <p:spPr>
          <a:xfrm xmlns:a="http://schemas.openxmlformats.org/drawingml/2006/main">
            <a:off x="647700" y="25717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64B"/>
                </a:solidFill>
                <a:latin typeface="Arial"/>
                <a:ea typeface="Arial"/>
                <a:cs typeface="Arial"/>
              </a:defRPr>
            </a:defPPr>
            <a:lvl1pPr>
              <a:defRPr sz="2625" b="1">
                <a:solidFill>
                  <a:srgbClr val="18364B"/>
                </a:solidFill>
                <a:latin typeface="Arial"/>
                <a:ea typeface="Arial"/>
                <a:cs typeface="Arial"/>
              </a:defRPr>
            </a:lvl1pPr>
            <a:lvl2pPr>
              <a:defRPr sz="2625" b="1">
                <a:solidFill>
                  <a:srgbClr val="18364B"/>
                </a:solidFill>
                <a:latin typeface="Arial"/>
                <a:ea typeface="Arial"/>
                <a:cs typeface="Arial"/>
              </a:defRPr>
            </a:lvl2pPr>
            <a:lvl3pPr>
              <a:defRPr sz="2625" b="1">
                <a:solidFill>
                  <a:srgbClr val="18364B"/>
                </a:solidFill>
                <a:latin typeface="Arial"/>
                <a:ea typeface="Arial"/>
                <a:cs typeface="Arial"/>
              </a:defRPr>
            </a:lvl3pPr>
            <a:lvl4pPr>
              <a:defRPr sz="2625" b="1">
                <a:solidFill>
                  <a:srgbClr val="18364B"/>
                </a:solidFill>
                <a:latin typeface="Arial"/>
                <a:ea typeface="Arial"/>
                <a:cs typeface="Arial"/>
              </a:defRPr>
            </a:lvl4pPr>
            <a:lvl5pPr>
              <a:defRPr sz="2625" b="1">
                <a:solidFill>
                  <a:srgbClr val="18364B"/>
                </a:solidFill>
                <a:latin typeface="Arial"/>
                <a:ea typeface="Arial"/>
                <a:cs typeface="Arial"/>
              </a:defRPr>
            </a:lvl5pPr>
            <a:lvl6pPr>
              <a:defRPr sz="2625" b="1">
                <a:solidFill>
                  <a:srgbClr val="18364B"/>
                </a:solidFill>
                <a:latin typeface="Arial"/>
                <a:ea typeface="Arial"/>
                <a:cs typeface="Arial"/>
              </a:defRPr>
            </a:lvl6pPr>
            <a:lvl7pPr>
              <a:defRPr sz="2625" b="1">
                <a:solidFill>
                  <a:srgbClr val="18364B"/>
                </a:solidFill>
                <a:latin typeface="Arial"/>
                <a:ea typeface="Arial"/>
                <a:cs typeface="Arial"/>
              </a:defRPr>
            </a:lvl7pPr>
            <a:lvl8pPr>
              <a:defRPr sz="2625" b="1">
                <a:solidFill>
                  <a:srgbClr val="18364B"/>
                </a:solidFill>
                <a:latin typeface="Arial"/>
                <a:ea typeface="Arial"/>
                <a:cs typeface="Arial"/>
              </a:defRPr>
            </a:lvl8pPr>
            <a:lvl9pPr>
              <a:defRPr sz="2625" b="1">
                <a:solidFill>
                  <a:srgbClr val="18364B"/>
                </a:solidFill>
                <a:latin typeface="Arial"/>
                <a:ea typeface="Arial"/>
                <a:cs typeface="Arial"/>
              </a:defRPr>
            </a:lvl9pPr>
          </a:lstStyle>
          <a:p xmlns:a="http://schemas.openxmlformats.org/drawingml/2006/main">
            <a:pPr>
              <a:defRPr sz="2625" b="1">
                <a:solidFill>
                  <a:srgbClr val="18364B"/>
                </a:solidFill>
                <a:latin typeface="Arial"/>
                <a:ea typeface="Arial"/>
                <a:cs typeface="Arial"/>
              </a:defRPr>
            </a:pPr>
            <a:r>
              <a:rPr sz="2625" b="1">
                <a:solidFill>
                  <a:srgbClr val="18364B"/>
                </a:solidFill>
                <a:latin typeface="Arial"/>
                <a:ea typeface="Arial"/>
                <a:cs typeface="Arial"/>
              </a:rPr>
              <a:t>A patient’s written</a:t>
            </a:r>
          </a:p>
          <a:p xmlns:a="http://schemas.openxmlformats.org/drawingml/2006/main">
            <a:pPr>
              <a:defRPr sz="2625" b="1">
                <a:solidFill>
                  <a:srgbClr val="18364B"/>
                </a:solidFill>
                <a:latin typeface="Arial"/>
                <a:ea typeface="Arial"/>
                <a:cs typeface="Arial"/>
              </a:defRPr>
            </a:pPr>
            <a:r>
              <a:rPr sz="2625" b="1">
                <a:solidFill>
                  <a:srgbClr val="18364B"/>
                </a:solidFill>
                <a:latin typeface="Arial"/>
                <a:ea typeface="Arial"/>
                <a:cs typeface="Arial"/>
              </a:rPr>
              <a:t>experience with a drug</a:t>
            </a:r>
          </a:p>
        </p:txBody>
      </p:sp>
      <p:sp>
        <p:nvSpPr>
          <p:cNvPr id="6" name="">
            <a:extLst xmlns:a="http://schemas.openxmlformats.org/drawingml/2006/main">
              <a:ext uri="{FF2B5EF4-FFF2-40B4-BE49-F238E27FC236}">
                <a16:creationId xmlns:a16="http://schemas.microsoft.com/office/drawing/2014/main" id="{15BF42EE-DC41-483E-B505-3C82497E7EB7}"/>
              </a:ext>
            </a:extLst>
          </p:cNvPr>
          <p:cNvSpPr>
            <a:spLocks xmlns:a="http://schemas.openxmlformats.org/drawingml/2006/main" noGrp="1"/>
          </p:cNvSpPr>
          <p:nvPr/>
        </p:nvSpPr>
        <p:spPr>
          <a:xfrm xmlns:a="http://schemas.openxmlformats.org/drawingml/2006/main">
            <a:off x="647700" y="43815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F7A"/>
                </a:solidFill>
                <a:latin typeface="Arial"/>
                <a:ea typeface="Arial"/>
                <a:cs typeface="Arial"/>
              </a:defRPr>
            </a:defPPr>
            <a:lvl1pPr>
              <a:defRPr sz="1350" b="1">
                <a:solidFill>
                  <a:srgbClr val="007F7A"/>
                </a:solidFill>
                <a:latin typeface="Arial"/>
                <a:ea typeface="Arial"/>
                <a:cs typeface="Arial"/>
              </a:defRPr>
            </a:lvl1pPr>
            <a:lvl2pPr>
              <a:defRPr sz="1350" b="1">
                <a:solidFill>
                  <a:srgbClr val="007F7A"/>
                </a:solidFill>
                <a:latin typeface="Arial"/>
                <a:ea typeface="Arial"/>
                <a:cs typeface="Arial"/>
              </a:defRPr>
            </a:lvl2pPr>
            <a:lvl3pPr>
              <a:defRPr sz="1350" b="1">
                <a:solidFill>
                  <a:srgbClr val="007F7A"/>
                </a:solidFill>
                <a:latin typeface="Arial"/>
                <a:ea typeface="Arial"/>
                <a:cs typeface="Arial"/>
              </a:defRPr>
            </a:lvl3pPr>
            <a:lvl4pPr>
              <a:defRPr sz="1350" b="1">
                <a:solidFill>
                  <a:srgbClr val="007F7A"/>
                </a:solidFill>
                <a:latin typeface="Arial"/>
                <a:ea typeface="Arial"/>
                <a:cs typeface="Arial"/>
              </a:defRPr>
            </a:lvl4pPr>
            <a:lvl5pPr>
              <a:defRPr sz="1350" b="1">
                <a:solidFill>
                  <a:srgbClr val="007F7A"/>
                </a:solidFill>
                <a:latin typeface="Arial"/>
                <a:ea typeface="Arial"/>
                <a:cs typeface="Arial"/>
              </a:defRPr>
            </a:lvl5pPr>
            <a:lvl6pPr>
              <a:defRPr sz="1350" b="1">
                <a:solidFill>
                  <a:srgbClr val="007F7A"/>
                </a:solidFill>
                <a:latin typeface="Arial"/>
                <a:ea typeface="Arial"/>
                <a:cs typeface="Arial"/>
              </a:defRPr>
            </a:lvl6pPr>
            <a:lvl7pPr>
              <a:defRPr sz="1350" b="1">
                <a:solidFill>
                  <a:srgbClr val="007F7A"/>
                </a:solidFill>
                <a:latin typeface="Arial"/>
                <a:ea typeface="Arial"/>
                <a:cs typeface="Arial"/>
              </a:defRPr>
            </a:lvl7pPr>
            <a:lvl8pPr>
              <a:defRPr sz="1350" b="1">
                <a:solidFill>
                  <a:srgbClr val="007F7A"/>
                </a:solidFill>
                <a:latin typeface="Arial"/>
                <a:ea typeface="Arial"/>
                <a:cs typeface="Arial"/>
              </a:defRPr>
            </a:lvl8pPr>
            <a:lvl9pPr>
              <a:defRPr sz="1350" b="1">
                <a:solidFill>
                  <a:srgbClr val="007F7A"/>
                </a:solidFill>
                <a:latin typeface="Arial"/>
                <a:ea typeface="Arial"/>
                <a:cs typeface="Arial"/>
              </a:defRPr>
            </a:lvl9pPr>
          </a:lstStyle>
          <a:p xmlns:a="http://schemas.openxmlformats.org/drawingml/2006/main">
            <a:pPr>
              <a:defRPr sz="1350" b="1">
                <a:solidFill>
                  <a:srgbClr val="007F7A"/>
                </a:solidFill>
                <a:latin typeface="Arial"/>
                <a:ea typeface="Arial"/>
                <a:cs typeface="Arial"/>
              </a:defRPr>
            </a:pPr>
            <a:r>
              <a:rPr sz="1350" b="1">
                <a:solidFill>
                  <a:srgbClr val="007F7A"/>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3AC31A02-BF2F-4DBC-B0B8-A0966873396C}"/>
              </a:ext>
            </a:extLst>
          </p:cNvPr>
          <p:cNvSpPr>
            <a:spLocks xmlns:a="http://schemas.openxmlformats.org/drawingml/2006/main" noGrp="1"/>
          </p:cNvSpPr>
          <p:nvPr/>
        </p:nvSpPr>
        <p:spPr>
          <a:xfrm xmlns:a="http://schemas.openxmlformats.org/drawingml/2006/main">
            <a:off x="647700" y="4829175"/>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64B"/>
                </a:solidFill>
                <a:latin typeface="Arial"/>
                <a:ea typeface="Arial"/>
                <a:cs typeface="Arial"/>
              </a:defRPr>
            </a:defPPr>
            <a:lvl1pPr>
              <a:defRPr sz="2100" b="0">
                <a:solidFill>
                  <a:srgbClr val="18364B"/>
                </a:solidFill>
                <a:latin typeface="Arial"/>
                <a:ea typeface="Arial"/>
                <a:cs typeface="Arial"/>
              </a:defRPr>
            </a:lvl1pPr>
            <a:lvl2pPr>
              <a:defRPr sz="2100" b="0">
                <a:solidFill>
                  <a:srgbClr val="18364B"/>
                </a:solidFill>
                <a:latin typeface="Arial"/>
                <a:ea typeface="Arial"/>
                <a:cs typeface="Arial"/>
              </a:defRPr>
            </a:lvl2pPr>
            <a:lvl3pPr>
              <a:defRPr sz="2100" b="0">
                <a:solidFill>
                  <a:srgbClr val="18364B"/>
                </a:solidFill>
                <a:latin typeface="Arial"/>
                <a:ea typeface="Arial"/>
                <a:cs typeface="Arial"/>
              </a:defRPr>
            </a:lvl3pPr>
            <a:lvl4pPr>
              <a:defRPr sz="2100" b="0">
                <a:solidFill>
                  <a:srgbClr val="18364B"/>
                </a:solidFill>
                <a:latin typeface="Arial"/>
                <a:ea typeface="Arial"/>
                <a:cs typeface="Arial"/>
              </a:defRPr>
            </a:lvl4pPr>
            <a:lvl5pPr>
              <a:defRPr sz="2100" b="0">
                <a:solidFill>
                  <a:srgbClr val="18364B"/>
                </a:solidFill>
                <a:latin typeface="Arial"/>
                <a:ea typeface="Arial"/>
                <a:cs typeface="Arial"/>
              </a:defRPr>
            </a:lvl5pPr>
            <a:lvl6pPr>
              <a:defRPr sz="2100" b="0">
                <a:solidFill>
                  <a:srgbClr val="18364B"/>
                </a:solidFill>
                <a:latin typeface="Arial"/>
                <a:ea typeface="Arial"/>
                <a:cs typeface="Arial"/>
              </a:defRPr>
            </a:lvl6pPr>
            <a:lvl7pPr>
              <a:defRPr sz="2100" b="0">
                <a:solidFill>
                  <a:srgbClr val="18364B"/>
                </a:solidFill>
                <a:latin typeface="Arial"/>
                <a:ea typeface="Arial"/>
                <a:cs typeface="Arial"/>
              </a:defRPr>
            </a:lvl7pPr>
            <a:lvl8pPr>
              <a:defRPr sz="2100" b="0">
                <a:solidFill>
                  <a:srgbClr val="18364B"/>
                </a:solidFill>
                <a:latin typeface="Arial"/>
                <a:ea typeface="Arial"/>
                <a:cs typeface="Arial"/>
              </a:defRPr>
            </a:lvl8pPr>
            <a:lvl9pPr>
              <a:defRPr sz="2100" b="0">
                <a:solidFill>
                  <a:srgbClr val="18364B"/>
                </a:solidFill>
                <a:latin typeface="Arial"/>
                <a:ea typeface="Arial"/>
                <a:cs typeface="Arial"/>
              </a:defRPr>
            </a:lvl9pPr>
          </a:lstStyle>
          <a:p xmlns:a="http://schemas.openxmlformats.org/drawingml/2006/main">
            <a:pPr>
              <a:defRPr sz="2100" b="0">
                <a:solidFill>
                  <a:srgbClr val="18364B"/>
                </a:solidFill>
                <a:latin typeface="Arial"/>
                <a:ea typeface="Arial"/>
                <a:cs typeface="Arial"/>
              </a:defRPr>
            </a:pPr>
            <a:r>
              <a:rPr sz="2100" b="0">
                <a:solidFill>
                  <a:srgbClr val="18364B"/>
                </a:solidFill>
                <a:latin typeface="Arial"/>
                <a:ea typeface="Arial"/>
                <a:cs typeface="Arial"/>
              </a:rPr>
              <a:t>Can a different LSTM cell</a:t>
            </a:r>
          </a:p>
          <a:p xmlns:a="http://schemas.openxmlformats.org/drawingml/2006/main">
            <a:pPr>
              <a:defRPr sz="2100" b="0">
                <a:solidFill>
                  <a:srgbClr val="18364B"/>
                </a:solidFill>
                <a:latin typeface="Arial"/>
                <a:ea typeface="Arial"/>
                <a:cs typeface="Arial"/>
              </a:defRPr>
            </a:pPr>
            <a:r>
              <a:rPr sz="2100" b="0">
                <a:solidFill>
                  <a:srgbClr val="18364B"/>
                </a:solidFill>
                <a:latin typeface="Arial"/>
                <a:ea typeface="Arial"/>
                <a:cs typeface="Arial"/>
              </a:rPr>
              <a:t>improve sentiment prediction?</a:t>
            </a:r>
          </a:p>
        </p:txBody>
      </p:sp>
      <p:sp>
        <p:nvSpPr>
          <p:cNvPr id="8" name="">
            <a:extLst xmlns:a="http://schemas.openxmlformats.org/drawingml/2006/main">
              <a:ext uri="{FF2B5EF4-FFF2-40B4-BE49-F238E27FC236}">
                <a16:creationId xmlns:a16="http://schemas.microsoft.com/office/drawing/2014/main" id="{58E95BAA-581F-417E-8DBD-14450EC166D1}"/>
              </a:ext>
            </a:extLst>
          </p:cNvPr>
          <p:cNvSpPr>
            <a:spLocks xmlns:a="http://schemas.openxmlformats.org/drawingml/2006/main" noGrp="1"/>
          </p:cNvSpPr>
          <p:nvPr/>
        </p:nvSpPr>
        <p:spPr>
          <a:xfrm xmlns:a="http://schemas.openxmlformats.org/drawingml/2006/main">
            <a:off x="6762750" y="2190750"/>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8364B"/>
                </a:solidFill>
                <a:latin typeface="Arial"/>
                <a:ea typeface="Arial"/>
                <a:cs typeface="Arial"/>
              </a:defRPr>
            </a:defPPr>
            <a:lvl1pPr>
              <a:defRPr sz="3750" b="1">
                <a:solidFill>
                  <a:srgbClr val="18364B"/>
                </a:solidFill>
                <a:latin typeface="Arial"/>
                <a:ea typeface="Arial"/>
                <a:cs typeface="Arial"/>
              </a:defRPr>
            </a:lvl1pPr>
            <a:lvl2pPr>
              <a:defRPr sz="3750" b="1">
                <a:solidFill>
                  <a:srgbClr val="18364B"/>
                </a:solidFill>
                <a:latin typeface="Arial"/>
                <a:ea typeface="Arial"/>
                <a:cs typeface="Arial"/>
              </a:defRPr>
            </a:lvl2pPr>
            <a:lvl3pPr>
              <a:defRPr sz="3750" b="1">
                <a:solidFill>
                  <a:srgbClr val="18364B"/>
                </a:solidFill>
                <a:latin typeface="Arial"/>
                <a:ea typeface="Arial"/>
                <a:cs typeface="Arial"/>
              </a:defRPr>
            </a:lvl3pPr>
            <a:lvl4pPr>
              <a:defRPr sz="3750" b="1">
                <a:solidFill>
                  <a:srgbClr val="18364B"/>
                </a:solidFill>
                <a:latin typeface="Arial"/>
                <a:ea typeface="Arial"/>
                <a:cs typeface="Arial"/>
              </a:defRPr>
            </a:lvl4pPr>
            <a:lvl5pPr>
              <a:defRPr sz="3750" b="1">
                <a:solidFill>
                  <a:srgbClr val="18364B"/>
                </a:solidFill>
                <a:latin typeface="Arial"/>
                <a:ea typeface="Arial"/>
                <a:cs typeface="Arial"/>
              </a:defRPr>
            </a:lvl5pPr>
            <a:lvl6pPr>
              <a:defRPr sz="3750" b="1">
                <a:solidFill>
                  <a:srgbClr val="18364B"/>
                </a:solidFill>
                <a:latin typeface="Arial"/>
                <a:ea typeface="Arial"/>
                <a:cs typeface="Arial"/>
              </a:defRPr>
            </a:lvl6pPr>
            <a:lvl7pPr>
              <a:defRPr sz="3750" b="1">
                <a:solidFill>
                  <a:srgbClr val="18364B"/>
                </a:solidFill>
                <a:latin typeface="Arial"/>
                <a:ea typeface="Arial"/>
                <a:cs typeface="Arial"/>
              </a:defRPr>
            </a:lvl7pPr>
            <a:lvl8pPr>
              <a:defRPr sz="3750" b="1">
                <a:solidFill>
                  <a:srgbClr val="18364B"/>
                </a:solidFill>
                <a:latin typeface="Arial"/>
                <a:ea typeface="Arial"/>
                <a:cs typeface="Arial"/>
              </a:defRPr>
            </a:lvl8pPr>
            <a:lvl9pPr>
              <a:defRPr sz="3750" b="1">
                <a:solidFill>
                  <a:srgbClr val="18364B"/>
                </a:solidFill>
                <a:latin typeface="Arial"/>
                <a:ea typeface="Arial"/>
                <a:cs typeface="Arial"/>
              </a:defRPr>
            </a:lvl9pPr>
          </a:lstStyle>
          <a:p xmlns:a="http://schemas.openxmlformats.org/drawingml/2006/main">
            <a:pPr>
              <a:defRPr sz="3750" b="1">
                <a:solidFill>
                  <a:srgbClr val="18364B"/>
                </a:solidFill>
                <a:latin typeface="Arial"/>
                <a:ea typeface="Arial"/>
                <a:cs typeface="Arial"/>
              </a:defRPr>
            </a:pPr>
            <a:r>
              <a:rPr sz="3750" b="1">
                <a:solidFill>
                  <a:srgbClr val="18364B"/>
                </a:solidFill>
                <a:latin typeface="Arial"/>
                <a:ea typeface="Arial"/>
                <a:cs typeface="Arial"/>
              </a:rPr>
              <a:t>1–4</a:t>
            </a:r>
          </a:p>
        </p:txBody>
      </p:sp>
      <p:sp>
        <p:nvSpPr>
          <p:cNvPr id="9" name="">
            <a:extLst xmlns:a="http://schemas.openxmlformats.org/drawingml/2006/main">
              <a:ext uri="{FF2B5EF4-FFF2-40B4-BE49-F238E27FC236}">
                <a16:creationId xmlns:a16="http://schemas.microsoft.com/office/drawing/2014/main" id="{D13168EC-B80A-45C4-BF8C-9199A4CC71D1}"/>
              </a:ext>
            </a:extLst>
          </p:cNvPr>
          <p:cNvSpPr>
            <a:spLocks xmlns:a="http://schemas.openxmlformats.org/drawingml/2006/main" noGrp="1"/>
          </p:cNvSpPr>
          <p:nvPr/>
        </p:nvSpPr>
        <p:spPr>
          <a:xfrm xmlns:a="http://schemas.openxmlformats.org/drawingml/2006/main">
            <a:off x="8810625" y="231457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64B"/>
                </a:solidFill>
                <a:latin typeface="Arial"/>
                <a:ea typeface="Arial"/>
                <a:cs typeface="Arial"/>
              </a:defRPr>
            </a:defPPr>
            <a:lvl1pPr>
              <a:defRPr sz="2175" b="1">
                <a:solidFill>
                  <a:srgbClr val="18364B"/>
                </a:solidFill>
                <a:latin typeface="Arial"/>
                <a:ea typeface="Arial"/>
                <a:cs typeface="Arial"/>
              </a:defRPr>
            </a:lvl1pPr>
            <a:lvl2pPr>
              <a:defRPr sz="2175" b="1">
                <a:solidFill>
                  <a:srgbClr val="18364B"/>
                </a:solidFill>
                <a:latin typeface="Arial"/>
                <a:ea typeface="Arial"/>
                <a:cs typeface="Arial"/>
              </a:defRPr>
            </a:lvl2pPr>
            <a:lvl3pPr>
              <a:defRPr sz="2175" b="1">
                <a:solidFill>
                  <a:srgbClr val="18364B"/>
                </a:solidFill>
                <a:latin typeface="Arial"/>
                <a:ea typeface="Arial"/>
                <a:cs typeface="Arial"/>
              </a:defRPr>
            </a:lvl3pPr>
            <a:lvl4pPr>
              <a:defRPr sz="2175" b="1">
                <a:solidFill>
                  <a:srgbClr val="18364B"/>
                </a:solidFill>
                <a:latin typeface="Arial"/>
                <a:ea typeface="Arial"/>
                <a:cs typeface="Arial"/>
              </a:defRPr>
            </a:lvl4pPr>
            <a:lvl5pPr>
              <a:defRPr sz="2175" b="1">
                <a:solidFill>
                  <a:srgbClr val="18364B"/>
                </a:solidFill>
                <a:latin typeface="Arial"/>
                <a:ea typeface="Arial"/>
                <a:cs typeface="Arial"/>
              </a:defRPr>
            </a:lvl5pPr>
            <a:lvl6pPr>
              <a:defRPr sz="2175" b="1">
                <a:solidFill>
                  <a:srgbClr val="18364B"/>
                </a:solidFill>
                <a:latin typeface="Arial"/>
                <a:ea typeface="Arial"/>
                <a:cs typeface="Arial"/>
              </a:defRPr>
            </a:lvl6pPr>
            <a:lvl7pPr>
              <a:defRPr sz="2175" b="1">
                <a:solidFill>
                  <a:srgbClr val="18364B"/>
                </a:solidFill>
                <a:latin typeface="Arial"/>
                <a:ea typeface="Arial"/>
                <a:cs typeface="Arial"/>
              </a:defRPr>
            </a:lvl7pPr>
            <a:lvl8pPr>
              <a:defRPr sz="2175" b="1">
                <a:solidFill>
                  <a:srgbClr val="18364B"/>
                </a:solidFill>
                <a:latin typeface="Arial"/>
                <a:ea typeface="Arial"/>
                <a:cs typeface="Arial"/>
              </a:defRPr>
            </a:lvl8pPr>
            <a:lvl9pPr>
              <a:defRPr sz="2175" b="1">
                <a:solidFill>
                  <a:srgbClr val="18364B"/>
                </a:solidFill>
                <a:latin typeface="Arial"/>
                <a:ea typeface="Arial"/>
                <a:cs typeface="Arial"/>
              </a:defRPr>
            </a:lvl9pPr>
          </a:lstStyle>
          <a:p xmlns:a="http://schemas.openxmlformats.org/drawingml/2006/main">
            <a:pPr>
              <a:defRPr sz="2175" b="1">
                <a:solidFill>
                  <a:srgbClr val="18364B"/>
                </a:solidFill>
                <a:latin typeface="Arial"/>
                <a:ea typeface="Arial"/>
                <a:cs typeface="Arial"/>
              </a:defRPr>
            </a:pPr>
            <a:r>
              <a:rPr sz="2175" b="1">
                <a:solidFill>
                  <a:srgbClr val="18364B"/>
                </a:solidFill>
                <a:latin typeface="Arial"/>
                <a:ea typeface="Arial"/>
                <a:cs typeface="Arial"/>
              </a:rPr>
              <a:t>Negative</a:t>
            </a:r>
          </a:p>
        </p:txBody>
      </p:sp>
      <p:sp>
        <p:nvSpPr>
          <p:cNvPr id="10" name="">
            <a:extLst xmlns:a="http://schemas.openxmlformats.org/drawingml/2006/main">
              <a:ext uri="{FF2B5EF4-FFF2-40B4-BE49-F238E27FC236}">
                <a16:creationId xmlns:a16="http://schemas.microsoft.com/office/drawing/2014/main" id="{630D8773-F692-48A7-AC44-043B07BCF2A4}"/>
              </a:ext>
            </a:extLst>
          </p:cNvPr>
          <p:cNvSpPr>
            <a:spLocks xmlns:a="http://schemas.openxmlformats.org/drawingml/2006/main" noGrp="1"/>
          </p:cNvSpPr>
          <p:nvPr/>
        </p:nvSpPr>
        <p:spPr>
          <a:xfrm xmlns:a="http://schemas.openxmlformats.org/drawingml/2006/main">
            <a:off x="6762750" y="3381375"/>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B26D16"/>
                </a:solidFill>
                <a:latin typeface="Arial"/>
                <a:ea typeface="Arial"/>
                <a:cs typeface="Arial"/>
              </a:defRPr>
            </a:defPPr>
            <a:lvl1pPr>
              <a:defRPr sz="3750" b="1">
                <a:solidFill>
                  <a:srgbClr val="B26D16"/>
                </a:solidFill>
                <a:latin typeface="Arial"/>
                <a:ea typeface="Arial"/>
                <a:cs typeface="Arial"/>
              </a:defRPr>
            </a:lvl1pPr>
            <a:lvl2pPr>
              <a:defRPr sz="3750" b="1">
                <a:solidFill>
                  <a:srgbClr val="B26D16"/>
                </a:solidFill>
                <a:latin typeface="Arial"/>
                <a:ea typeface="Arial"/>
                <a:cs typeface="Arial"/>
              </a:defRPr>
            </a:lvl2pPr>
            <a:lvl3pPr>
              <a:defRPr sz="3750" b="1">
                <a:solidFill>
                  <a:srgbClr val="B26D16"/>
                </a:solidFill>
                <a:latin typeface="Arial"/>
                <a:ea typeface="Arial"/>
                <a:cs typeface="Arial"/>
              </a:defRPr>
            </a:lvl3pPr>
            <a:lvl4pPr>
              <a:defRPr sz="3750" b="1">
                <a:solidFill>
                  <a:srgbClr val="B26D16"/>
                </a:solidFill>
                <a:latin typeface="Arial"/>
                <a:ea typeface="Arial"/>
                <a:cs typeface="Arial"/>
              </a:defRPr>
            </a:lvl4pPr>
            <a:lvl5pPr>
              <a:defRPr sz="3750" b="1">
                <a:solidFill>
                  <a:srgbClr val="B26D16"/>
                </a:solidFill>
                <a:latin typeface="Arial"/>
                <a:ea typeface="Arial"/>
                <a:cs typeface="Arial"/>
              </a:defRPr>
            </a:lvl5pPr>
            <a:lvl6pPr>
              <a:defRPr sz="3750" b="1">
                <a:solidFill>
                  <a:srgbClr val="B26D16"/>
                </a:solidFill>
                <a:latin typeface="Arial"/>
                <a:ea typeface="Arial"/>
                <a:cs typeface="Arial"/>
              </a:defRPr>
            </a:lvl6pPr>
            <a:lvl7pPr>
              <a:defRPr sz="3750" b="1">
                <a:solidFill>
                  <a:srgbClr val="B26D16"/>
                </a:solidFill>
                <a:latin typeface="Arial"/>
                <a:ea typeface="Arial"/>
                <a:cs typeface="Arial"/>
              </a:defRPr>
            </a:lvl7pPr>
            <a:lvl8pPr>
              <a:defRPr sz="3750" b="1">
                <a:solidFill>
                  <a:srgbClr val="B26D16"/>
                </a:solidFill>
                <a:latin typeface="Arial"/>
                <a:ea typeface="Arial"/>
                <a:cs typeface="Arial"/>
              </a:defRPr>
            </a:lvl8pPr>
            <a:lvl9pPr>
              <a:defRPr sz="3750" b="1">
                <a:solidFill>
                  <a:srgbClr val="B26D16"/>
                </a:solidFill>
                <a:latin typeface="Arial"/>
                <a:ea typeface="Arial"/>
                <a:cs typeface="Arial"/>
              </a:defRPr>
            </a:lvl9pPr>
          </a:lstStyle>
          <a:p xmlns:a="http://schemas.openxmlformats.org/drawingml/2006/main">
            <a:pPr>
              <a:defRPr sz="3750" b="1">
                <a:solidFill>
                  <a:srgbClr val="B26D16"/>
                </a:solidFill>
                <a:latin typeface="Arial"/>
                <a:ea typeface="Arial"/>
                <a:cs typeface="Arial"/>
              </a:defRPr>
            </a:pPr>
            <a:r>
              <a:rPr sz="3750" b="1">
                <a:solidFill>
                  <a:srgbClr val="B26D16"/>
                </a:solidFill>
                <a:latin typeface="Arial"/>
                <a:ea typeface="Arial"/>
                <a:cs typeface="Arial"/>
              </a:rPr>
              <a:t>5–6</a:t>
            </a:r>
          </a:p>
        </p:txBody>
      </p:sp>
      <p:sp>
        <p:nvSpPr>
          <p:cNvPr id="11" name="">
            <a:extLst xmlns:a="http://schemas.openxmlformats.org/drawingml/2006/main">
              <a:ext uri="{FF2B5EF4-FFF2-40B4-BE49-F238E27FC236}">
                <a16:creationId xmlns:a16="http://schemas.microsoft.com/office/drawing/2014/main" id="{C7C40F79-639C-4552-B40B-F18935482817}"/>
              </a:ext>
            </a:extLst>
          </p:cNvPr>
          <p:cNvSpPr>
            <a:spLocks xmlns:a="http://schemas.openxmlformats.org/drawingml/2006/main" noGrp="1"/>
          </p:cNvSpPr>
          <p:nvPr/>
        </p:nvSpPr>
        <p:spPr>
          <a:xfrm xmlns:a="http://schemas.openxmlformats.org/drawingml/2006/main">
            <a:off x="8810625" y="35052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26D16"/>
                </a:solidFill>
                <a:latin typeface="Arial"/>
                <a:ea typeface="Arial"/>
                <a:cs typeface="Arial"/>
              </a:defRPr>
            </a:defPPr>
            <a:lvl1pPr>
              <a:defRPr sz="2175" b="1">
                <a:solidFill>
                  <a:srgbClr val="B26D16"/>
                </a:solidFill>
                <a:latin typeface="Arial"/>
                <a:ea typeface="Arial"/>
                <a:cs typeface="Arial"/>
              </a:defRPr>
            </a:lvl1pPr>
            <a:lvl2pPr>
              <a:defRPr sz="2175" b="1">
                <a:solidFill>
                  <a:srgbClr val="B26D16"/>
                </a:solidFill>
                <a:latin typeface="Arial"/>
                <a:ea typeface="Arial"/>
                <a:cs typeface="Arial"/>
              </a:defRPr>
            </a:lvl2pPr>
            <a:lvl3pPr>
              <a:defRPr sz="2175" b="1">
                <a:solidFill>
                  <a:srgbClr val="B26D16"/>
                </a:solidFill>
                <a:latin typeface="Arial"/>
                <a:ea typeface="Arial"/>
                <a:cs typeface="Arial"/>
              </a:defRPr>
            </a:lvl3pPr>
            <a:lvl4pPr>
              <a:defRPr sz="2175" b="1">
                <a:solidFill>
                  <a:srgbClr val="B26D16"/>
                </a:solidFill>
                <a:latin typeface="Arial"/>
                <a:ea typeface="Arial"/>
                <a:cs typeface="Arial"/>
              </a:defRPr>
            </a:lvl4pPr>
            <a:lvl5pPr>
              <a:defRPr sz="2175" b="1">
                <a:solidFill>
                  <a:srgbClr val="B26D16"/>
                </a:solidFill>
                <a:latin typeface="Arial"/>
                <a:ea typeface="Arial"/>
                <a:cs typeface="Arial"/>
              </a:defRPr>
            </a:lvl5pPr>
            <a:lvl6pPr>
              <a:defRPr sz="2175" b="1">
                <a:solidFill>
                  <a:srgbClr val="B26D16"/>
                </a:solidFill>
                <a:latin typeface="Arial"/>
                <a:ea typeface="Arial"/>
                <a:cs typeface="Arial"/>
              </a:defRPr>
            </a:lvl6pPr>
            <a:lvl7pPr>
              <a:defRPr sz="2175" b="1">
                <a:solidFill>
                  <a:srgbClr val="B26D16"/>
                </a:solidFill>
                <a:latin typeface="Arial"/>
                <a:ea typeface="Arial"/>
                <a:cs typeface="Arial"/>
              </a:defRPr>
            </a:lvl7pPr>
            <a:lvl8pPr>
              <a:defRPr sz="2175" b="1">
                <a:solidFill>
                  <a:srgbClr val="B26D16"/>
                </a:solidFill>
                <a:latin typeface="Arial"/>
                <a:ea typeface="Arial"/>
                <a:cs typeface="Arial"/>
              </a:defRPr>
            </a:lvl8pPr>
            <a:lvl9pPr>
              <a:defRPr sz="2175" b="1">
                <a:solidFill>
                  <a:srgbClr val="B26D16"/>
                </a:solidFill>
                <a:latin typeface="Arial"/>
                <a:ea typeface="Arial"/>
                <a:cs typeface="Arial"/>
              </a:defRPr>
            </a:lvl9pPr>
          </a:lstStyle>
          <a:p xmlns:a="http://schemas.openxmlformats.org/drawingml/2006/main">
            <a:pPr>
              <a:defRPr sz="2175" b="1">
                <a:solidFill>
                  <a:srgbClr val="B26D16"/>
                </a:solidFill>
                <a:latin typeface="Arial"/>
                <a:ea typeface="Arial"/>
                <a:cs typeface="Arial"/>
              </a:defRPr>
            </a:pPr>
            <a:r>
              <a:rPr sz="2175" b="1">
                <a:solidFill>
                  <a:srgbClr val="B26D16"/>
                </a:solidFill>
                <a:latin typeface="Arial"/>
                <a:ea typeface="Arial"/>
                <a:cs typeface="Arial"/>
              </a:rPr>
              <a:t>Neutral</a:t>
            </a:r>
          </a:p>
        </p:txBody>
      </p:sp>
      <p:sp>
        <p:nvSpPr>
          <p:cNvPr id="12" name="">
            <a:extLst xmlns:a="http://schemas.openxmlformats.org/drawingml/2006/main">
              <a:ext uri="{FF2B5EF4-FFF2-40B4-BE49-F238E27FC236}">
                <a16:creationId xmlns:a16="http://schemas.microsoft.com/office/drawing/2014/main" id="{5FD75F37-C310-429E-A819-A83CC5C5E1D5}"/>
              </a:ext>
            </a:extLst>
          </p:cNvPr>
          <p:cNvSpPr>
            <a:spLocks xmlns:a="http://schemas.openxmlformats.org/drawingml/2006/main" noGrp="1"/>
          </p:cNvSpPr>
          <p:nvPr/>
        </p:nvSpPr>
        <p:spPr>
          <a:xfrm xmlns:a="http://schemas.openxmlformats.org/drawingml/2006/main">
            <a:off x="6762750" y="4572000"/>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7F7A"/>
                </a:solidFill>
                <a:latin typeface="Arial"/>
                <a:ea typeface="Arial"/>
                <a:cs typeface="Arial"/>
              </a:defRPr>
            </a:defPPr>
            <a:lvl1pPr>
              <a:defRPr sz="3750" b="1">
                <a:solidFill>
                  <a:srgbClr val="007F7A"/>
                </a:solidFill>
                <a:latin typeface="Arial"/>
                <a:ea typeface="Arial"/>
                <a:cs typeface="Arial"/>
              </a:defRPr>
            </a:lvl1pPr>
            <a:lvl2pPr>
              <a:defRPr sz="3750" b="1">
                <a:solidFill>
                  <a:srgbClr val="007F7A"/>
                </a:solidFill>
                <a:latin typeface="Arial"/>
                <a:ea typeface="Arial"/>
                <a:cs typeface="Arial"/>
              </a:defRPr>
            </a:lvl2pPr>
            <a:lvl3pPr>
              <a:defRPr sz="3750" b="1">
                <a:solidFill>
                  <a:srgbClr val="007F7A"/>
                </a:solidFill>
                <a:latin typeface="Arial"/>
                <a:ea typeface="Arial"/>
                <a:cs typeface="Arial"/>
              </a:defRPr>
            </a:lvl3pPr>
            <a:lvl4pPr>
              <a:defRPr sz="3750" b="1">
                <a:solidFill>
                  <a:srgbClr val="007F7A"/>
                </a:solidFill>
                <a:latin typeface="Arial"/>
                <a:ea typeface="Arial"/>
                <a:cs typeface="Arial"/>
              </a:defRPr>
            </a:lvl4pPr>
            <a:lvl5pPr>
              <a:defRPr sz="3750" b="1">
                <a:solidFill>
                  <a:srgbClr val="007F7A"/>
                </a:solidFill>
                <a:latin typeface="Arial"/>
                <a:ea typeface="Arial"/>
                <a:cs typeface="Arial"/>
              </a:defRPr>
            </a:lvl5pPr>
            <a:lvl6pPr>
              <a:defRPr sz="3750" b="1">
                <a:solidFill>
                  <a:srgbClr val="007F7A"/>
                </a:solidFill>
                <a:latin typeface="Arial"/>
                <a:ea typeface="Arial"/>
                <a:cs typeface="Arial"/>
              </a:defRPr>
            </a:lvl6pPr>
            <a:lvl7pPr>
              <a:defRPr sz="3750" b="1">
                <a:solidFill>
                  <a:srgbClr val="007F7A"/>
                </a:solidFill>
                <a:latin typeface="Arial"/>
                <a:ea typeface="Arial"/>
                <a:cs typeface="Arial"/>
              </a:defRPr>
            </a:lvl7pPr>
            <a:lvl8pPr>
              <a:defRPr sz="3750" b="1">
                <a:solidFill>
                  <a:srgbClr val="007F7A"/>
                </a:solidFill>
                <a:latin typeface="Arial"/>
                <a:ea typeface="Arial"/>
                <a:cs typeface="Arial"/>
              </a:defRPr>
            </a:lvl8pPr>
            <a:lvl9pPr>
              <a:defRPr sz="3750" b="1">
                <a:solidFill>
                  <a:srgbClr val="007F7A"/>
                </a:solidFill>
                <a:latin typeface="Arial"/>
                <a:ea typeface="Arial"/>
                <a:cs typeface="Arial"/>
              </a:defRPr>
            </a:lvl9pPr>
          </a:lstStyle>
          <a:p xmlns:a="http://schemas.openxmlformats.org/drawingml/2006/main">
            <a:pPr>
              <a:defRPr sz="3750" b="1">
                <a:solidFill>
                  <a:srgbClr val="007F7A"/>
                </a:solidFill>
                <a:latin typeface="Arial"/>
                <a:ea typeface="Arial"/>
                <a:cs typeface="Arial"/>
              </a:defRPr>
            </a:pPr>
            <a:r>
              <a:rPr sz="3750" b="1">
                <a:solidFill>
                  <a:srgbClr val="007F7A"/>
                </a:solidFill>
                <a:latin typeface="Arial"/>
                <a:ea typeface="Arial"/>
                <a:cs typeface="Arial"/>
              </a:rPr>
              <a:t>7–10</a:t>
            </a:r>
          </a:p>
        </p:txBody>
      </p:sp>
      <p:sp>
        <p:nvSpPr>
          <p:cNvPr id="13" name="">
            <a:extLst xmlns:a="http://schemas.openxmlformats.org/drawingml/2006/main">
              <a:ext uri="{FF2B5EF4-FFF2-40B4-BE49-F238E27FC236}">
                <a16:creationId xmlns:a16="http://schemas.microsoft.com/office/drawing/2014/main" id="{939E9CAF-A331-4944-B35E-291ABFD6D19E}"/>
              </a:ext>
            </a:extLst>
          </p:cNvPr>
          <p:cNvSpPr>
            <a:spLocks xmlns:a="http://schemas.openxmlformats.org/drawingml/2006/main" noGrp="1"/>
          </p:cNvSpPr>
          <p:nvPr/>
        </p:nvSpPr>
        <p:spPr>
          <a:xfrm xmlns:a="http://schemas.openxmlformats.org/drawingml/2006/main">
            <a:off x="8810625" y="469582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7A"/>
                </a:solidFill>
                <a:latin typeface="Arial"/>
                <a:ea typeface="Arial"/>
                <a:cs typeface="Arial"/>
              </a:defRPr>
            </a:defPPr>
            <a:lvl1pPr>
              <a:defRPr sz="2175" b="1">
                <a:solidFill>
                  <a:srgbClr val="007F7A"/>
                </a:solidFill>
                <a:latin typeface="Arial"/>
                <a:ea typeface="Arial"/>
                <a:cs typeface="Arial"/>
              </a:defRPr>
            </a:lvl1pPr>
            <a:lvl2pPr>
              <a:defRPr sz="2175" b="1">
                <a:solidFill>
                  <a:srgbClr val="007F7A"/>
                </a:solidFill>
                <a:latin typeface="Arial"/>
                <a:ea typeface="Arial"/>
                <a:cs typeface="Arial"/>
              </a:defRPr>
            </a:lvl2pPr>
            <a:lvl3pPr>
              <a:defRPr sz="2175" b="1">
                <a:solidFill>
                  <a:srgbClr val="007F7A"/>
                </a:solidFill>
                <a:latin typeface="Arial"/>
                <a:ea typeface="Arial"/>
                <a:cs typeface="Arial"/>
              </a:defRPr>
            </a:lvl3pPr>
            <a:lvl4pPr>
              <a:defRPr sz="2175" b="1">
                <a:solidFill>
                  <a:srgbClr val="007F7A"/>
                </a:solidFill>
                <a:latin typeface="Arial"/>
                <a:ea typeface="Arial"/>
                <a:cs typeface="Arial"/>
              </a:defRPr>
            </a:lvl4pPr>
            <a:lvl5pPr>
              <a:defRPr sz="2175" b="1">
                <a:solidFill>
                  <a:srgbClr val="007F7A"/>
                </a:solidFill>
                <a:latin typeface="Arial"/>
                <a:ea typeface="Arial"/>
                <a:cs typeface="Arial"/>
              </a:defRPr>
            </a:lvl5pPr>
            <a:lvl6pPr>
              <a:defRPr sz="2175" b="1">
                <a:solidFill>
                  <a:srgbClr val="007F7A"/>
                </a:solidFill>
                <a:latin typeface="Arial"/>
                <a:ea typeface="Arial"/>
                <a:cs typeface="Arial"/>
              </a:defRPr>
            </a:lvl6pPr>
            <a:lvl7pPr>
              <a:defRPr sz="2175" b="1">
                <a:solidFill>
                  <a:srgbClr val="007F7A"/>
                </a:solidFill>
                <a:latin typeface="Arial"/>
                <a:ea typeface="Arial"/>
                <a:cs typeface="Arial"/>
              </a:defRPr>
            </a:lvl7pPr>
            <a:lvl8pPr>
              <a:defRPr sz="2175" b="1">
                <a:solidFill>
                  <a:srgbClr val="007F7A"/>
                </a:solidFill>
                <a:latin typeface="Arial"/>
                <a:ea typeface="Arial"/>
                <a:cs typeface="Arial"/>
              </a:defRPr>
            </a:lvl8pPr>
            <a:lvl9pPr>
              <a:defRPr sz="2175" b="1">
                <a:solidFill>
                  <a:srgbClr val="007F7A"/>
                </a:solidFill>
                <a:latin typeface="Arial"/>
                <a:ea typeface="Arial"/>
                <a:cs typeface="Arial"/>
              </a:defRPr>
            </a:lvl9pPr>
          </a:lstStyle>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Positive</a:t>
            </a:r>
          </a:p>
        </p:txBody>
      </p:sp>
    </p:spTree>
    <p:extLst>
      <p:ext uri="{BB962C8B-B14F-4D97-AF65-F5344CB8AC3E}">
        <p14:creationId xmlns:p14="http://schemas.microsoft.com/office/powerpoint/2010/main" val="1746108721"/>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82BFC1-7068-4909-99A6-D8665B7A3587}"/>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02 / EXPLORATORY ANALYSIS</a:t>
            </a:r>
          </a:p>
        </p:txBody>
      </p:sp>
      <p:sp>
        <p:nvSpPr>
          <p:cNvPr id="2" name="">
            <a:extLst xmlns:a="http://schemas.openxmlformats.org/drawingml/2006/main">
              <a:ext uri="{FF2B5EF4-FFF2-40B4-BE49-F238E27FC236}">
                <a16:creationId xmlns:a16="http://schemas.microsoft.com/office/drawing/2014/main" id="{583E98A3-5211-4EF9-B88C-F5E6292BE9E8}"/>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Positive reviews dominate the data</a:t>
            </a:r>
          </a:p>
        </p:txBody>
      </p:sp>
      <p:sp>
        <p:nvSpPr>
          <p:cNvPr id="3" name="">
            <a:extLst xmlns:a="http://schemas.openxmlformats.org/drawingml/2006/main">
              <a:ext uri="{FF2B5EF4-FFF2-40B4-BE49-F238E27FC236}">
                <a16:creationId xmlns:a16="http://schemas.microsoft.com/office/drawing/2014/main" id="{99732DC9-E6EA-465E-851A-FD8A298404A1}"/>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03</a:t>
            </a:r>
          </a:p>
        </p:txBody>
      </p:sp>
      <p:graphicFrame>
        <p:nvGraphicFramePr>
          <p:cNvPr id="4" name="Chart">
            <a:extLst xmlns:a="http://schemas.openxmlformats.org/drawingml/2006/main">
              <a:ext uri="{FF2B5EF4-FFF2-40B4-BE49-F238E27FC236}">
                <a16:creationId xmlns:a16="http://schemas.microsoft.com/office/drawing/2014/main" id="{CE5B27CD-FD86-46D6-97B9-BA81549ABEA2}"/>
              </a:ext>
            </a:extLst>
          </p:cNvPr>
          <p:cNvGraphicFramePr/>
          <p:nvPr/>
        </p:nvGraphicFramePr>
        <p:xfrm>
          <a:off xmlns:a="http://schemas.openxmlformats.org/drawingml/2006/main" x="523875" y="2076450"/>
          <a:ext xmlns:a="http://schemas.openxmlformats.org/drawingml/2006/main" cx="7381875" cy="3714750"/>
        </p:xfrm>
        <a:graphic xmlns:a="http://schemas.openxmlformats.org/drawingml/2006/main">
          <a:graphicData uri="http://schemas.openxmlformats.org/drawingml/2006/chart">
            <c:chart xmlns:r="http://schemas.openxmlformats.org/officeDocument/2006/relationships" xmlns:c="http://schemas.openxmlformats.org/drawingml/2006/chart" r:id="Rf1b0cef67c3d452a"/>
          </a:graphicData>
        </a:graphic>
      </p:graphicFrame>
      <p:sp>
        <p:nvSpPr>
          <p:cNvPr id="5" name="">
            <a:extLst xmlns:a="http://schemas.openxmlformats.org/drawingml/2006/main">
              <a:ext uri="{FF2B5EF4-FFF2-40B4-BE49-F238E27FC236}">
                <a16:creationId xmlns:a16="http://schemas.microsoft.com/office/drawing/2014/main" id="{9BF0CD61-EB0F-4061-9348-5BF620FBF8FB}"/>
              </a:ext>
            </a:extLst>
          </p:cNvPr>
          <p:cNvSpPr>
            <a:spLocks xmlns:a="http://schemas.openxmlformats.org/drawingml/2006/main" noGrp="1"/>
          </p:cNvSpPr>
          <p:nvPr/>
        </p:nvSpPr>
        <p:spPr>
          <a:xfrm xmlns:a="http://schemas.openxmlformats.org/drawingml/2006/main">
            <a:off x="8334375" y="2190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007F7A"/>
                </a:solidFill>
                <a:latin typeface="Arial"/>
                <a:ea typeface="Arial"/>
                <a:cs typeface="Arial"/>
              </a:defRPr>
            </a:defPPr>
            <a:lvl1pPr>
              <a:defRPr sz="4875" b="1">
                <a:solidFill>
                  <a:srgbClr val="007F7A"/>
                </a:solidFill>
                <a:latin typeface="Arial"/>
                <a:ea typeface="Arial"/>
                <a:cs typeface="Arial"/>
              </a:defRPr>
            </a:lvl1pPr>
            <a:lvl2pPr>
              <a:defRPr sz="4875" b="1">
                <a:solidFill>
                  <a:srgbClr val="007F7A"/>
                </a:solidFill>
                <a:latin typeface="Arial"/>
                <a:ea typeface="Arial"/>
                <a:cs typeface="Arial"/>
              </a:defRPr>
            </a:lvl2pPr>
            <a:lvl3pPr>
              <a:defRPr sz="4875" b="1">
                <a:solidFill>
                  <a:srgbClr val="007F7A"/>
                </a:solidFill>
                <a:latin typeface="Arial"/>
                <a:ea typeface="Arial"/>
                <a:cs typeface="Arial"/>
              </a:defRPr>
            </a:lvl3pPr>
            <a:lvl4pPr>
              <a:defRPr sz="4875" b="1">
                <a:solidFill>
                  <a:srgbClr val="007F7A"/>
                </a:solidFill>
                <a:latin typeface="Arial"/>
                <a:ea typeface="Arial"/>
                <a:cs typeface="Arial"/>
              </a:defRPr>
            </a:lvl4pPr>
            <a:lvl5pPr>
              <a:defRPr sz="4875" b="1">
                <a:solidFill>
                  <a:srgbClr val="007F7A"/>
                </a:solidFill>
                <a:latin typeface="Arial"/>
                <a:ea typeface="Arial"/>
                <a:cs typeface="Arial"/>
              </a:defRPr>
            </a:lvl5pPr>
            <a:lvl6pPr>
              <a:defRPr sz="4875" b="1">
                <a:solidFill>
                  <a:srgbClr val="007F7A"/>
                </a:solidFill>
                <a:latin typeface="Arial"/>
                <a:ea typeface="Arial"/>
                <a:cs typeface="Arial"/>
              </a:defRPr>
            </a:lvl6pPr>
            <a:lvl7pPr>
              <a:defRPr sz="4875" b="1">
                <a:solidFill>
                  <a:srgbClr val="007F7A"/>
                </a:solidFill>
                <a:latin typeface="Arial"/>
                <a:ea typeface="Arial"/>
                <a:cs typeface="Arial"/>
              </a:defRPr>
            </a:lvl7pPr>
            <a:lvl8pPr>
              <a:defRPr sz="4875" b="1">
                <a:solidFill>
                  <a:srgbClr val="007F7A"/>
                </a:solidFill>
                <a:latin typeface="Arial"/>
                <a:ea typeface="Arial"/>
                <a:cs typeface="Arial"/>
              </a:defRPr>
            </a:lvl8pPr>
            <a:lvl9pPr>
              <a:defRPr sz="4875" b="1">
                <a:solidFill>
                  <a:srgbClr val="007F7A"/>
                </a:solidFill>
                <a:latin typeface="Arial"/>
                <a:ea typeface="Arial"/>
                <a:cs typeface="Arial"/>
              </a:defRPr>
            </a:lvl9pPr>
          </a:lstStyle>
          <a:p xmlns:a="http://schemas.openxmlformats.org/drawingml/2006/main">
            <a:pPr>
              <a:defRPr sz="4875" b="1">
                <a:solidFill>
                  <a:srgbClr val="007F7A"/>
                </a:solidFill>
                <a:latin typeface="Arial"/>
                <a:ea typeface="Arial"/>
                <a:cs typeface="Arial"/>
              </a:defRPr>
            </a:pPr>
            <a:r>
              <a:rPr sz="4875" b="1">
                <a:solidFill>
                  <a:srgbClr val="007F7A"/>
                </a:solidFill>
                <a:latin typeface="Arial"/>
                <a:ea typeface="Arial"/>
                <a:cs typeface="Arial"/>
              </a:rPr>
              <a:t>66.3%</a:t>
            </a:r>
          </a:p>
        </p:txBody>
      </p:sp>
      <p:sp>
        <p:nvSpPr>
          <p:cNvPr id="6" name="">
            <a:extLst xmlns:a="http://schemas.openxmlformats.org/drawingml/2006/main">
              <a:ext uri="{FF2B5EF4-FFF2-40B4-BE49-F238E27FC236}">
                <a16:creationId xmlns:a16="http://schemas.microsoft.com/office/drawing/2014/main" id="{C2F52A17-BC2D-4B29-A4A7-2366D3C0F882}"/>
              </a:ext>
            </a:extLst>
          </p:cNvPr>
          <p:cNvSpPr>
            <a:spLocks xmlns:a="http://schemas.openxmlformats.org/drawingml/2006/main" noGrp="1"/>
          </p:cNvSpPr>
          <p:nvPr/>
        </p:nvSpPr>
        <p:spPr>
          <a:xfrm xmlns:a="http://schemas.openxmlformats.org/drawingml/2006/main">
            <a:off x="8382000" y="3162300"/>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64B"/>
                </a:solidFill>
                <a:latin typeface="Arial"/>
                <a:ea typeface="Arial"/>
                <a:cs typeface="Arial"/>
              </a:defRPr>
            </a:defPPr>
            <a:lvl1pPr>
              <a:defRPr sz="2100" b="0">
                <a:solidFill>
                  <a:srgbClr val="18364B"/>
                </a:solidFill>
                <a:latin typeface="Arial"/>
                <a:ea typeface="Arial"/>
                <a:cs typeface="Arial"/>
              </a:defRPr>
            </a:lvl1pPr>
            <a:lvl2pPr>
              <a:defRPr sz="2100" b="0">
                <a:solidFill>
                  <a:srgbClr val="18364B"/>
                </a:solidFill>
                <a:latin typeface="Arial"/>
                <a:ea typeface="Arial"/>
                <a:cs typeface="Arial"/>
              </a:defRPr>
            </a:lvl2pPr>
            <a:lvl3pPr>
              <a:defRPr sz="2100" b="0">
                <a:solidFill>
                  <a:srgbClr val="18364B"/>
                </a:solidFill>
                <a:latin typeface="Arial"/>
                <a:ea typeface="Arial"/>
                <a:cs typeface="Arial"/>
              </a:defRPr>
            </a:lvl3pPr>
            <a:lvl4pPr>
              <a:defRPr sz="2100" b="0">
                <a:solidFill>
                  <a:srgbClr val="18364B"/>
                </a:solidFill>
                <a:latin typeface="Arial"/>
                <a:ea typeface="Arial"/>
                <a:cs typeface="Arial"/>
              </a:defRPr>
            </a:lvl4pPr>
            <a:lvl5pPr>
              <a:defRPr sz="2100" b="0">
                <a:solidFill>
                  <a:srgbClr val="18364B"/>
                </a:solidFill>
                <a:latin typeface="Arial"/>
                <a:ea typeface="Arial"/>
                <a:cs typeface="Arial"/>
              </a:defRPr>
            </a:lvl5pPr>
            <a:lvl6pPr>
              <a:defRPr sz="2100" b="0">
                <a:solidFill>
                  <a:srgbClr val="18364B"/>
                </a:solidFill>
                <a:latin typeface="Arial"/>
                <a:ea typeface="Arial"/>
                <a:cs typeface="Arial"/>
              </a:defRPr>
            </a:lvl6pPr>
            <a:lvl7pPr>
              <a:defRPr sz="2100" b="0">
                <a:solidFill>
                  <a:srgbClr val="18364B"/>
                </a:solidFill>
                <a:latin typeface="Arial"/>
                <a:ea typeface="Arial"/>
                <a:cs typeface="Arial"/>
              </a:defRPr>
            </a:lvl7pPr>
            <a:lvl8pPr>
              <a:defRPr sz="2100" b="0">
                <a:solidFill>
                  <a:srgbClr val="18364B"/>
                </a:solidFill>
                <a:latin typeface="Arial"/>
                <a:ea typeface="Arial"/>
                <a:cs typeface="Arial"/>
              </a:defRPr>
            </a:lvl8pPr>
            <a:lvl9pPr>
              <a:defRPr sz="2100" b="0">
                <a:solidFill>
                  <a:srgbClr val="18364B"/>
                </a:solidFill>
                <a:latin typeface="Arial"/>
                <a:ea typeface="Arial"/>
                <a:cs typeface="Arial"/>
              </a:defRPr>
            </a:lvl9pPr>
          </a:lstStyle>
          <a:p xmlns:a="http://schemas.openxmlformats.org/drawingml/2006/main">
            <a:pPr>
              <a:defRPr sz="2100" b="0">
                <a:solidFill>
                  <a:srgbClr val="18364B"/>
                </a:solidFill>
                <a:latin typeface="Arial"/>
                <a:ea typeface="Arial"/>
                <a:cs typeface="Arial"/>
              </a:defRPr>
            </a:pPr>
            <a:r>
              <a:rPr sz="2100" b="0">
                <a:solidFill>
                  <a:srgbClr val="18364B"/>
                </a:solidFill>
                <a:latin typeface="Arial"/>
                <a:ea typeface="Arial"/>
                <a:cs typeface="Arial"/>
              </a:rPr>
              <a:t>of training reviews</a:t>
            </a:r>
          </a:p>
          <a:p xmlns:a="http://schemas.openxmlformats.org/drawingml/2006/main">
            <a:pPr>
              <a:defRPr sz="2100" b="0">
                <a:solidFill>
                  <a:srgbClr val="18364B"/>
                </a:solidFill>
                <a:latin typeface="Arial"/>
                <a:ea typeface="Arial"/>
                <a:cs typeface="Arial"/>
              </a:defRPr>
            </a:pPr>
            <a:r>
              <a:rPr sz="2100" b="0">
                <a:solidFill>
                  <a:srgbClr val="18364B"/>
                </a:solidFill>
                <a:latin typeface="Arial"/>
                <a:ea typeface="Arial"/>
                <a:cs typeface="Arial"/>
              </a:rPr>
              <a:t>are positive</a:t>
            </a:r>
          </a:p>
        </p:txBody>
      </p:sp>
      <p:sp>
        <p:nvSpPr>
          <p:cNvPr id="7" name="">
            <a:extLst xmlns:a="http://schemas.openxmlformats.org/drawingml/2006/main">
              <a:ext uri="{FF2B5EF4-FFF2-40B4-BE49-F238E27FC236}">
                <a16:creationId xmlns:a16="http://schemas.microsoft.com/office/drawing/2014/main" id="{F5EAD646-524D-4FAF-B2D8-CDC07BBCED0B}"/>
              </a:ext>
            </a:extLst>
          </p:cNvPr>
          <p:cNvSpPr>
            <a:spLocks xmlns:a="http://schemas.openxmlformats.org/drawingml/2006/main" noGrp="1"/>
          </p:cNvSpPr>
          <p:nvPr/>
        </p:nvSpPr>
        <p:spPr>
          <a:xfrm xmlns:a="http://schemas.openxmlformats.org/drawingml/2006/main">
            <a:off x="8382000" y="4448175"/>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364B"/>
                </a:solidFill>
                <a:latin typeface="Arial"/>
                <a:ea typeface="Arial"/>
                <a:cs typeface="Arial"/>
              </a:defRPr>
            </a:defPPr>
            <a:lvl1pPr>
              <a:defRPr sz="1950" b="1">
                <a:solidFill>
                  <a:srgbClr val="18364B"/>
                </a:solidFill>
                <a:latin typeface="Arial"/>
                <a:ea typeface="Arial"/>
                <a:cs typeface="Arial"/>
              </a:defRPr>
            </a:lvl1pPr>
            <a:lvl2pPr>
              <a:defRPr sz="1950" b="1">
                <a:solidFill>
                  <a:srgbClr val="18364B"/>
                </a:solidFill>
                <a:latin typeface="Arial"/>
                <a:ea typeface="Arial"/>
                <a:cs typeface="Arial"/>
              </a:defRPr>
            </a:lvl2pPr>
            <a:lvl3pPr>
              <a:defRPr sz="1950" b="1">
                <a:solidFill>
                  <a:srgbClr val="18364B"/>
                </a:solidFill>
                <a:latin typeface="Arial"/>
                <a:ea typeface="Arial"/>
                <a:cs typeface="Arial"/>
              </a:defRPr>
            </a:lvl3pPr>
            <a:lvl4pPr>
              <a:defRPr sz="1950" b="1">
                <a:solidFill>
                  <a:srgbClr val="18364B"/>
                </a:solidFill>
                <a:latin typeface="Arial"/>
                <a:ea typeface="Arial"/>
                <a:cs typeface="Arial"/>
              </a:defRPr>
            </a:lvl4pPr>
            <a:lvl5pPr>
              <a:defRPr sz="1950" b="1">
                <a:solidFill>
                  <a:srgbClr val="18364B"/>
                </a:solidFill>
                <a:latin typeface="Arial"/>
                <a:ea typeface="Arial"/>
                <a:cs typeface="Arial"/>
              </a:defRPr>
            </a:lvl5pPr>
            <a:lvl6pPr>
              <a:defRPr sz="1950" b="1">
                <a:solidFill>
                  <a:srgbClr val="18364B"/>
                </a:solidFill>
                <a:latin typeface="Arial"/>
                <a:ea typeface="Arial"/>
                <a:cs typeface="Arial"/>
              </a:defRPr>
            </a:lvl6pPr>
            <a:lvl7pPr>
              <a:defRPr sz="1950" b="1">
                <a:solidFill>
                  <a:srgbClr val="18364B"/>
                </a:solidFill>
                <a:latin typeface="Arial"/>
                <a:ea typeface="Arial"/>
                <a:cs typeface="Arial"/>
              </a:defRPr>
            </a:lvl7pPr>
            <a:lvl8pPr>
              <a:defRPr sz="1950" b="1">
                <a:solidFill>
                  <a:srgbClr val="18364B"/>
                </a:solidFill>
                <a:latin typeface="Arial"/>
                <a:ea typeface="Arial"/>
                <a:cs typeface="Arial"/>
              </a:defRPr>
            </a:lvl8pPr>
            <a:lvl9pPr>
              <a:defRPr sz="1950" b="1">
                <a:solidFill>
                  <a:srgbClr val="18364B"/>
                </a:solidFill>
                <a:latin typeface="Arial"/>
                <a:ea typeface="Arial"/>
                <a:cs typeface="Arial"/>
              </a:defRPr>
            </a:lvl9pPr>
          </a:lstStyle>
          <a:p xmlns:a="http://schemas.openxmlformats.org/drawingml/2006/main">
            <a:pPr>
              <a:defRPr sz="1950" b="1">
                <a:solidFill>
                  <a:srgbClr val="18364B"/>
                </a:solidFill>
                <a:latin typeface="Arial"/>
                <a:ea typeface="Arial"/>
                <a:cs typeface="Arial"/>
              </a:defRPr>
            </a:pPr>
            <a:r>
              <a:rPr sz="1950" b="1">
                <a:solidFill>
                  <a:srgbClr val="18364B"/>
                </a:solidFill>
                <a:latin typeface="Arial"/>
                <a:ea typeface="Arial"/>
                <a:cs typeface="Arial"/>
              </a:rPr>
              <a:t>12,000 training</a:t>
            </a:r>
          </a:p>
          <a:p xmlns:a="http://schemas.openxmlformats.org/drawingml/2006/main">
            <a:pPr>
              <a:defRPr sz="1950" b="1">
                <a:solidFill>
                  <a:srgbClr val="18364B"/>
                </a:solidFill>
                <a:latin typeface="Arial"/>
                <a:ea typeface="Arial"/>
                <a:cs typeface="Arial"/>
              </a:defRPr>
            </a:pPr>
            <a:r>
              <a:rPr sz="1950" b="1">
                <a:solidFill>
                  <a:srgbClr val="18364B"/>
                </a:solidFill>
                <a:latin typeface="Arial"/>
                <a:ea typeface="Arial"/>
                <a:cs typeface="Arial"/>
              </a:rPr>
              <a:t>2,000 validation</a:t>
            </a:r>
          </a:p>
          <a:p xmlns:a="http://schemas.openxmlformats.org/drawingml/2006/main">
            <a:pPr>
              <a:defRPr sz="1950" b="1">
                <a:solidFill>
                  <a:srgbClr val="18364B"/>
                </a:solidFill>
                <a:latin typeface="Arial"/>
                <a:ea typeface="Arial"/>
                <a:cs typeface="Arial"/>
              </a:defRPr>
            </a:pPr>
            <a:r>
              <a:rPr sz="1950" b="1">
                <a:solidFill>
                  <a:srgbClr val="18364B"/>
                </a:solidFill>
                <a:latin typeface="Arial"/>
                <a:ea typeface="Arial"/>
                <a:cs typeface="Arial"/>
              </a:rPr>
              <a:t>4,000 test</a:t>
            </a:r>
          </a:p>
        </p:txBody>
      </p:sp>
      <p:sp>
        <p:nvSpPr>
          <p:cNvPr id="8" name="">
            <a:extLst xmlns:a="http://schemas.openxmlformats.org/drawingml/2006/main">
              <a:ext uri="{FF2B5EF4-FFF2-40B4-BE49-F238E27FC236}">
                <a16:creationId xmlns:a16="http://schemas.microsoft.com/office/drawing/2014/main" id="{ACFF2DA4-F56F-467D-8682-671EC6D3197D}"/>
              </a:ext>
            </a:extLst>
          </p:cNvPr>
          <p:cNvSpPr>
            <a:spLocks xmlns:a="http://schemas.openxmlformats.org/drawingml/2006/main" noGrp="1"/>
          </p:cNvSpPr>
          <p:nvPr/>
        </p:nvSpPr>
        <p:spPr>
          <a:xfrm xmlns:a="http://schemas.openxmlformats.org/drawingml/2006/main">
            <a:off x="647700" y="60674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878"/>
                </a:solidFill>
                <a:latin typeface="Arial"/>
                <a:ea typeface="Arial"/>
                <a:cs typeface="Arial"/>
              </a:defRPr>
            </a:defPPr>
            <a:lvl1pPr>
              <a:defRPr sz="1500" b="0">
                <a:solidFill>
                  <a:srgbClr val="526878"/>
                </a:solidFill>
                <a:latin typeface="Arial"/>
                <a:ea typeface="Arial"/>
                <a:cs typeface="Arial"/>
              </a:defRPr>
            </a:lvl1pPr>
            <a:lvl2pPr>
              <a:defRPr sz="1500" b="0">
                <a:solidFill>
                  <a:srgbClr val="526878"/>
                </a:solidFill>
                <a:latin typeface="Arial"/>
                <a:ea typeface="Arial"/>
                <a:cs typeface="Arial"/>
              </a:defRPr>
            </a:lvl2pPr>
            <a:lvl3pPr>
              <a:defRPr sz="1500" b="0">
                <a:solidFill>
                  <a:srgbClr val="526878"/>
                </a:solidFill>
                <a:latin typeface="Arial"/>
                <a:ea typeface="Arial"/>
                <a:cs typeface="Arial"/>
              </a:defRPr>
            </a:lvl3pPr>
            <a:lvl4pPr>
              <a:defRPr sz="1500" b="0">
                <a:solidFill>
                  <a:srgbClr val="526878"/>
                </a:solidFill>
                <a:latin typeface="Arial"/>
                <a:ea typeface="Arial"/>
                <a:cs typeface="Arial"/>
              </a:defRPr>
            </a:lvl4pPr>
            <a:lvl5pPr>
              <a:defRPr sz="1500" b="0">
                <a:solidFill>
                  <a:srgbClr val="526878"/>
                </a:solidFill>
                <a:latin typeface="Arial"/>
                <a:ea typeface="Arial"/>
                <a:cs typeface="Arial"/>
              </a:defRPr>
            </a:lvl5pPr>
            <a:lvl6pPr>
              <a:defRPr sz="1500" b="0">
                <a:solidFill>
                  <a:srgbClr val="526878"/>
                </a:solidFill>
                <a:latin typeface="Arial"/>
                <a:ea typeface="Arial"/>
                <a:cs typeface="Arial"/>
              </a:defRPr>
            </a:lvl6pPr>
            <a:lvl7pPr>
              <a:defRPr sz="1500" b="0">
                <a:solidFill>
                  <a:srgbClr val="526878"/>
                </a:solidFill>
                <a:latin typeface="Arial"/>
                <a:ea typeface="Arial"/>
                <a:cs typeface="Arial"/>
              </a:defRPr>
            </a:lvl7pPr>
            <a:lvl8pPr>
              <a:defRPr sz="1500" b="0">
                <a:solidFill>
                  <a:srgbClr val="526878"/>
                </a:solidFill>
                <a:latin typeface="Arial"/>
                <a:ea typeface="Arial"/>
                <a:cs typeface="Arial"/>
              </a:defRPr>
            </a:lvl8pPr>
            <a:lvl9pPr>
              <a:defRPr sz="1500" b="0">
                <a:solidFill>
                  <a:srgbClr val="526878"/>
                </a:solidFill>
                <a:latin typeface="Arial"/>
                <a:ea typeface="Arial"/>
                <a:cs typeface="Arial"/>
              </a:defRPr>
            </a:lvl9pPr>
          </a:lstStyle>
          <a:p xmlns:a="http://schemas.openxmlformats.org/drawingml/2006/main">
            <a:pPr>
              <a:defRPr sz="1500" b="0">
                <a:solidFill>
                  <a:srgbClr val="526878"/>
                </a:solidFill>
                <a:latin typeface="Arial"/>
                <a:ea typeface="Arial"/>
                <a:cs typeface="Arial"/>
              </a:defRPr>
            </a:pPr>
            <a:r>
              <a:rPr sz="1500" b="0">
                <a:solidFill>
                  <a:srgbClr val="526878"/>
                </a:solidFill>
                <a:latin typeface="Arial"/>
                <a:ea typeface="Arial"/>
                <a:cs typeface="Arial"/>
              </a:rPr>
              <a:t>Fixed stratified subsets. Identical splits for every architecture.</a:t>
            </a:r>
          </a:p>
        </p:txBody>
      </p:sp>
    </p:spTree>
    <p:extLst>
      <p:ext uri="{BB962C8B-B14F-4D97-AF65-F5344CB8AC3E}">
        <p14:creationId xmlns:p14="http://schemas.microsoft.com/office/powerpoint/2010/main" val="2072334632"/>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DB74FD-EDF1-4CEE-8C95-30E95D03ABF4}"/>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03 / PREPROCESSING</a:t>
            </a:r>
          </a:p>
        </p:txBody>
      </p:sp>
      <p:sp>
        <p:nvSpPr>
          <p:cNvPr id="2" name="">
            <a:extLst xmlns:a="http://schemas.openxmlformats.org/drawingml/2006/main">
              <a:ext uri="{FF2B5EF4-FFF2-40B4-BE49-F238E27FC236}">
                <a16:creationId xmlns:a16="http://schemas.microsoft.com/office/drawing/2014/main" id="{4AC46865-478B-461D-8290-0C8507C86B1A}"/>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A fair comparison starts with the split</a:t>
            </a:r>
          </a:p>
        </p:txBody>
      </p:sp>
      <p:sp>
        <p:nvSpPr>
          <p:cNvPr id="3" name="">
            <a:extLst xmlns:a="http://schemas.openxmlformats.org/drawingml/2006/main">
              <a:ext uri="{FF2B5EF4-FFF2-40B4-BE49-F238E27FC236}">
                <a16:creationId xmlns:a16="http://schemas.microsoft.com/office/drawing/2014/main" id="{A03C296E-42B1-40A1-A1FF-1BCE21D74755}"/>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9E99AD9-B8B0-4A22-870E-8C5BAF45BB8D}"/>
              </a:ext>
            </a:extLst>
          </p:cNvPr>
          <p:cNvSpPr>
            <a:spLocks xmlns:a="http://schemas.openxmlformats.org/drawingml/2006/main" noGrp="1"/>
          </p:cNvSpPr>
          <p:nvPr/>
        </p:nvSpPr>
        <p:spPr>
          <a:xfrm xmlns:a="http://schemas.openxmlformats.org/drawingml/2006/main">
            <a:off x="619125" y="2190750"/>
            <a:ext cx="590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00" b="1">
                <a:solidFill>
                  <a:srgbClr val="007F7A"/>
                </a:solidFill>
                <a:latin typeface="Arial"/>
                <a:ea typeface="Arial"/>
                <a:cs typeface="Arial"/>
              </a:defRPr>
            </a:defPPr>
            <a:lvl1pPr>
              <a:defRPr sz="7200" b="1">
                <a:solidFill>
                  <a:srgbClr val="007F7A"/>
                </a:solidFill>
                <a:latin typeface="Arial"/>
                <a:ea typeface="Arial"/>
                <a:cs typeface="Arial"/>
              </a:defRPr>
            </a:lvl1pPr>
            <a:lvl2pPr>
              <a:defRPr sz="7200" b="1">
                <a:solidFill>
                  <a:srgbClr val="007F7A"/>
                </a:solidFill>
                <a:latin typeface="Arial"/>
                <a:ea typeface="Arial"/>
                <a:cs typeface="Arial"/>
              </a:defRPr>
            </a:lvl2pPr>
            <a:lvl3pPr>
              <a:defRPr sz="7200" b="1">
                <a:solidFill>
                  <a:srgbClr val="007F7A"/>
                </a:solidFill>
                <a:latin typeface="Arial"/>
                <a:ea typeface="Arial"/>
                <a:cs typeface="Arial"/>
              </a:defRPr>
            </a:lvl3pPr>
            <a:lvl4pPr>
              <a:defRPr sz="7200" b="1">
                <a:solidFill>
                  <a:srgbClr val="007F7A"/>
                </a:solidFill>
                <a:latin typeface="Arial"/>
                <a:ea typeface="Arial"/>
                <a:cs typeface="Arial"/>
              </a:defRPr>
            </a:lvl4pPr>
            <a:lvl5pPr>
              <a:defRPr sz="7200" b="1">
                <a:solidFill>
                  <a:srgbClr val="007F7A"/>
                </a:solidFill>
                <a:latin typeface="Arial"/>
                <a:ea typeface="Arial"/>
                <a:cs typeface="Arial"/>
              </a:defRPr>
            </a:lvl5pPr>
            <a:lvl6pPr>
              <a:defRPr sz="7200" b="1">
                <a:solidFill>
                  <a:srgbClr val="007F7A"/>
                </a:solidFill>
                <a:latin typeface="Arial"/>
                <a:ea typeface="Arial"/>
                <a:cs typeface="Arial"/>
              </a:defRPr>
            </a:lvl6pPr>
            <a:lvl7pPr>
              <a:defRPr sz="7200" b="1">
                <a:solidFill>
                  <a:srgbClr val="007F7A"/>
                </a:solidFill>
                <a:latin typeface="Arial"/>
                <a:ea typeface="Arial"/>
                <a:cs typeface="Arial"/>
              </a:defRPr>
            </a:lvl7pPr>
            <a:lvl8pPr>
              <a:defRPr sz="7200" b="1">
                <a:solidFill>
                  <a:srgbClr val="007F7A"/>
                </a:solidFill>
                <a:latin typeface="Arial"/>
                <a:ea typeface="Arial"/>
                <a:cs typeface="Arial"/>
              </a:defRPr>
            </a:lvl8pPr>
            <a:lvl9pPr>
              <a:defRPr sz="7200" b="1">
                <a:solidFill>
                  <a:srgbClr val="007F7A"/>
                </a:solidFill>
                <a:latin typeface="Arial"/>
                <a:ea typeface="Arial"/>
                <a:cs typeface="Arial"/>
              </a:defRPr>
            </a:lvl9pPr>
          </a:lstStyle>
          <a:p xmlns:a="http://schemas.openxmlformats.org/drawingml/2006/main">
            <a:pPr>
              <a:defRPr sz="7200" b="1">
                <a:solidFill>
                  <a:srgbClr val="007F7A"/>
                </a:solidFill>
                <a:latin typeface="Arial"/>
                <a:ea typeface="Arial"/>
                <a:cs typeface="Arial"/>
              </a:defRPr>
            </a:pPr>
            <a:r>
              <a:rPr sz="7200" b="1">
                <a:solidFill>
                  <a:srgbClr val="007F7A"/>
                </a:solidFill>
                <a:latin typeface="Arial"/>
                <a:ea typeface="Arial"/>
                <a:cs typeface="Arial"/>
              </a:rPr>
              <a:t>32,114</a:t>
            </a:r>
          </a:p>
        </p:txBody>
      </p:sp>
      <p:sp>
        <p:nvSpPr>
          <p:cNvPr id="5" name="">
            <a:extLst xmlns:a="http://schemas.openxmlformats.org/drawingml/2006/main">
              <a:ext uri="{FF2B5EF4-FFF2-40B4-BE49-F238E27FC236}">
                <a16:creationId xmlns:a16="http://schemas.microsoft.com/office/drawing/2014/main" id="{38255743-ACCE-418C-B838-9B607FE38B88}"/>
              </a:ext>
            </a:extLst>
          </p:cNvPr>
          <p:cNvSpPr>
            <a:spLocks xmlns:a="http://schemas.openxmlformats.org/drawingml/2006/main" noGrp="1"/>
          </p:cNvSpPr>
          <p:nvPr/>
        </p:nvSpPr>
        <p:spPr>
          <a:xfrm xmlns:a="http://schemas.openxmlformats.org/drawingml/2006/main">
            <a:off x="666750" y="347662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overlapping test reviews removed</a:t>
            </a:r>
          </a:p>
        </p:txBody>
      </p:sp>
      <p:sp>
        <p:nvSpPr>
          <p:cNvPr id="6" name="">
            <a:extLst xmlns:a="http://schemas.openxmlformats.org/drawingml/2006/main">
              <a:ext uri="{FF2B5EF4-FFF2-40B4-BE49-F238E27FC236}">
                <a16:creationId xmlns:a16="http://schemas.microsoft.com/office/drawing/2014/main" id="{C64D5F01-26E2-403D-B96A-6773BE388D90}"/>
              </a:ext>
            </a:extLst>
          </p:cNvPr>
          <p:cNvSpPr>
            <a:spLocks xmlns:a="http://schemas.openxmlformats.org/drawingml/2006/main" noGrp="1"/>
          </p:cNvSpPr>
          <p:nvPr/>
        </p:nvSpPr>
        <p:spPr>
          <a:xfrm xmlns:a="http://schemas.openxmlformats.org/drawingml/2006/main">
            <a:off x="666750" y="4448175"/>
            <a:ext cx="5857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64B"/>
                </a:solidFill>
                <a:latin typeface="Arial"/>
                <a:ea typeface="Arial"/>
                <a:cs typeface="Arial"/>
              </a:defRPr>
            </a:defPPr>
            <a:lvl1pPr>
              <a:defRPr sz="2025" b="0">
                <a:solidFill>
                  <a:srgbClr val="18364B"/>
                </a:solidFill>
                <a:latin typeface="Arial"/>
                <a:ea typeface="Arial"/>
                <a:cs typeface="Arial"/>
              </a:defRPr>
            </a:lvl1pPr>
            <a:lvl2pPr>
              <a:defRPr sz="2025" b="0">
                <a:solidFill>
                  <a:srgbClr val="18364B"/>
                </a:solidFill>
                <a:latin typeface="Arial"/>
                <a:ea typeface="Arial"/>
                <a:cs typeface="Arial"/>
              </a:defRPr>
            </a:lvl2pPr>
            <a:lvl3pPr>
              <a:defRPr sz="2025" b="0">
                <a:solidFill>
                  <a:srgbClr val="18364B"/>
                </a:solidFill>
                <a:latin typeface="Arial"/>
                <a:ea typeface="Arial"/>
                <a:cs typeface="Arial"/>
              </a:defRPr>
            </a:lvl3pPr>
            <a:lvl4pPr>
              <a:defRPr sz="2025" b="0">
                <a:solidFill>
                  <a:srgbClr val="18364B"/>
                </a:solidFill>
                <a:latin typeface="Arial"/>
                <a:ea typeface="Arial"/>
                <a:cs typeface="Arial"/>
              </a:defRPr>
            </a:lvl4pPr>
            <a:lvl5pPr>
              <a:defRPr sz="2025" b="0">
                <a:solidFill>
                  <a:srgbClr val="18364B"/>
                </a:solidFill>
                <a:latin typeface="Arial"/>
                <a:ea typeface="Arial"/>
                <a:cs typeface="Arial"/>
              </a:defRPr>
            </a:lvl5pPr>
            <a:lvl6pPr>
              <a:defRPr sz="2025" b="0">
                <a:solidFill>
                  <a:srgbClr val="18364B"/>
                </a:solidFill>
                <a:latin typeface="Arial"/>
                <a:ea typeface="Arial"/>
                <a:cs typeface="Arial"/>
              </a:defRPr>
            </a:lvl6pPr>
            <a:lvl7pPr>
              <a:defRPr sz="2025" b="0">
                <a:solidFill>
                  <a:srgbClr val="18364B"/>
                </a:solidFill>
                <a:latin typeface="Arial"/>
                <a:ea typeface="Arial"/>
                <a:cs typeface="Arial"/>
              </a:defRPr>
            </a:lvl7pPr>
            <a:lvl8pPr>
              <a:defRPr sz="2025" b="0">
                <a:solidFill>
                  <a:srgbClr val="18364B"/>
                </a:solidFill>
                <a:latin typeface="Arial"/>
                <a:ea typeface="Arial"/>
                <a:cs typeface="Arial"/>
              </a:defRPr>
            </a:lvl8pPr>
            <a:lvl9pPr>
              <a:defRPr sz="2025" b="0">
                <a:solidFill>
                  <a:srgbClr val="18364B"/>
                </a:solidFill>
                <a:latin typeface="Arial"/>
                <a:ea typeface="Arial"/>
                <a:cs typeface="Arial"/>
              </a:defRPr>
            </a:lvl9pPr>
          </a:lstStyle>
          <a:p xmlns:a="http://schemas.openxmlformats.org/drawingml/2006/main">
            <a:pPr>
              <a:defRPr sz="2025" b="0">
                <a:solidFill>
                  <a:srgbClr val="18364B"/>
                </a:solidFill>
                <a:latin typeface="Arial"/>
                <a:ea typeface="Arial"/>
                <a:cs typeface="Arial"/>
              </a:defRPr>
            </a:pPr>
            <a:r>
              <a:rPr sz="2025" b="0">
                <a:solidFill>
                  <a:srgbClr val="18364B"/>
                </a:solidFill>
                <a:latin typeface="Arial"/>
                <a:ea typeface="Arial"/>
                <a:cs typeface="Arial"/>
              </a:rPr>
              <a:t>Exact normalized text shared with training</a:t>
            </a:r>
          </a:p>
          <a:p xmlns:a="http://schemas.openxmlformats.org/drawingml/2006/main">
            <a:pPr>
              <a:defRPr sz="2025" b="0">
                <a:solidFill>
                  <a:srgbClr val="18364B"/>
                </a:solidFill>
                <a:latin typeface="Arial"/>
                <a:ea typeface="Arial"/>
                <a:cs typeface="Arial"/>
              </a:defRPr>
            </a:pPr>
            <a:r>
              <a:rPr sz="2025" b="0">
                <a:solidFill>
                  <a:srgbClr val="18364B"/>
                </a:solidFill>
                <a:latin typeface="Arial"/>
                <a:ea typeface="Arial"/>
                <a:cs typeface="Arial"/>
              </a:rPr>
              <a:t>would otherwise inflate test performance.</a:t>
            </a:r>
          </a:p>
        </p:txBody>
      </p:sp>
      <p:sp>
        <p:nvSpPr>
          <p:cNvPr id="7" name="">
            <a:extLst xmlns:a="http://schemas.openxmlformats.org/drawingml/2006/main">
              <a:ext uri="{FF2B5EF4-FFF2-40B4-BE49-F238E27FC236}">
                <a16:creationId xmlns:a16="http://schemas.microsoft.com/office/drawing/2014/main" id="{453BCEE4-4993-4C91-B36E-AE0F762025D1}"/>
              </a:ext>
            </a:extLst>
          </p:cNvPr>
          <p:cNvSpPr>
            <a:spLocks xmlns:a="http://schemas.openxmlformats.org/drawingml/2006/main" noGrp="1"/>
          </p:cNvSpPr>
          <p:nvPr/>
        </p:nvSpPr>
        <p:spPr>
          <a:xfrm xmlns:a="http://schemas.openxmlformats.org/drawingml/2006/main">
            <a:off x="7762875" y="21431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64B"/>
                </a:solidFill>
                <a:latin typeface="Arial"/>
                <a:ea typeface="Arial"/>
                <a:cs typeface="Arial"/>
              </a:defRPr>
            </a:defPPr>
            <a:lvl1pPr>
              <a:defRPr sz="3000" b="1">
                <a:solidFill>
                  <a:srgbClr val="18364B"/>
                </a:solidFill>
                <a:latin typeface="Arial"/>
                <a:ea typeface="Arial"/>
                <a:cs typeface="Arial"/>
              </a:defRPr>
            </a:lvl1pPr>
            <a:lvl2pPr>
              <a:defRPr sz="3000" b="1">
                <a:solidFill>
                  <a:srgbClr val="18364B"/>
                </a:solidFill>
                <a:latin typeface="Arial"/>
                <a:ea typeface="Arial"/>
                <a:cs typeface="Arial"/>
              </a:defRPr>
            </a:lvl2pPr>
            <a:lvl3pPr>
              <a:defRPr sz="3000" b="1">
                <a:solidFill>
                  <a:srgbClr val="18364B"/>
                </a:solidFill>
                <a:latin typeface="Arial"/>
                <a:ea typeface="Arial"/>
                <a:cs typeface="Arial"/>
              </a:defRPr>
            </a:lvl3pPr>
            <a:lvl4pPr>
              <a:defRPr sz="3000" b="1">
                <a:solidFill>
                  <a:srgbClr val="18364B"/>
                </a:solidFill>
                <a:latin typeface="Arial"/>
                <a:ea typeface="Arial"/>
                <a:cs typeface="Arial"/>
              </a:defRPr>
            </a:lvl4pPr>
            <a:lvl5pPr>
              <a:defRPr sz="3000" b="1">
                <a:solidFill>
                  <a:srgbClr val="18364B"/>
                </a:solidFill>
                <a:latin typeface="Arial"/>
                <a:ea typeface="Arial"/>
                <a:cs typeface="Arial"/>
              </a:defRPr>
            </a:lvl5pPr>
            <a:lvl6pPr>
              <a:defRPr sz="3000" b="1">
                <a:solidFill>
                  <a:srgbClr val="18364B"/>
                </a:solidFill>
                <a:latin typeface="Arial"/>
                <a:ea typeface="Arial"/>
                <a:cs typeface="Arial"/>
              </a:defRPr>
            </a:lvl6pPr>
            <a:lvl7pPr>
              <a:defRPr sz="3000" b="1">
                <a:solidFill>
                  <a:srgbClr val="18364B"/>
                </a:solidFill>
                <a:latin typeface="Arial"/>
                <a:ea typeface="Arial"/>
                <a:cs typeface="Arial"/>
              </a:defRPr>
            </a:lvl7pPr>
            <a:lvl8pPr>
              <a:defRPr sz="3000" b="1">
                <a:solidFill>
                  <a:srgbClr val="18364B"/>
                </a:solidFill>
                <a:latin typeface="Arial"/>
                <a:ea typeface="Arial"/>
                <a:cs typeface="Arial"/>
              </a:defRPr>
            </a:lvl8pPr>
            <a:lvl9pPr>
              <a:defRPr sz="3000" b="1">
                <a:solidFill>
                  <a:srgbClr val="18364B"/>
                </a:solidFill>
                <a:latin typeface="Arial"/>
                <a:ea typeface="Arial"/>
                <a:cs typeface="Arial"/>
              </a:defRPr>
            </a:lvl9pPr>
          </a:lstStyle>
          <a:p xmlns:a="http://schemas.openxmlformats.org/drawingml/2006/main">
            <a:pPr>
              <a:defRPr sz="3000" b="1">
                <a:solidFill>
                  <a:srgbClr val="18364B"/>
                </a:solidFill>
                <a:latin typeface="Arial"/>
                <a:ea typeface="Arial"/>
                <a:cs typeface="Arial"/>
              </a:defRPr>
            </a:pPr>
            <a:r>
              <a:rPr sz="3000" b="1">
                <a:solidFill>
                  <a:srgbClr val="18364B"/>
                </a:solidFill>
                <a:latin typeface="Arial"/>
                <a:ea typeface="Arial"/>
                <a:cs typeface="Arial"/>
              </a:rPr>
              <a:t>12,000</a:t>
            </a:r>
          </a:p>
        </p:txBody>
      </p:sp>
      <p:sp>
        <p:nvSpPr>
          <p:cNvPr id="8" name="">
            <a:extLst xmlns:a="http://schemas.openxmlformats.org/drawingml/2006/main">
              <a:ext uri="{FF2B5EF4-FFF2-40B4-BE49-F238E27FC236}">
                <a16:creationId xmlns:a16="http://schemas.microsoft.com/office/drawing/2014/main" id="{7308CB35-6472-4D2E-972E-7BDFF26677B4}"/>
              </a:ext>
            </a:extLst>
          </p:cNvPr>
          <p:cNvSpPr>
            <a:spLocks xmlns:a="http://schemas.openxmlformats.org/drawingml/2006/main" noGrp="1"/>
          </p:cNvSpPr>
          <p:nvPr/>
        </p:nvSpPr>
        <p:spPr>
          <a:xfrm xmlns:a="http://schemas.openxmlformats.org/drawingml/2006/main">
            <a:off x="7810500" y="2781300"/>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878"/>
                </a:solidFill>
                <a:latin typeface="Arial"/>
                <a:ea typeface="Arial"/>
                <a:cs typeface="Arial"/>
              </a:defRPr>
            </a:defPPr>
            <a:lvl1pPr>
              <a:defRPr sz="1650" b="0">
                <a:solidFill>
                  <a:srgbClr val="526878"/>
                </a:solidFill>
                <a:latin typeface="Arial"/>
                <a:ea typeface="Arial"/>
                <a:cs typeface="Arial"/>
              </a:defRPr>
            </a:lvl1pPr>
            <a:lvl2pPr>
              <a:defRPr sz="1650" b="0">
                <a:solidFill>
                  <a:srgbClr val="526878"/>
                </a:solidFill>
                <a:latin typeface="Arial"/>
                <a:ea typeface="Arial"/>
                <a:cs typeface="Arial"/>
              </a:defRPr>
            </a:lvl2pPr>
            <a:lvl3pPr>
              <a:defRPr sz="1650" b="0">
                <a:solidFill>
                  <a:srgbClr val="526878"/>
                </a:solidFill>
                <a:latin typeface="Arial"/>
                <a:ea typeface="Arial"/>
                <a:cs typeface="Arial"/>
              </a:defRPr>
            </a:lvl3pPr>
            <a:lvl4pPr>
              <a:defRPr sz="1650" b="0">
                <a:solidFill>
                  <a:srgbClr val="526878"/>
                </a:solidFill>
                <a:latin typeface="Arial"/>
                <a:ea typeface="Arial"/>
                <a:cs typeface="Arial"/>
              </a:defRPr>
            </a:lvl4pPr>
            <a:lvl5pPr>
              <a:defRPr sz="1650" b="0">
                <a:solidFill>
                  <a:srgbClr val="526878"/>
                </a:solidFill>
                <a:latin typeface="Arial"/>
                <a:ea typeface="Arial"/>
                <a:cs typeface="Arial"/>
              </a:defRPr>
            </a:lvl5pPr>
            <a:lvl6pPr>
              <a:defRPr sz="1650" b="0">
                <a:solidFill>
                  <a:srgbClr val="526878"/>
                </a:solidFill>
                <a:latin typeface="Arial"/>
                <a:ea typeface="Arial"/>
                <a:cs typeface="Arial"/>
              </a:defRPr>
            </a:lvl6pPr>
            <a:lvl7pPr>
              <a:defRPr sz="1650" b="0">
                <a:solidFill>
                  <a:srgbClr val="526878"/>
                </a:solidFill>
                <a:latin typeface="Arial"/>
                <a:ea typeface="Arial"/>
                <a:cs typeface="Arial"/>
              </a:defRPr>
            </a:lvl7pPr>
            <a:lvl8pPr>
              <a:defRPr sz="1650" b="0">
                <a:solidFill>
                  <a:srgbClr val="526878"/>
                </a:solidFill>
                <a:latin typeface="Arial"/>
                <a:ea typeface="Arial"/>
                <a:cs typeface="Arial"/>
              </a:defRPr>
            </a:lvl8pPr>
            <a:lvl9pPr>
              <a:defRPr sz="1650" b="0">
                <a:solidFill>
                  <a:srgbClr val="526878"/>
                </a:solidFill>
                <a:latin typeface="Arial"/>
                <a:ea typeface="Arial"/>
                <a:cs typeface="Arial"/>
              </a:defRPr>
            </a:lvl9pPr>
          </a:lstStyle>
          <a:p xmlns:a="http://schemas.openxmlformats.org/drawingml/2006/main">
            <a:pPr>
              <a:defRPr sz="1650" b="0">
                <a:solidFill>
                  <a:srgbClr val="526878"/>
                </a:solidFill>
                <a:latin typeface="Arial"/>
                <a:ea typeface="Arial"/>
                <a:cs typeface="Arial"/>
              </a:defRPr>
            </a:pPr>
            <a:r>
              <a:rPr sz="1650" b="0">
                <a:solidFill>
                  <a:srgbClr val="526878"/>
                </a:solidFill>
                <a:latin typeface="Arial"/>
                <a:ea typeface="Arial"/>
                <a:cs typeface="Arial"/>
              </a:rPr>
              <a:t>training-only vocabulary</a:t>
            </a:r>
          </a:p>
        </p:txBody>
      </p:sp>
      <p:sp>
        <p:nvSpPr>
          <p:cNvPr id="9" name="">
            <a:extLst xmlns:a="http://schemas.openxmlformats.org/drawingml/2006/main">
              <a:ext uri="{FF2B5EF4-FFF2-40B4-BE49-F238E27FC236}">
                <a16:creationId xmlns:a16="http://schemas.microsoft.com/office/drawing/2014/main" id="{524CF7C3-F6BC-4BBC-AB36-9B3F379D8E29}"/>
              </a:ext>
            </a:extLst>
          </p:cNvPr>
          <p:cNvSpPr>
            <a:spLocks xmlns:a="http://schemas.openxmlformats.org/drawingml/2006/main" noGrp="1"/>
          </p:cNvSpPr>
          <p:nvPr/>
        </p:nvSpPr>
        <p:spPr>
          <a:xfrm xmlns:a="http://schemas.openxmlformats.org/drawingml/2006/main">
            <a:off x="7762875" y="33623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64B"/>
                </a:solidFill>
                <a:latin typeface="Arial"/>
                <a:ea typeface="Arial"/>
                <a:cs typeface="Arial"/>
              </a:defRPr>
            </a:defPPr>
            <a:lvl1pPr>
              <a:defRPr sz="3000" b="1">
                <a:solidFill>
                  <a:srgbClr val="18364B"/>
                </a:solidFill>
                <a:latin typeface="Arial"/>
                <a:ea typeface="Arial"/>
                <a:cs typeface="Arial"/>
              </a:defRPr>
            </a:lvl1pPr>
            <a:lvl2pPr>
              <a:defRPr sz="3000" b="1">
                <a:solidFill>
                  <a:srgbClr val="18364B"/>
                </a:solidFill>
                <a:latin typeface="Arial"/>
                <a:ea typeface="Arial"/>
                <a:cs typeface="Arial"/>
              </a:defRPr>
            </a:lvl2pPr>
            <a:lvl3pPr>
              <a:defRPr sz="3000" b="1">
                <a:solidFill>
                  <a:srgbClr val="18364B"/>
                </a:solidFill>
                <a:latin typeface="Arial"/>
                <a:ea typeface="Arial"/>
                <a:cs typeface="Arial"/>
              </a:defRPr>
            </a:lvl3pPr>
            <a:lvl4pPr>
              <a:defRPr sz="3000" b="1">
                <a:solidFill>
                  <a:srgbClr val="18364B"/>
                </a:solidFill>
                <a:latin typeface="Arial"/>
                <a:ea typeface="Arial"/>
                <a:cs typeface="Arial"/>
              </a:defRPr>
            </a:lvl4pPr>
            <a:lvl5pPr>
              <a:defRPr sz="3000" b="1">
                <a:solidFill>
                  <a:srgbClr val="18364B"/>
                </a:solidFill>
                <a:latin typeface="Arial"/>
                <a:ea typeface="Arial"/>
                <a:cs typeface="Arial"/>
              </a:defRPr>
            </a:lvl5pPr>
            <a:lvl6pPr>
              <a:defRPr sz="3000" b="1">
                <a:solidFill>
                  <a:srgbClr val="18364B"/>
                </a:solidFill>
                <a:latin typeface="Arial"/>
                <a:ea typeface="Arial"/>
                <a:cs typeface="Arial"/>
              </a:defRPr>
            </a:lvl6pPr>
            <a:lvl7pPr>
              <a:defRPr sz="3000" b="1">
                <a:solidFill>
                  <a:srgbClr val="18364B"/>
                </a:solidFill>
                <a:latin typeface="Arial"/>
                <a:ea typeface="Arial"/>
                <a:cs typeface="Arial"/>
              </a:defRPr>
            </a:lvl7pPr>
            <a:lvl8pPr>
              <a:defRPr sz="3000" b="1">
                <a:solidFill>
                  <a:srgbClr val="18364B"/>
                </a:solidFill>
                <a:latin typeface="Arial"/>
                <a:ea typeface="Arial"/>
                <a:cs typeface="Arial"/>
              </a:defRPr>
            </a:lvl8pPr>
            <a:lvl9pPr>
              <a:defRPr sz="3000" b="1">
                <a:solidFill>
                  <a:srgbClr val="18364B"/>
                </a:solidFill>
                <a:latin typeface="Arial"/>
                <a:ea typeface="Arial"/>
                <a:cs typeface="Arial"/>
              </a:defRPr>
            </a:lvl9pPr>
          </a:lstStyle>
          <a:p xmlns:a="http://schemas.openxmlformats.org/drawingml/2006/main">
            <a:pPr>
              <a:defRPr sz="3000" b="1">
                <a:solidFill>
                  <a:srgbClr val="18364B"/>
                </a:solidFill>
                <a:latin typeface="Arial"/>
                <a:ea typeface="Arial"/>
                <a:cs typeface="Arial"/>
              </a:defRPr>
            </a:pPr>
            <a:r>
              <a:rPr sz="3000" b="1">
                <a:solidFill>
                  <a:srgbClr val="18364B"/>
                </a:solidFill>
                <a:latin typeface="Arial"/>
                <a:ea typeface="Arial"/>
                <a:cs typeface="Arial"/>
              </a:rPr>
              <a:t>96 tokens</a:t>
            </a:r>
          </a:p>
        </p:txBody>
      </p:sp>
      <p:sp>
        <p:nvSpPr>
          <p:cNvPr id="10" name="">
            <a:extLst xmlns:a="http://schemas.openxmlformats.org/drawingml/2006/main">
              <a:ext uri="{FF2B5EF4-FFF2-40B4-BE49-F238E27FC236}">
                <a16:creationId xmlns:a16="http://schemas.microsoft.com/office/drawing/2014/main" id="{E68C7F76-F0A5-4192-A755-7588B85EBE88}"/>
              </a:ext>
            </a:extLst>
          </p:cNvPr>
          <p:cNvSpPr>
            <a:spLocks xmlns:a="http://schemas.openxmlformats.org/drawingml/2006/main" noGrp="1"/>
          </p:cNvSpPr>
          <p:nvPr/>
        </p:nvSpPr>
        <p:spPr>
          <a:xfrm xmlns:a="http://schemas.openxmlformats.org/drawingml/2006/main">
            <a:off x="7810500" y="4000500"/>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878"/>
                </a:solidFill>
                <a:latin typeface="Arial"/>
                <a:ea typeface="Arial"/>
                <a:cs typeface="Arial"/>
              </a:defRPr>
            </a:defPPr>
            <a:lvl1pPr>
              <a:defRPr sz="1650" b="0">
                <a:solidFill>
                  <a:srgbClr val="526878"/>
                </a:solidFill>
                <a:latin typeface="Arial"/>
                <a:ea typeface="Arial"/>
                <a:cs typeface="Arial"/>
              </a:defRPr>
            </a:lvl1pPr>
            <a:lvl2pPr>
              <a:defRPr sz="1650" b="0">
                <a:solidFill>
                  <a:srgbClr val="526878"/>
                </a:solidFill>
                <a:latin typeface="Arial"/>
                <a:ea typeface="Arial"/>
                <a:cs typeface="Arial"/>
              </a:defRPr>
            </a:lvl2pPr>
            <a:lvl3pPr>
              <a:defRPr sz="1650" b="0">
                <a:solidFill>
                  <a:srgbClr val="526878"/>
                </a:solidFill>
                <a:latin typeface="Arial"/>
                <a:ea typeface="Arial"/>
                <a:cs typeface="Arial"/>
              </a:defRPr>
            </a:lvl3pPr>
            <a:lvl4pPr>
              <a:defRPr sz="1650" b="0">
                <a:solidFill>
                  <a:srgbClr val="526878"/>
                </a:solidFill>
                <a:latin typeface="Arial"/>
                <a:ea typeface="Arial"/>
                <a:cs typeface="Arial"/>
              </a:defRPr>
            </a:lvl4pPr>
            <a:lvl5pPr>
              <a:defRPr sz="1650" b="0">
                <a:solidFill>
                  <a:srgbClr val="526878"/>
                </a:solidFill>
                <a:latin typeface="Arial"/>
                <a:ea typeface="Arial"/>
                <a:cs typeface="Arial"/>
              </a:defRPr>
            </a:lvl5pPr>
            <a:lvl6pPr>
              <a:defRPr sz="1650" b="0">
                <a:solidFill>
                  <a:srgbClr val="526878"/>
                </a:solidFill>
                <a:latin typeface="Arial"/>
                <a:ea typeface="Arial"/>
                <a:cs typeface="Arial"/>
              </a:defRPr>
            </a:lvl6pPr>
            <a:lvl7pPr>
              <a:defRPr sz="1650" b="0">
                <a:solidFill>
                  <a:srgbClr val="526878"/>
                </a:solidFill>
                <a:latin typeface="Arial"/>
                <a:ea typeface="Arial"/>
                <a:cs typeface="Arial"/>
              </a:defRPr>
            </a:lvl7pPr>
            <a:lvl8pPr>
              <a:defRPr sz="1650" b="0">
                <a:solidFill>
                  <a:srgbClr val="526878"/>
                </a:solidFill>
                <a:latin typeface="Arial"/>
                <a:ea typeface="Arial"/>
                <a:cs typeface="Arial"/>
              </a:defRPr>
            </a:lvl8pPr>
            <a:lvl9pPr>
              <a:defRPr sz="1650" b="0">
                <a:solidFill>
                  <a:srgbClr val="526878"/>
                </a:solidFill>
                <a:latin typeface="Arial"/>
                <a:ea typeface="Arial"/>
                <a:cs typeface="Arial"/>
              </a:defRPr>
            </a:lvl9pPr>
          </a:lstStyle>
          <a:p xmlns:a="http://schemas.openxmlformats.org/drawingml/2006/main">
            <a:pPr>
              <a:defRPr sz="1650" b="0">
                <a:solidFill>
                  <a:srgbClr val="526878"/>
                </a:solidFill>
                <a:latin typeface="Arial"/>
                <a:ea typeface="Arial"/>
                <a:cs typeface="Arial"/>
              </a:defRPr>
            </a:pPr>
            <a:r>
              <a:rPr sz="1650" b="0">
                <a:solidFill>
                  <a:srgbClr val="526878"/>
                </a:solidFill>
                <a:latin typeface="Arial"/>
                <a:ea typeface="Arial"/>
                <a:cs typeface="Arial"/>
              </a:rPr>
              <a:t>maximum sequence length</a:t>
            </a:r>
          </a:p>
        </p:txBody>
      </p:sp>
      <p:sp>
        <p:nvSpPr>
          <p:cNvPr id="11" name="">
            <a:extLst xmlns:a="http://schemas.openxmlformats.org/drawingml/2006/main">
              <a:ext uri="{FF2B5EF4-FFF2-40B4-BE49-F238E27FC236}">
                <a16:creationId xmlns:a16="http://schemas.microsoft.com/office/drawing/2014/main" id="{8C73B7FD-28F5-4CE0-9BDE-4774C71F8F2B}"/>
              </a:ext>
            </a:extLst>
          </p:cNvPr>
          <p:cNvSpPr>
            <a:spLocks xmlns:a="http://schemas.openxmlformats.org/drawingml/2006/main" noGrp="1"/>
          </p:cNvSpPr>
          <p:nvPr/>
        </p:nvSpPr>
        <p:spPr>
          <a:xfrm xmlns:a="http://schemas.openxmlformats.org/drawingml/2006/main">
            <a:off x="7762875" y="45815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64B"/>
                </a:solidFill>
                <a:latin typeface="Arial"/>
                <a:ea typeface="Arial"/>
                <a:cs typeface="Arial"/>
              </a:defRPr>
            </a:defPPr>
            <a:lvl1pPr>
              <a:defRPr sz="3000" b="1">
                <a:solidFill>
                  <a:srgbClr val="18364B"/>
                </a:solidFill>
                <a:latin typeface="Arial"/>
                <a:ea typeface="Arial"/>
                <a:cs typeface="Arial"/>
              </a:defRPr>
            </a:lvl1pPr>
            <a:lvl2pPr>
              <a:defRPr sz="3000" b="1">
                <a:solidFill>
                  <a:srgbClr val="18364B"/>
                </a:solidFill>
                <a:latin typeface="Arial"/>
                <a:ea typeface="Arial"/>
                <a:cs typeface="Arial"/>
              </a:defRPr>
            </a:lvl2pPr>
            <a:lvl3pPr>
              <a:defRPr sz="3000" b="1">
                <a:solidFill>
                  <a:srgbClr val="18364B"/>
                </a:solidFill>
                <a:latin typeface="Arial"/>
                <a:ea typeface="Arial"/>
                <a:cs typeface="Arial"/>
              </a:defRPr>
            </a:lvl3pPr>
            <a:lvl4pPr>
              <a:defRPr sz="3000" b="1">
                <a:solidFill>
                  <a:srgbClr val="18364B"/>
                </a:solidFill>
                <a:latin typeface="Arial"/>
                <a:ea typeface="Arial"/>
                <a:cs typeface="Arial"/>
              </a:defRPr>
            </a:lvl4pPr>
            <a:lvl5pPr>
              <a:defRPr sz="3000" b="1">
                <a:solidFill>
                  <a:srgbClr val="18364B"/>
                </a:solidFill>
                <a:latin typeface="Arial"/>
                <a:ea typeface="Arial"/>
                <a:cs typeface="Arial"/>
              </a:defRPr>
            </a:lvl5pPr>
            <a:lvl6pPr>
              <a:defRPr sz="3000" b="1">
                <a:solidFill>
                  <a:srgbClr val="18364B"/>
                </a:solidFill>
                <a:latin typeface="Arial"/>
                <a:ea typeface="Arial"/>
                <a:cs typeface="Arial"/>
              </a:defRPr>
            </a:lvl6pPr>
            <a:lvl7pPr>
              <a:defRPr sz="3000" b="1">
                <a:solidFill>
                  <a:srgbClr val="18364B"/>
                </a:solidFill>
                <a:latin typeface="Arial"/>
                <a:ea typeface="Arial"/>
                <a:cs typeface="Arial"/>
              </a:defRPr>
            </a:lvl7pPr>
            <a:lvl8pPr>
              <a:defRPr sz="3000" b="1">
                <a:solidFill>
                  <a:srgbClr val="18364B"/>
                </a:solidFill>
                <a:latin typeface="Arial"/>
                <a:ea typeface="Arial"/>
                <a:cs typeface="Arial"/>
              </a:defRPr>
            </a:lvl8pPr>
            <a:lvl9pPr>
              <a:defRPr sz="3000" b="1">
                <a:solidFill>
                  <a:srgbClr val="18364B"/>
                </a:solidFill>
                <a:latin typeface="Arial"/>
                <a:ea typeface="Arial"/>
                <a:cs typeface="Arial"/>
              </a:defRPr>
            </a:lvl9pPr>
          </a:lstStyle>
          <a:p xmlns:a="http://schemas.openxmlformats.org/drawingml/2006/main">
            <a:pPr>
              <a:defRPr sz="3000" b="1">
                <a:solidFill>
                  <a:srgbClr val="18364B"/>
                </a:solidFill>
                <a:latin typeface="Arial"/>
                <a:ea typeface="Arial"/>
                <a:cs typeface="Arial"/>
              </a:defRPr>
            </a:pPr>
            <a:r>
              <a:rPr sz="3000" b="1">
                <a:solidFill>
                  <a:srgbClr val="18364B"/>
                </a:solidFill>
                <a:latin typeface="Arial"/>
                <a:ea typeface="Arial"/>
                <a:cs typeface="Arial"/>
              </a:rPr>
              <a:t>43.4%</a:t>
            </a:r>
          </a:p>
        </p:txBody>
      </p:sp>
      <p:sp>
        <p:nvSpPr>
          <p:cNvPr id="12" name="">
            <a:extLst xmlns:a="http://schemas.openxmlformats.org/drawingml/2006/main">
              <a:ext uri="{FF2B5EF4-FFF2-40B4-BE49-F238E27FC236}">
                <a16:creationId xmlns:a16="http://schemas.microsoft.com/office/drawing/2014/main" id="{BBB89680-E421-4D55-96BC-8F3E89965B88}"/>
              </a:ext>
            </a:extLst>
          </p:cNvPr>
          <p:cNvSpPr>
            <a:spLocks xmlns:a="http://schemas.openxmlformats.org/drawingml/2006/main" noGrp="1"/>
          </p:cNvSpPr>
          <p:nvPr/>
        </p:nvSpPr>
        <p:spPr>
          <a:xfrm xmlns:a="http://schemas.openxmlformats.org/drawingml/2006/main">
            <a:off x="7810500" y="5219700"/>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878"/>
                </a:solidFill>
                <a:latin typeface="Arial"/>
                <a:ea typeface="Arial"/>
                <a:cs typeface="Arial"/>
              </a:defRPr>
            </a:defPPr>
            <a:lvl1pPr>
              <a:defRPr sz="1650" b="0">
                <a:solidFill>
                  <a:srgbClr val="526878"/>
                </a:solidFill>
                <a:latin typeface="Arial"/>
                <a:ea typeface="Arial"/>
                <a:cs typeface="Arial"/>
              </a:defRPr>
            </a:lvl1pPr>
            <a:lvl2pPr>
              <a:defRPr sz="1650" b="0">
                <a:solidFill>
                  <a:srgbClr val="526878"/>
                </a:solidFill>
                <a:latin typeface="Arial"/>
                <a:ea typeface="Arial"/>
                <a:cs typeface="Arial"/>
              </a:defRPr>
            </a:lvl2pPr>
            <a:lvl3pPr>
              <a:defRPr sz="1650" b="0">
                <a:solidFill>
                  <a:srgbClr val="526878"/>
                </a:solidFill>
                <a:latin typeface="Arial"/>
                <a:ea typeface="Arial"/>
                <a:cs typeface="Arial"/>
              </a:defRPr>
            </a:lvl3pPr>
            <a:lvl4pPr>
              <a:defRPr sz="1650" b="0">
                <a:solidFill>
                  <a:srgbClr val="526878"/>
                </a:solidFill>
                <a:latin typeface="Arial"/>
                <a:ea typeface="Arial"/>
                <a:cs typeface="Arial"/>
              </a:defRPr>
            </a:lvl4pPr>
            <a:lvl5pPr>
              <a:defRPr sz="1650" b="0">
                <a:solidFill>
                  <a:srgbClr val="526878"/>
                </a:solidFill>
                <a:latin typeface="Arial"/>
                <a:ea typeface="Arial"/>
                <a:cs typeface="Arial"/>
              </a:defRPr>
            </a:lvl5pPr>
            <a:lvl6pPr>
              <a:defRPr sz="1650" b="0">
                <a:solidFill>
                  <a:srgbClr val="526878"/>
                </a:solidFill>
                <a:latin typeface="Arial"/>
                <a:ea typeface="Arial"/>
                <a:cs typeface="Arial"/>
              </a:defRPr>
            </a:lvl6pPr>
            <a:lvl7pPr>
              <a:defRPr sz="1650" b="0">
                <a:solidFill>
                  <a:srgbClr val="526878"/>
                </a:solidFill>
                <a:latin typeface="Arial"/>
                <a:ea typeface="Arial"/>
                <a:cs typeface="Arial"/>
              </a:defRPr>
            </a:lvl7pPr>
            <a:lvl8pPr>
              <a:defRPr sz="1650" b="0">
                <a:solidFill>
                  <a:srgbClr val="526878"/>
                </a:solidFill>
                <a:latin typeface="Arial"/>
                <a:ea typeface="Arial"/>
                <a:cs typeface="Arial"/>
              </a:defRPr>
            </a:lvl8pPr>
            <a:lvl9pPr>
              <a:defRPr sz="1650" b="0">
                <a:solidFill>
                  <a:srgbClr val="526878"/>
                </a:solidFill>
                <a:latin typeface="Arial"/>
                <a:ea typeface="Arial"/>
                <a:cs typeface="Arial"/>
              </a:defRPr>
            </a:lvl9pPr>
          </a:lstStyle>
          <a:p xmlns:a="http://schemas.openxmlformats.org/drawingml/2006/main">
            <a:pPr>
              <a:defRPr sz="1650" b="0">
                <a:solidFill>
                  <a:srgbClr val="526878"/>
                </a:solidFill>
                <a:latin typeface="Arial"/>
                <a:ea typeface="Arial"/>
                <a:cs typeface="Arial"/>
              </a:defRPr>
            </a:pPr>
            <a:r>
              <a:rPr sz="1650" b="0">
                <a:solidFill>
                  <a:srgbClr val="526878"/>
                </a:solidFill>
                <a:latin typeface="Arial"/>
                <a:ea typeface="Arial"/>
                <a:cs typeface="Arial"/>
              </a:rPr>
              <a:t>training reviews truncated</a:t>
            </a:r>
          </a:p>
        </p:txBody>
      </p:sp>
    </p:spTree>
    <p:extLst>
      <p:ext uri="{BB962C8B-B14F-4D97-AF65-F5344CB8AC3E}">
        <p14:creationId xmlns:p14="http://schemas.microsoft.com/office/powerpoint/2010/main" val="1502534291"/>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AD0217-1A39-4CD7-9D98-7A32B24EBBE1}"/>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04 / MODELING</a:t>
            </a:r>
          </a:p>
        </p:txBody>
      </p:sp>
      <p:sp>
        <p:nvSpPr>
          <p:cNvPr id="2" name="">
            <a:extLst xmlns:a="http://schemas.openxmlformats.org/drawingml/2006/main">
              <a:ext uri="{FF2B5EF4-FFF2-40B4-BE49-F238E27FC236}">
                <a16:creationId xmlns:a16="http://schemas.microsoft.com/office/drawing/2014/main" id="{49B311A9-54A0-4F6F-A87E-75361D9CFB8A}"/>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One classifier, three memory cells</a:t>
            </a:r>
          </a:p>
        </p:txBody>
      </p:sp>
      <p:sp>
        <p:nvSpPr>
          <p:cNvPr id="3" name="">
            <a:extLst xmlns:a="http://schemas.openxmlformats.org/drawingml/2006/main">
              <a:ext uri="{FF2B5EF4-FFF2-40B4-BE49-F238E27FC236}">
                <a16:creationId xmlns:a16="http://schemas.microsoft.com/office/drawing/2014/main" id="{44414C01-81B7-45BB-9E1F-90703668F38F}"/>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07C2D03A-5248-4EB9-A68C-110A22B6A2E2}"/>
              </a:ext>
            </a:extLst>
          </p:cNvPr>
          <p:cNvGraphicFramePr/>
          <p:nvPr/>
        </p:nvGraphicFramePr>
        <p:xfrm>
          <a:off xmlns:a="http://schemas.openxmlformats.org/drawingml/2006/main" x="619125" y="2190750"/>
          <a:ext xmlns:a="http://schemas.openxmlformats.org/drawingml/2006/main" cx="10858500" cy="2857500"/>
        </p:xfrm>
        <a:graphic xmlns:a="http://schemas.openxmlformats.org/drawingml/2006/main">
          <a:graphicData uri="http://schemas.openxmlformats.org/drawingml/2006/table">
            <a:tbl>
              <a:tblPr/>
              <a:tblGrid>
                <a:gridCol w="2047875"/>
                <a:gridCol w="6191250"/>
                <a:gridCol w="2619375"/>
              </a:tblGrid>
              <a:tr h="714375">
                <a:tc>
                  <a:txBody>
                    <a:bodyPr/>
                    <a:lstStyle/>
                    <a:p>
                      <a:r>
                        <a:rPr sz="1725" b="1">
                          <a:solidFill>
                            <a:srgbClr val="FFFFFF"/>
                          </a:solidFill>
                          <a:latin typeface="Arial"/>
                          <a:ea typeface="Arial"/>
                          <a:cs typeface="Arial"/>
                        </a:rPr>
                        <a:t>Cell</a:t>
                      </a:r>
                    </a:p>
                  </a:txBody>
                  <a:tcPr marL="91440" marR="91440" marT="45720" marB="45720">
                    <a:solidFill>
                      <a:srgbClr val="102C40"/>
                    </a:solidFill>
                  </a:tcPr>
                </a:tc>
                <a:tc>
                  <a:txBody>
                    <a:bodyPr/>
                    <a:lstStyle/>
                    <a:p>
                      <a:r>
                        <a:rPr sz="1725" b="1">
                          <a:solidFill>
                            <a:srgbClr val="FFFFFF"/>
                          </a:solidFill>
                          <a:latin typeface="Arial"/>
                          <a:ea typeface="Arial"/>
                          <a:cs typeface="Arial"/>
                        </a:rPr>
                        <a:t>Memory mechanism</a:t>
                      </a:r>
                    </a:p>
                  </a:txBody>
                  <a:tcPr marL="91440" marR="91440" marT="45720" marB="45720">
                    <a:solidFill>
                      <a:srgbClr val="102C40"/>
                    </a:solidFill>
                  </a:tcPr>
                </a:tc>
                <a:tc>
                  <a:txBody>
                    <a:bodyPr/>
                    <a:lstStyle/>
                    <a:p>
                      <a:r>
                        <a:rPr sz="1725" b="1">
                          <a:solidFill>
                            <a:srgbClr val="FFFFFF"/>
                          </a:solidFill>
                          <a:latin typeface="Arial"/>
                          <a:ea typeface="Arial"/>
                          <a:cs typeface="Arial"/>
                        </a:rPr>
                        <a:t>Parameters</a:t>
                      </a:r>
                    </a:p>
                  </a:txBody>
                  <a:tcPr marL="91440" marR="91440" marT="45720" marB="45720">
                    <a:solidFill>
                      <a:srgbClr val="102C40"/>
                    </a:solidFill>
                  </a:tcPr>
                </a:tc>
              </a:tr>
              <a:tr h="714375">
                <a:tc>
                  <a:txBody>
                    <a:bodyPr/>
                    <a:lstStyle/>
                    <a:p>
                      <a:r>
                        <a:rPr sz="1725" b="0">
                          <a:solidFill>
                            <a:srgbClr val="18364B"/>
                          </a:solidFill>
                          <a:latin typeface="Arial"/>
                          <a:ea typeface="Arial"/>
                          <a:cs typeface="Arial"/>
                        </a:rPr>
                        <a:t>Vanilla</a:t>
                      </a:r>
                    </a:p>
                  </a:txBody>
                  <a:tcPr marL="91440" marR="91440" marT="45720" marB="45720">
                    <a:solidFill>
                      <a:srgbClr val="E9EFEB"/>
                    </a:solidFill>
                  </a:tcPr>
                </a:tc>
                <a:tc>
                  <a:txBody>
                    <a:bodyPr/>
                    <a:lstStyle/>
                    <a:p>
                      <a:r>
                        <a:rPr sz="1725" b="0">
                          <a:solidFill>
                            <a:srgbClr val="18364B"/>
                          </a:solidFill>
                          <a:latin typeface="Arial"/>
                          <a:ea typeface="Arial"/>
                          <a:cs typeface="Arial"/>
                        </a:rPr>
                        <a:t>Independent input and forget gates</a:t>
                      </a:r>
                    </a:p>
                  </a:txBody>
                  <a:tcPr marL="91440" marR="91440" marT="45720" marB="45720">
                    <a:solidFill>
                      <a:srgbClr val="E9EFEB"/>
                    </a:solidFill>
                  </a:tcPr>
                </a:tc>
                <a:tc>
                  <a:txBody>
                    <a:bodyPr/>
                    <a:lstStyle/>
                    <a:p>
                      <a:r>
                        <a:rPr sz="1725" b="0">
                          <a:solidFill>
                            <a:srgbClr val="18364B"/>
                          </a:solidFill>
                          <a:latin typeface="Arial"/>
                          <a:ea typeface="Arial"/>
                          <a:cs typeface="Arial"/>
                        </a:rPr>
                        <a:t>801,219</a:t>
                      </a:r>
                    </a:p>
                  </a:txBody>
                  <a:tcPr marL="91440" marR="91440" marT="45720" marB="45720">
                    <a:solidFill>
                      <a:srgbClr val="E9EFEB"/>
                    </a:solidFill>
                  </a:tcPr>
                </a:tc>
              </a:tr>
              <a:tr h="714375">
                <a:tc>
                  <a:txBody>
                    <a:bodyPr/>
                    <a:lstStyle/>
                    <a:p>
                      <a:r>
                        <a:rPr sz="1725" b="0">
                          <a:solidFill>
                            <a:srgbClr val="18364B"/>
                          </a:solidFill>
                          <a:latin typeface="Arial"/>
                          <a:ea typeface="Arial"/>
                          <a:cs typeface="Arial"/>
                        </a:rPr>
                        <a:t>CIFG</a:t>
                      </a:r>
                    </a:p>
                  </a:txBody>
                  <a:tcPr marL="91440" marR="91440" marT="45720" marB="45720">
                    <a:solidFill>
                      <a:srgbClr val="F7F5EE"/>
                    </a:solidFill>
                  </a:tcPr>
                </a:tc>
                <a:tc>
                  <a:txBody>
                    <a:bodyPr/>
                    <a:lstStyle/>
                    <a:p>
                      <a:r>
                        <a:rPr sz="1725" b="0">
                          <a:solidFill>
                            <a:srgbClr val="18364B"/>
                          </a:solidFill>
                          <a:latin typeface="Arial"/>
                          <a:ea typeface="Arial"/>
                          <a:cs typeface="Arial"/>
                        </a:rPr>
                        <a:t>Coupled gates: i_t = 1 - f_t</a:t>
                      </a:r>
                    </a:p>
                  </a:txBody>
                  <a:tcPr marL="91440" marR="91440" marT="45720" marB="45720">
                    <a:solidFill>
                      <a:srgbClr val="F7F5EE"/>
                    </a:solidFill>
                  </a:tcPr>
                </a:tc>
                <a:tc>
                  <a:txBody>
                    <a:bodyPr/>
                    <a:lstStyle/>
                    <a:p>
                      <a:r>
                        <a:rPr sz="1725" b="0">
                          <a:solidFill>
                            <a:srgbClr val="18364B"/>
                          </a:solidFill>
                          <a:latin typeface="Arial"/>
                          <a:ea typeface="Arial"/>
                          <a:cs typeface="Arial"/>
                        </a:rPr>
                        <a:t>792,963</a:t>
                      </a:r>
                    </a:p>
                  </a:txBody>
                  <a:tcPr marL="91440" marR="91440" marT="45720" marB="45720">
                    <a:solidFill>
                      <a:srgbClr val="F7F5EE"/>
                    </a:solidFill>
                  </a:tcPr>
                </a:tc>
              </a:tr>
              <a:tr h="714375">
                <a:tc>
                  <a:txBody>
                    <a:bodyPr/>
                    <a:lstStyle/>
                    <a:p>
                      <a:r>
                        <a:rPr sz="1725" b="0">
                          <a:solidFill>
                            <a:srgbClr val="18364B"/>
                          </a:solidFill>
                          <a:latin typeface="Arial"/>
                          <a:ea typeface="Arial"/>
                          <a:cs typeface="Arial"/>
                        </a:rPr>
                        <a:t>WMC</a:t>
                      </a:r>
                    </a:p>
                  </a:txBody>
                  <a:tcPr marL="91440" marR="91440" marT="45720" marB="45720">
                    <a:solidFill>
                      <a:srgbClr val="E9EFEB"/>
                    </a:solidFill>
                  </a:tcPr>
                </a:tc>
                <a:tc>
                  <a:txBody>
                    <a:bodyPr/>
                    <a:lstStyle/>
                    <a:p>
                      <a:r>
                        <a:rPr sz="1725" b="0">
                          <a:solidFill>
                            <a:srgbClr val="18364B"/>
                          </a:solidFill>
                          <a:latin typeface="Arial"/>
                          <a:ea typeface="Arial"/>
                          <a:cs typeface="Arial"/>
                        </a:rPr>
                        <a:t>Memory-to-gate connections</a:t>
                      </a:r>
                    </a:p>
                  </a:txBody>
                  <a:tcPr marL="91440" marR="91440" marT="45720" marB="45720">
                    <a:solidFill>
                      <a:srgbClr val="E9EFEB"/>
                    </a:solidFill>
                  </a:tcPr>
                </a:tc>
                <a:tc>
                  <a:txBody>
                    <a:bodyPr/>
                    <a:lstStyle/>
                    <a:p>
                      <a:r>
                        <a:rPr sz="1725" b="0">
                          <a:solidFill>
                            <a:srgbClr val="18364B"/>
                          </a:solidFill>
                          <a:latin typeface="Arial"/>
                          <a:ea typeface="Arial"/>
                          <a:cs typeface="Arial"/>
                        </a:rPr>
                        <a:t>813,507</a:t>
                      </a:r>
                    </a:p>
                  </a:txBody>
                  <a:tcPr marL="91440" marR="91440" marT="45720" marB="45720">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CDC3F1A7-21D0-4986-B24B-50B13830B001}"/>
              </a:ext>
            </a:extLst>
          </p:cNvPr>
          <p:cNvSpPr>
            <a:spLocks xmlns:a="http://schemas.openxmlformats.org/drawingml/2006/main" noGrp="1"/>
          </p:cNvSpPr>
          <p:nvPr/>
        </p:nvSpPr>
        <p:spPr>
          <a:xfrm xmlns:a="http://schemas.openxmlformats.org/drawingml/2006/main">
            <a:off x="666750" y="5429250"/>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64B"/>
                </a:solidFill>
                <a:latin typeface="Arial"/>
                <a:ea typeface="Arial"/>
                <a:cs typeface="Arial"/>
              </a:defRPr>
            </a:defPPr>
            <a:lvl1pPr>
              <a:defRPr sz="2025" b="1">
                <a:solidFill>
                  <a:srgbClr val="18364B"/>
                </a:solidFill>
                <a:latin typeface="Arial"/>
                <a:ea typeface="Arial"/>
                <a:cs typeface="Arial"/>
              </a:defRPr>
            </a:lvl1pPr>
            <a:lvl2pPr>
              <a:defRPr sz="2025" b="1">
                <a:solidFill>
                  <a:srgbClr val="18364B"/>
                </a:solidFill>
                <a:latin typeface="Arial"/>
                <a:ea typeface="Arial"/>
                <a:cs typeface="Arial"/>
              </a:defRPr>
            </a:lvl2pPr>
            <a:lvl3pPr>
              <a:defRPr sz="2025" b="1">
                <a:solidFill>
                  <a:srgbClr val="18364B"/>
                </a:solidFill>
                <a:latin typeface="Arial"/>
                <a:ea typeface="Arial"/>
                <a:cs typeface="Arial"/>
              </a:defRPr>
            </a:lvl3pPr>
            <a:lvl4pPr>
              <a:defRPr sz="2025" b="1">
                <a:solidFill>
                  <a:srgbClr val="18364B"/>
                </a:solidFill>
                <a:latin typeface="Arial"/>
                <a:ea typeface="Arial"/>
                <a:cs typeface="Arial"/>
              </a:defRPr>
            </a:lvl4pPr>
            <a:lvl5pPr>
              <a:defRPr sz="2025" b="1">
                <a:solidFill>
                  <a:srgbClr val="18364B"/>
                </a:solidFill>
                <a:latin typeface="Arial"/>
                <a:ea typeface="Arial"/>
                <a:cs typeface="Arial"/>
              </a:defRPr>
            </a:lvl5pPr>
            <a:lvl6pPr>
              <a:defRPr sz="2025" b="1">
                <a:solidFill>
                  <a:srgbClr val="18364B"/>
                </a:solidFill>
                <a:latin typeface="Arial"/>
                <a:ea typeface="Arial"/>
                <a:cs typeface="Arial"/>
              </a:defRPr>
            </a:lvl6pPr>
            <a:lvl7pPr>
              <a:defRPr sz="2025" b="1">
                <a:solidFill>
                  <a:srgbClr val="18364B"/>
                </a:solidFill>
                <a:latin typeface="Arial"/>
                <a:ea typeface="Arial"/>
                <a:cs typeface="Arial"/>
              </a:defRPr>
            </a:lvl7pPr>
            <a:lvl8pPr>
              <a:defRPr sz="2025" b="1">
                <a:solidFill>
                  <a:srgbClr val="18364B"/>
                </a:solidFill>
                <a:latin typeface="Arial"/>
                <a:ea typeface="Arial"/>
                <a:cs typeface="Arial"/>
              </a:defRPr>
            </a:lvl8pPr>
            <a:lvl9pPr>
              <a:defRPr sz="2025" b="1">
                <a:solidFill>
                  <a:srgbClr val="18364B"/>
                </a:solidFill>
                <a:latin typeface="Arial"/>
                <a:ea typeface="Arial"/>
                <a:cs typeface="Arial"/>
              </a:defRPr>
            </a:lvl9pPr>
          </a:lstStyle>
          <a:p xmlns:a="http://schemas.openxmlformats.org/drawingml/2006/main">
            <a:pPr>
              <a:defRPr sz="2025" b="1">
                <a:solidFill>
                  <a:srgbClr val="18364B"/>
                </a:solidFill>
                <a:latin typeface="Arial"/>
                <a:ea typeface="Arial"/>
                <a:cs typeface="Arial"/>
              </a:defRPr>
            </a:pPr>
            <a:r>
              <a:rPr sz="2025" b="1">
                <a:solidFill>
                  <a:srgbClr val="18364B"/>
                </a:solidFill>
                <a:latin typeface="Arial"/>
                <a:ea typeface="Arial"/>
                <a:cs typeface="Arial"/>
              </a:rPr>
              <a:t>64-dimensional embeddings and states</a:t>
            </a:r>
          </a:p>
        </p:txBody>
      </p:sp>
      <p:sp>
        <p:nvSpPr>
          <p:cNvPr id="6" name="">
            <a:extLst xmlns:a="http://schemas.openxmlformats.org/drawingml/2006/main">
              <a:ext uri="{FF2B5EF4-FFF2-40B4-BE49-F238E27FC236}">
                <a16:creationId xmlns:a16="http://schemas.microsoft.com/office/drawing/2014/main" id="{3F679303-875C-4F4C-8FAD-119A2527DBF9}"/>
              </a:ext>
            </a:extLst>
          </p:cNvPr>
          <p:cNvSpPr>
            <a:spLocks xmlns:a="http://schemas.openxmlformats.org/drawingml/2006/main" noGrp="1"/>
          </p:cNvSpPr>
          <p:nvPr/>
        </p:nvSpPr>
        <p:spPr>
          <a:xfrm xmlns:a="http://schemas.openxmlformats.org/drawingml/2006/main">
            <a:off x="7667625" y="54292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F7A"/>
                </a:solidFill>
                <a:latin typeface="Arial"/>
                <a:ea typeface="Arial"/>
                <a:cs typeface="Arial"/>
              </a:defRPr>
            </a:defPPr>
            <a:lvl1pPr>
              <a:defRPr sz="2025" b="1">
                <a:solidFill>
                  <a:srgbClr val="007F7A"/>
                </a:solidFill>
                <a:latin typeface="Arial"/>
                <a:ea typeface="Arial"/>
                <a:cs typeface="Arial"/>
              </a:defRPr>
            </a:lvl1pPr>
            <a:lvl2pPr>
              <a:defRPr sz="2025" b="1">
                <a:solidFill>
                  <a:srgbClr val="007F7A"/>
                </a:solidFill>
                <a:latin typeface="Arial"/>
                <a:ea typeface="Arial"/>
                <a:cs typeface="Arial"/>
              </a:defRPr>
            </a:lvl2pPr>
            <a:lvl3pPr>
              <a:defRPr sz="2025" b="1">
                <a:solidFill>
                  <a:srgbClr val="007F7A"/>
                </a:solidFill>
                <a:latin typeface="Arial"/>
                <a:ea typeface="Arial"/>
                <a:cs typeface="Arial"/>
              </a:defRPr>
            </a:lvl3pPr>
            <a:lvl4pPr>
              <a:defRPr sz="2025" b="1">
                <a:solidFill>
                  <a:srgbClr val="007F7A"/>
                </a:solidFill>
                <a:latin typeface="Arial"/>
                <a:ea typeface="Arial"/>
                <a:cs typeface="Arial"/>
              </a:defRPr>
            </a:lvl4pPr>
            <a:lvl5pPr>
              <a:defRPr sz="2025" b="1">
                <a:solidFill>
                  <a:srgbClr val="007F7A"/>
                </a:solidFill>
                <a:latin typeface="Arial"/>
                <a:ea typeface="Arial"/>
                <a:cs typeface="Arial"/>
              </a:defRPr>
            </a:lvl5pPr>
            <a:lvl6pPr>
              <a:defRPr sz="2025" b="1">
                <a:solidFill>
                  <a:srgbClr val="007F7A"/>
                </a:solidFill>
                <a:latin typeface="Arial"/>
                <a:ea typeface="Arial"/>
                <a:cs typeface="Arial"/>
              </a:defRPr>
            </a:lvl6pPr>
            <a:lvl7pPr>
              <a:defRPr sz="2025" b="1">
                <a:solidFill>
                  <a:srgbClr val="007F7A"/>
                </a:solidFill>
                <a:latin typeface="Arial"/>
                <a:ea typeface="Arial"/>
                <a:cs typeface="Arial"/>
              </a:defRPr>
            </a:lvl7pPr>
            <a:lvl8pPr>
              <a:defRPr sz="2025" b="1">
                <a:solidFill>
                  <a:srgbClr val="007F7A"/>
                </a:solidFill>
                <a:latin typeface="Arial"/>
                <a:ea typeface="Arial"/>
                <a:cs typeface="Arial"/>
              </a:defRPr>
            </a:lvl8pPr>
            <a:lvl9pPr>
              <a:defRPr sz="2025" b="1">
                <a:solidFill>
                  <a:srgbClr val="007F7A"/>
                </a:solidFill>
                <a:latin typeface="Arial"/>
                <a:ea typeface="Arial"/>
                <a:cs typeface="Arial"/>
              </a:defRPr>
            </a:lvl9pPr>
          </a:lstStyle>
          <a:p xmlns:a="http://schemas.openxmlformats.org/drawingml/2006/main">
            <a:pPr>
              <a:defRPr sz="2025" b="1">
                <a:solidFill>
                  <a:srgbClr val="007F7A"/>
                </a:solidFill>
                <a:latin typeface="Arial"/>
                <a:ea typeface="Arial"/>
                <a:cs typeface="Arial"/>
              </a:defRPr>
            </a:pPr>
            <a:r>
              <a:rPr sz="2025" b="1">
                <a:solidFill>
                  <a:srgbClr val="007F7A"/>
                </a:solidFill>
                <a:latin typeface="Arial"/>
                <a:ea typeface="Arial"/>
                <a:cs typeface="Arial"/>
              </a:rPr>
              <a:t>Manual nn.Linear cells</a:t>
            </a:r>
          </a:p>
        </p:txBody>
      </p:sp>
    </p:spTree>
    <p:extLst>
      <p:ext uri="{BB962C8B-B14F-4D97-AF65-F5344CB8AC3E}">
        <p14:creationId xmlns:p14="http://schemas.microsoft.com/office/powerpoint/2010/main" val="1770836630"/>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667FCD-A405-4795-B93D-5564A5C3B546}"/>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05 / EXPERIMENT DESIGN</a:t>
            </a:r>
          </a:p>
        </p:txBody>
      </p:sp>
      <p:sp>
        <p:nvSpPr>
          <p:cNvPr id="2" name="">
            <a:extLst xmlns:a="http://schemas.openxmlformats.org/drawingml/2006/main">
              <a:ext uri="{FF2B5EF4-FFF2-40B4-BE49-F238E27FC236}">
                <a16:creationId xmlns:a16="http://schemas.microsoft.com/office/drawing/2014/main" id="{13A2CAE7-F28D-4B9D-BC83-176022628334}"/>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Nine runs with controlled comparisons</a:t>
            </a:r>
          </a:p>
        </p:txBody>
      </p:sp>
      <p:sp>
        <p:nvSpPr>
          <p:cNvPr id="3" name="">
            <a:extLst xmlns:a="http://schemas.openxmlformats.org/drawingml/2006/main">
              <a:ext uri="{FF2B5EF4-FFF2-40B4-BE49-F238E27FC236}">
                <a16:creationId xmlns:a16="http://schemas.microsoft.com/office/drawing/2014/main" id="{36A45467-DCA2-4CF2-AAC9-B9653FA2F67B}"/>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799D34AF-8620-4270-A182-FB6B635975AC}"/>
              </a:ext>
            </a:extLst>
          </p:cNvPr>
          <p:cNvGraphicFramePr/>
          <p:nvPr/>
        </p:nvGraphicFramePr>
        <p:xfrm>
          <a:off xmlns:a="http://schemas.openxmlformats.org/drawingml/2006/main" x="619125" y="2238375"/>
          <a:ext xmlns:a="http://schemas.openxmlformats.org/drawingml/2006/main" cx="4857750" cy="2381250"/>
        </p:xfrm>
        <a:graphic xmlns:a="http://schemas.openxmlformats.org/drawingml/2006/main">
          <a:graphicData uri="http://schemas.openxmlformats.org/drawingml/2006/table">
            <a:tbl>
              <a:tblPr/>
              <a:tblGrid>
                <a:gridCol w="1333500"/>
                <a:gridCol w="2190750"/>
                <a:gridCol w="1333500"/>
              </a:tblGrid>
              <a:tr h="595313">
                <a:tc>
                  <a:txBody>
                    <a:bodyPr/>
                    <a:lstStyle/>
                    <a:p>
                      <a:r>
                        <a:rPr sz="1725" b="1">
                          <a:solidFill>
                            <a:srgbClr val="FFFFFF"/>
                          </a:solidFill>
                          <a:latin typeface="Arial"/>
                          <a:ea typeface="Arial"/>
                          <a:cs typeface="Arial"/>
                        </a:rPr>
                        <a:t>Setting</a:t>
                      </a:r>
                    </a:p>
                  </a:txBody>
                  <a:tcPr marL="91440" marR="91440" marT="45720" marB="45720">
                    <a:solidFill>
                      <a:srgbClr val="102C40"/>
                    </a:solidFill>
                  </a:tcPr>
                </a:tc>
                <a:tc>
                  <a:txBody>
                    <a:bodyPr/>
                    <a:lstStyle/>
                    <a:p>
                      <a:r>
                        <a:rPr sz="1725" b="1">
                          <a:solidFill>
                            <a:srgbClr val="FFFFFF"/>
                          </a:solidFill>
                          <a:latin typeface="Arial"/>
                          <a:ea typeface="Arial"/>
                          <a:cs typeface="Arial"/>
                        </a:rPr>
                        <a:t>Learning rate</a:t>
                      </a:r>
                    </a:p>
                  </a:txBody>
                  <a:tcPr marL="91440" marR="91440" marT="45720" marB="45720">
                    <a:solidFill>
                      <a:srgbClr val="102C40"/>
                    </a:solidFill>
                  </a:tcPr>
                </a:tc>
                <a:tc>
                  <a:txBody>
                    <a:bodyPr/>
                    <a:lstStyle/>
                    <a:p>
                      <a:r>
                        <a:rPr sz="1725" b="1">
                          <a:solidFill>
                            <a:srgbClr val="FFFFFF"/>
                          </a:solidFill>
                          <a:latin typeface="Arial"/>
                          <a:ea typeface="Arial"/>
                          <a:cs typeface="Arial"/>
                        </a:rPr>
                        <a:t>Batch</a:t>
                      </a:r>
                    </a:p>
                  </a:txBody>
                  <a:tcPr marL="91440" marR="91440" marT="45720" marB="45720">
                    <a:solidFill>
                      <a:srgbClr val="102C40"/>
                    </a:solidFill>
                  </a:tcPr>
                </a:tc>
              </a:tr>
              <a:tr h="595313">
                <a:tc>
                  <a:txBody>
                    <a:bodyPr/>
                    <a:lstStyle/>
                    <a:p>
                      <a:r>
                        <a:rPr sz="1725" b="0">
                          <a:solidFill>
                            <a:srgbClr val="18364B"/>
                          </a:solidFill>
                          <a:latin typeface="Arial"/>
                          <a:ea typeface="Arial"/>
                          <a:cs typeface="Arial"/>
                        </a:rPr>
                        <a:t>A</a:t>
                      </a:r>
                    </a:p>
                  </a:txBody>
                  <a:tcPr marL="91440" marR="91440" marT="45720" marB="45720">
                    <a:solidFill>
                      <a:srgbClr val="E9EFEB"/>
                    </a:solidFill>
                  </a:tcPr>
                </a:tc>
                <a:tc>
                  <a:txBody>
                    <a:bodyPr/>
                    <a:lstStyle/>
                    <a:p>
                      <a:r>
                        <a:rPr sz="1725" b="0">
                          <a:solidFill>
                            <a:srgbClr val="18364B"/>
                          </a:solidFill>
                          <a:latin typeface="Arial"/>
                          <a:ea typeface="Arial"/>
                          <a:cs typeface="Arial"/>
                        </a:rPr>
                        <a:t>0.001</a:t>
                      </a:r>
                    </a:p>
                  </a:txBody>
                  <a:tcPr marL="91440" marR="91440" marT="45720" marB="45720">
                    <a:solidFill>
                      <a:srgbClr val="E9EFEB"/>
                    </a:solidFill>
                  </a:tcPr>
                </a:tc>
                <a:tc>
                  <a:txBody>
                    <a:bodyPr/>
                    <a:lstStyle/>
                    <a:p>
                      <a:r>
                        <a:rPr sz="1725" b="0">
                          <a:solidFill>
                            <a:srgbClr val="18364B"/>
                          </a:solidFill>
                          <a:latin typeface="Arial"/>
                          <a:ea typeface="Arial"/>
                          <a:cs typeface="Arial"/>
                        </a:rPr>
                        <a:t>128</a:t>
                      </a:r>
                    </a:p>
                  </a:txBody>
                  <a:tcPr marL="91440" marR="91440" marT="45720" marB="45720">
                    <a:solidFill>
                      <a:srgbClr val="E9EFEB"/>
                    </a:solidFill>
                  </a:tcPr>
                </a:tc>
              </a:tr>
              <a:tr h="595313">
                <a:tc>
                  <a:txBody>
                    <a:bodyPr/>
                    <a:lstStyle/>
                    <a:p>
                      <a:r>
                        <a:rPr sz="1725" b="0">
                          <a:solidFill>
                            <a:srgbClr val="18364B"/>
                          </a:solidFill>
                          <a:latin typeface="Arial"/>
                          <a:ea typeface="Arial"/>
                          <a:cs typeface="Arial"/>
                        </a:rPr>
                        <a:t>B</a:t>
                      </a:r>
                    </a:p>
                  </a:txBody>
                  <a:tcPr marL="91440" marR="91440" marT="45720" marB="45720">
                    <a:solidFill>
                      <a:srgbClr val="F7F5EE"/>
                    </a:solidFill>
                  </a:tcPr>
                </a:tc>
                <a:tc>
                  <a:txBody>
                    <a:bodyPr/>
                    <a:lstStyle/>
                    <a:p>
                      <a:r>
                        <a:rPr sz="1725" b="0">
                          <a:solidFill>
                            <a:srgbClr val="18364B"/>
                          </a:solidFill>
                          <a:latin typeface="Arial"/>
                          <a:ea typeface="Arial"/>
                          <a:cs typeface="Arial"/>
                        </a:rPr>
                        <a:t>0.003</a:t>
                      </a:r>
                    </a:p>
                  </a:txBody>
                  <a:tcPr marL="91440" marR="91440" marT="45720" marB="45720">
                    <a:solidFill>
                      <a:srgbClr val="F7F5EE"/>
                    </a:solidFill>
                  </a:tcPr>
                </a:tc>
                <a:tc>
                  <a:txBody>
                    <a:bodyPr/>
                    <a:lstStyle/>
                    <a:p>
                      <a:r>
                        <a:rPr sz="1725" b="0">
                          <a:solidFill>
                            <a:srgbClr val="18364B"/>
                          </a:solidFill>
                          <a:latin typeface="Arial"/>
                          <a:ea typeface="Arial"/>
                          <a:cs typeface="Arial"/>
                        </a:rPr>
                        <a:t>128</a:t>
                      </a:r>
                    </a:p>
                  </a:txBody>
                  <a:tcPr marL="91440" marR="91440" marT="45720" marB="45720">
                    <a:solidFill>
                      <a:srgbClr val="F7F5EE"/>
                    </a:solidFill>
                  </a:tcPr>
                </a:tc>
              </a:tr>
              <a:tr h="595313">
                <a:tc>
                  <a:txBody>
                    <a:bodyPr/>
                    <a:lstStyle/>
                    <a:p>
                      <a:r>
                        <a:rPr sz="1725" b="0">
                          <a:solidFill>
                            <a:srgbClr val="18364B"/>
                          </a:solidFill>
                          <a:latin typeface="Arial"/>
                          <a:ea typeface="Arial"/>
                          <a:cs typeface="Arial"/>
                        </a:rPr>
                        <a:t>C</a:t>
                      </a:r>
                    </a:p>
                  </a:txBody>
                  <a:tcPr marL="91440" marR="91440" marT="45720" marB="45720">
                    <a:solidFill>
                      <a:srgbClr val="E9EFEB"/>
                    </a:solidFill>
                  </a:tcPr>
                </a:tc>
                <a:tc>
                  <a:txBody>
                    <a:bodyPr/>
                    <a:lstStyle/>
                    <a:p>
                      <a:r>
                        <a:rPr sz="1725" b="0">
                          <a:solidFill>
                            <a:srgbClr val="18364B"/>
                          </a:solidFill>
                          <a:latin typeface="Arial"/>
                          <a:ea typeface="Arial"/>
                          <a:cs typeface="Arial"/>
                        </a:rPr>
                        <a:t>0.001</a:t>
                      </a:r>
                    </a:p>
                  </a:txBody>
                  <a:tcPr marL="91440" marR="91440" marT="45720" marB="45720">
                    <a:solidFill>
                      <a:srgbClr val="E9EFEB"/>
                    </a:solidFill>
                  </a:tcPr>
                </a:tc>
                <a:tc>
                  <a:txBody>
                    <a:bodyPr/>
                    <a:lstStyle/>
                    <a:p>
                      <a:r>
                        <a:rPr sz="1725" b="0">
                          <a:solidFill>
                            <a:srgbClr val="18364B"/>
                          </a:solidFill>
                          <a:latin typeface="Arial"/>
                          <a:ea typeface="Arial"/>
                          <a:cs typeface="Arial"/>
                        </a:rPr>
                        <a:t>64</a:t>
                      </a:r>
                    </a:p>
                  </a:txBody>
                  <a:tcPr marL="91440" marR="91440" marT="45720" marB="45720">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FABCA993-8B09-41B1-9290-1BF70DFBBE62}"/>
              </a:ext>
            </a:extLst>
          </p:cNvPr>
          <p:cNvSpPr>
            <a:spLocks xmlns:a="http://schemas.openxmlformats.org/drawingml/2006/main" noGrp="1"/>
          </p:cNvSpPr>
          <p:nvPr/>
        </p:nvSpPr>
        <p:spPr>
          <a:xfrm xmlns:a="http://schemas.openxmlformats.org/drawingml/2006/main">
            <a:off x="666750" y="49053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64B"/>
                </a:solidFill>
                <a:latin typeface="Arial"/>
                <a:ea typeface="Arial"/>
                <a:cs typeface="Arial"/>
              </a:defRPr>
            </a:defPPr>
            <a:lvl1pPr>
              <a:defRPr sz="1800" b="0">
                <a:solidFill>
                  <a:srgbClr val="18364B"/>
                </a:solidFill>
                <a:latin typeface="Arial"/>
                <a:ea typeface="Arial"/>
                <a:cs typeface="Arial"/>
              </a:defRPr>
            </a:lvl1pPr>
            <a:lvl2pPr>
              <a:defRPr sz="1800" b="0">
                <a:solidFill>
                  <a:srgbClr val="18364B"/>
                </a:solidFill>
                <a:latin typeface="Arial"/>
                <a:ea typeface="Arial"/>
                <a:cs typeface="Arial"/>
              </a:defRPr>
            </a:lvl2pPr>
            <a:lvl3pPr>
              <a:defRPr sz="1800" b="0">
                <a:solidFill>
                  <a:srgbClr val="18364B"/>
                </a:solidFill>
                <a:latin typeface="Arial"/>
                <a:ea typeface="Arial"/>
                <a:cs typeface="Arial"/>
              </a:defRPr>
            </a:lvl3pPr>
            <a:lvl4pPr>
              <a:defRPr sz="1800" b="0">
                <a:solidFill>
                  <a:srgbClr val="18364B"/>
                </a:solidFill>
                <a:latin typeface="Arial"/>
                <a:ea typeface="Arial"/>
                <a:cs typeface="Arial"/>
              </a:defRPr>
            </a:lvl4pPr>
            <a:lvl5pPr>
              <a:defRPr sz="1800" b="0">
                <a:solidFill>
                  <a:srgbClr val="18364B"/>
                </a:solidFill>
                <a:latin typeface="Arial"/>
                <a:ea typeface="Arial"/>
                <a:cs typeface="Arial"/>
              </a:defRPr>
            </a:lvl5pPr>
            <a:lvl6pPr>
              <a:defRPr sz="1800" b="0">
                <a:solidFill>
                  <a:srgbClr val="18364B"/>
                </a:solidFill>
                <a:latin typeface="Arial"/>
                <a:ea typeface="Arial"/>
                <a:cs typeface="Arial"/>
              </a:defRPr>
            </a:lvl6pPr>
            <a:lvl7pPr>
              <a:defRPr sz="1800" b="0">
                <a:solidFill>
                  <a:srgbClr val="18364B"/>
                </a:solidFill>
                <a:latin typeface="Arial"/>
                <a:ea typeface="Arial"/>
                <a:cs typeface="Arial"/>
              </a:defRPr>
            </a:lvl7pPr>
            <a:lvl8pPr>
              <a:defRPr sz="1800" b="0">
                <a:solidFill>
                  <a:srgbClr val="18364B"/>
                </a:solidFill>
                <a:latin typeface="Arial"/>
                <a:ea typeface="Arial"/>
                <a:cs typeface="Arial"/>
              </a:defRPr>
            </a:lvl8pPr>
            <a:lvl9pPr>
              <a:defRPr sz="1800" b="0">
                <a:solidFill>
                  <a:srgbClr val="18364B"/>
                </a:solidFill>
                <a:latin typeface="Arial"/>
                <a:ea typeface="Arial"/>
                <a:cs typeface="Arial"/>
              </a:defRPr>
            </a:lvl9pPr>
          </a:lstStyle>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Adam / 4 epochs / seed 42</a:t>
            </a:r>
          </a:p>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Weighted loss / gradient clipping 1.0</a:t>
            </a:r>
          </a:p>
        </p:txBody>
      </p:sp>
      <p:graphicFrame>
        <p:nvGraphicFramePr>
          <p:cNvPr id="6" name="Chart">
            <a:extLst xmlns:a="http://schemas.openxmlformats.org/drawingml/2006/main">
              <a:ext uri="{FF2B5EF4-FFF2-40B4-BE49-F238E27FC236}">
                <a16:creationId xmlns:a16="http://schemas.microsoft.com/office/drawing/2014/main" id="{12109901-61AB-49D2-9A7B-C3CF8DD20D9A}"/>
              </a:ext>
            </a:extLst>
          </p:cNvPr>
          <p:cNvGraphicFramePr/>
          <p:nvPr/>
        </p:nvGraphicFramePr>
        <p:xfrm>
          <a:off xmlns:a="http://schemas.openxmlformats.org/drawingml/2006/main" x="5953125" y="2143125"/>
          <a:ext xmlns:a="http://schemas.openxmlformats.org/drawingml/2006/main" cx="5619750" cy="3429000"/>
        </p:xfrm>
        <a:graphic xmlns:a="http://schemas.openxmlformats.org/drawingml/2006/main">
          <a:graphicData uri="http://schemas.openxmlformats.org/drawingml/2006/chart">
            <c:chart xmlns:r="http://schemas.openxmlformats.org/officeDocument/2006/relationships" xmlns:c="http://schemas.openxmlformats.org/drawingml/2006/chart" r:id="R1bd555057f8e4338"/>
          </a:graphicData>
        </a:graphic>
      </p:graphicFrame>
    </p:spTree>
    <p:extLst>
      <p:ext uri="{BB962C8B-B14F-4D97-AF65-F5344CB8AC3E}">
        <p14:creationId xmlns:p14="http://schemas.microsoft.com/office/powerpoint/2010/main" val="798426942"/>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419D48-F36B-4EC5-88E7-0F6234DFB950}"/>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06 / FINAL EVALUATION</a:t>
            </a:r>
          </a:p>
        </p:txBody>
      </p:sp>
      <p:sp>
        <p:nvSpPr>
          <p:cNvPr id="2" name="">
            <a:extLst xmlns:a="http://schemas.openxmlformats.org/drawingml/2006/main">
              <a:ext uri="{FF2B5EF4-FFF2-40B4-BE49-F238E27FC236}">
                <a16:creationId xmlns:a16="http://schemas.microsoft.com/office/drawing/2014/main" id="{D5DE10CF-EC0C-4BFF-A923-9F0BE2290C57}"/>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CIFG leads macro-F1 in this experiment</a:t>
            </a:r>
          </a:p>
        </p:txBody>
      </p:sp>
      <p:sp>
        <p:nvSpPr>
          <p:cNvPr id="3" name="">
            <a:extLst xmlns:a="http://schemas.openxmlformats.org/drawingml/2006/main">
              <a:ext uri="{FF2B5EF4-FFF2-40B4-BE49-F238E27FC236}">
                <a16:creationId xmlns:a16="http://schemas.microsoft.com/office/drawing/2014/main" id="{2A5B776C-D18D-4E57-8C53-6F9937D82267}"/>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94758169-A329-40E5-BD51-B3EE57B8ABCE}"/>
              </a:ext>
            </a:extLst>
          </p:cNvPr>
          <p:cNvGraphicFramePr/>
          <p:nvPr/>
        </p:nvGraphicFramePr>
        <p:xfrm>
          <a:off xmlns:a="http://schemas.openxmlformats.org/drawingml/2006/main" x="523875" y="2095500"/>
          <a:ext xmlns:a="http://schemas.openxmlformats.org/drawingml/2006/main" cx="7239000" cy="3667125"/>
        </p:xfrm>
        <a:graphic xmlns:a="http://schemas.openxmlformats.org/drawingml/2006/main">
          <a:graphicData uri="http://schemas.openxmlformats.org/drawingml/2006/chart">
            <c:chart xmlns:r="http://schemas.openxmlformats.org/officeDocument/2006/relationships" xmlns:c="http://schemas.openxmlformats.org/drawingml/2006/chart" r:id="Rd4e9a64a48b4461d"/>
          </a:graphicData>
        </a:graphic>
      </p:graphicFrame>
      <p:graphicFrame>
        <p:nvGraphicFramePr>
          <p:cNvPr id="5" name="">
            <a:extLst xmlns:a="http://schemas.openxmlformats.org/drawingml/2006/main">
              <a:ext uri="{FF2B5EF4-FFF2-40B4-BE49-F238E27FC236}">
                <a16:creationId xmlns:a16="http://schemas.microsoft.com/office/drawing/2014/main" id="{04D3FBA6-E6B5-43CB-8B41-8254B1D5EDEE}"/>
              </a:ext>
            </a:extLst>
          </p:cNvPr>
          <p:cNvGraphicFramePr/>
          <p:nvPr/>
        </p:nvGraphicFramePr>
        <p:xfrm>
          <a:off xmlns:a="http://schemas.openxmlformats.org/drawingml/2006/main" x="8239125" y="2190750"/>
          <a:ext xmlns:a="http://schemas.openxmlformats.org/drawingml/2006/main" cx="3286125" cy="2857500"/>
        </p:xfrm>
        <a:graphic xmlns:a="http://schemas.openxmlformats.org/drawingml/2006/main">
          <a:graphicData uri="http://schemas.openxmlformats.org/drawingml/2006/table">
            <a:tbl>
              <a:tblPr/>
              <a:tblGrid>
                <a:gridCol w="2095500"/>
                <a:gridCol w="1190625"/>
              </a:tblGrid>
              <a:tr h="571500">
                <a:tc>
                  <a:txBody>
                    <a:bodyPr/>
                    <a:lstStyle/>
                    <a:p>
                      <a:r>
                        <a:rPr sz="1725" b="1">
                          <a:solidFill>
                            <a:srgbClr val="FFFFFF"/>
                          </a:solidFill>
                          <a:latin typeface="Arial"/>
                          <a:ea typeface="Arial"/>
                          <a:cs typeface="Arial"/>
                        </a:rPr>
                        <a:t>Model</a:t>
                      </a:r>
                    </a:p>
                  </a:txBody>
                  <a:tcPr marL="91440" marR="91440" marT="45720" marB="45720">
                    <a:solidFill>
                      <a:srgbClr val="102C40"/>
                    </a:solidFill>
                  </a:tcPr>
                </a:tc>
                <a:tc>
                  <a:txBody>
                    <a:bodyPr/>
                    <a:lstStyle/>
                    <a:p>
                      <a:r>
                        <a:rPr sz="1725" b="1">
                          <a:solidFill>
                            <a:srgbClr val="FFFFFF"/>
                          </a:solidFill>
                          <a:latin typeface="Arial"/>
                          <a:ea typeface="Arial"/>
                          <a:cs typeface="Arial"/>
                        </a:rPr>
                        <a:t>Accuracy</a:t>
                      </a:r>
                    </a:p>
                  </a:txBody>
                  <a:tcPr marL="91440" marR="91440" marT="45720" marB="45720">
                    <a:solidFill>
                      <a:srgbClr val="102C40"/>
                    </a:solidFill>
                  </a:tcPr>
                </a:tc>
              </a:tr>
              <a:tr h="571500">
                <a:tc>
                  <a:txBody>
                    <a:bodyPr/>
                    <a:lstStyle/>
                    <a:p>
                      <a:r>
                        <a:rPr sz="1725" b="0">
                          <a:solidFill>
                            <a:srgbClr val="18364B"/>
                          </a:solidFill>
                          <a:latin typeface="Arial"/>
                          <a:ea typeface="Arial"/>
                          <a:cs typeface="Arial"/>
                        </a:rPr>
                        <a:t>Vanilla</a:t>
                      </a:r>
                    </a:p>
                  </a:txBody>
                  <a:tcPr marL="91440" marR="91440" marT="45720" marB="45720">
                    <a:solidFill>
                      <a:srgbClr val="E9EFEB"/>
                    </a:solidFill>
                  </a:tcPr>
                </a:tc>
                <a:tc>
                  <a:txBody>
                    <a:bodyPr/>
                    <a:lstStyle/>
                    <a:p>
                      <a:r>
                        <a:rPr sz="1725" b="0">
                          <a:solidFill>
                            <a:srgbClr val="18364B"/>
                          </a:solidFill>
                          <a:latin typeface="Arial"/>
                          <a:ea typeface="Arial"/>
                          <a:cs typeface="Arial"/>
                        </a:rPr>
                        <a:t>58.88%</a:t>
                      </a:r>
                    </a:p>
                  </a:txBody>
                  <a:tcPr marL="91440" marR="91440" marT="45720" marB="45720">
                    <a:solidFill>
                      <a:srgbClr val="E9EFEB"/>
                    </a:solidFill>
                  </a:tcPr>
                </a:tc>
              </a:tr>
              <a:tr h="571500">
                <a:tc>
                  <a:txBody>
                    <a:bodyPr/>
                    <a:lstStyle/>
                    <a:p>
                      <a:r>
                        <a:rPr sz="1725" b="0">
                          <a:solidFill>
                            <a:srgbClr val="18364B"/>
                          </a:solidFill>
                          <a:latin typeface="Arial"/>
                          <a:ea typeface="Arial"/>
                          <a:cs typeface="Arial"/>
                        </a:rPr>
                        <a:t>CIFG</a:t>
                      </a:r>
                    </a:p>
                  </a:txBody>
                  <a:tcPr marL="91440" marR="91440" marT="45720" marB="45720">
                    <a:solidFill>
                      <a:srgbClr val="F7F5EE"/>
                    </a:solidFill>
                  </a:tcPr>
                </a:tc>
                <a:tc>
                  <a:txBody>
                    <a:bodyPr/>
                    <a:lstStyle/>
                    <a:p>
                      <a:r>
                        <a:rPr sz="1725" b="0">
                          <a:solidFill>
                            <a:srgbClr val="18364B"/>
                          </a:solidFill>
                          <a:latin typeface="Arial"/>
                          <a:ea typeface="Arial"/>
                          <a:cs typeface="Arial"/>
                        </a:rPr>
                        <a:t>63.95%</a:t>
                      </a:r>
                    </a:p>
                  </a:txBody>
                  <a:tcPr marL="91440" marR="91440" marT="45720" marB="45720">
                    <a:solidFill>
                      <a:srgbClr val="F7F5EE"/>
                    </a:solidFill>
                  </a:tcPr>
                </a:tc>
              </a:tr>
              <a:tr h="571500">
                <a:tc>
                  <a:txBody>
                    <a:bodyPr/>
                    <a:lstStyle/>
                    <a:p>
                      <a:r>
                        <a:rPr sz="1725" b="0">
                          <a:solidFill>
                            <a:srgbClr val="18364B"/>
                          </a:solidFill>
                          <a:latin typeface="Arial"/>
                          <a:ea typeface="Arial"/>
                          <a:cs typeface="Arial"/>
                        </a:rPr>
                        <a:t>WMC</a:t>
                      </a:r>
                    </a:p>
                  </a:txBody>
                  <a:tcPr marL="91440" marR="91440" marT="45720" marB="45720">
                    <a:solidFill>
                      <a:srgbClr val="E9EFEB"/>
                    </a:solidFill>
                  </a:tcPr>
                </a:tc>
                <a:tc>
                  <a:txBody>
                    <a:bodyPr/>
                    <a:lstStyle/>
                    <a:p>
                      <a:r>
                        <a:rPr sz="1725" b="0">
                          <a:solidFill>
                            <a:srgbClr val="18364B"/>
                          </a:solidFill>
                          <a:latin typeface="Arial"/>
                          <a:ea typeface="Arial"/>
                          <a:cs typeface="Arial"/>
                        </a:rPr>
                        <a:t>62.93%</a:t>
                      </a:r>
                    </a:p>
                  </a:txBody>
                  <a:tcPr marL="91440" marR="91440" marT="45720" marB="45720">
                    <a:solidFill>
                      <a:srgbClr val="E9EFEB"/>
                    </a:solidFill>
                  </a:tcPr>
                </a:tc>
              </a:tr>
              <a:tr h="571500">
                <a:tc>
                  <a:txBody>
                    <a:bodyPr/>
                    <a:lstStyle/>
                    <a:p>
                      <a:r>
                        <a:rPr sz="1725" b="0">
                          <a:solidFill>
                            <a:srgbClr val="18364B"/>
                          </a:solidFill>
                          <a:latin typeface="Arial"/>
                          <a:ea typeface="Arial"/>
                          <a:cs typeface="Arial"/>
                        </a:rPr>
                        <a:t>Majority</a:t>
                      </a:r>
                    </a:p>
                  </a:txBody>
                  <a:tcPr marL="91440" marR="91440" marT="45720" marB="45720">
                    <a:solidFill>
                      <a:srgbClr val="F7F5EE"/>
                    </a:solidFill>
                  </a:tcPr>
                </a:tc>
                <a:tc>
                  <a:txBody>
                    <a:bodyPr/>
                    <a:lstStyle/>
                    <a:p>
                      <a:r>
                        <a:rPr sz="1725" b="0">
                          <a:solidFill>
                            <a:srgbClr val="18364B"/>
                          </a:solidFill>
                          <a:latin typeface="Arial"/>
                          <a:ea typeface="Arial"/>
                          <a:cs typeface="Arial"/>
                        </a:rPr>
                        <a:t>66.40%</a:t>
                      </a:r>
                    </a:p>
                  </a:txBody>
                  <a:tcPr marL="91440" marR="91440" marT="45720" marB="45720">
                    <a:solidFill>
                      <a:srgbClr val="F7F5EE"/>
                    </a:solidFill>
                  </a:tcPr>
                </a:tc>
              </a:tr>
            </a:tbl>
          </a:graphicData>
        </a:graphic>
      </p:graphicFrame>
      <p:sp>
        <p:nvSpPr>
          <p:cNvPr id="6" name="">
            <a:extLst xmlns:a="http://schemas.openxmlformats.org/drawingml/2006/main">
              <a:ext uri="{FF2B5EF4-FFF2-40B4-BE49-F238E27FC236}">
                <a16:creationId xmlns:a16="http://schemas.microsoft.com/office/drawing/2014/main" id="{93905D2F-375B-4737-85C5-3D28D4BC53C3}"/>
              </a:ext>
            </a:extLst>
          </p:cNvPr>
          <p:cNvSpPr>
            <a:spLocks xmlns:a="http://schemas.openxmlformats.org/drawingml/2006/main" noGrp="1"/>
          </p:cNvSpPr>
          <p:nvPr/>
        </p:nvSpPr>
        <p:spPr>
          <a:xfrm xmlns:a="http://schemas.openxmlformats.org/drawingml/2006/main">
            <a:off x="666750" y="6000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526878"/>
                </a:solidFill>
                <a:latin typeface="Arial"/>
                <a:ea typeface="Arial"/>
                <a:cs typeface="Arial"/>
              </a:defRPr>
            </a:defPPr>
            <a:lvl1pPr>
              <a:defRPr sz="1725" b="1">
                <a:solidFill>
                  <a:srgbClr val="526878"/>
                </a:solidFill>
                <a:latin typeface="Arial"/>
                <a:ea typeface="Arial"/>
                <a:cs typeface="Arial"/>
              </a:defRPr>
            </a:lvl1pPr>
            <a:lvl2pPr>
              <a:defRPr sz="1725" b="1">
                <a:solidFill>
                  <a:srgbClr val="526878"/>
                </a:solidFill>
                <a:latin typeface="Arial"/>
                <a:ea typeface="Arial"/>
                <a:cs typeface="Arial"/>
              </a:defRPr>
            </a:lvl2pPr>
            <a:lvl3pPr>
              <a:defRPr sz="1725" b="1">
                <a:solidFill>
                  <a:srgbClr val="526878"/>
                </a:solidFill>
                <a:latin typeface="Arial"/>
                <a:ea typeface="Arial"/>
                <a:cs typeface="Arial"/>
              </a:defRPr>
            </a:lvl3pPr>
            <a:lvl4pPr>
              <a:defRPr sz="1725" b="1">
                <a:solidFill>
                  <a:srgbClr val="526878"/>
                </a:solidFill>
                <a:latin typeface="Arial"/>
                <a:ea typeface="Arial"/>
                <a:cs typeface="Arial"/>
              </a:defRPr>
            </a:lvl4pPr>
            <a:lvl5pPr>
              <a:defRPr sz="1725" b="1">
                <a:solidFill>
                  <a:srgbClr val="526878"/>
                </a:solidFill>
                <a:latin typeface="Arial"/>
                <a:ea typeface="Arial"/>
                <a:cs typeface="Arial"/>
              </a:defRPr>
            </a:lvl5pPr>
            <a:lvl6pPr>
              <a:defRPr sz="1725" b="1">
                <a:solidFill>
                  <a:srgbClr val="526878"/>
                </a:solidFill>
                <a:latin typeface="Arial"/>
                <a:ea typeface="Arial"/>
                <a:cs typeface="Arial"/>
              </a:defRPr>
            </a:lvl6pPr>
            <a:lvl7pPr>
              <a:defRPr sz="1725" b="1">
                <a:solidFill>
                  <a:srgbClr val="526878"/>
                </a:solidFill>
                <a:latin typeface="Arial"/>
                <a:ea typeface="Arial"/>
                <a:cs typeface="Arial"/>
              </a:defRPr>
            </a:lvl7pPr>
            <a:lvl8pPr>
              <a:defRPr sz="1725" b="1">
                <a:solidFill>
                  <a:srgbClr val="526878"/>
                </a:solidFill>
                <a:latin typeface="Arial"/>
                <a:ea typeface="Arial"/>
                <a:cs typeface="Arial"/>
              </a:defRPr>
            </a:lvl8pPr>
            <a:lvl9pPr>
              <a:defRPr sz="1725" b="1">
                <a:solidFill>
                  <a:srgbClr val="526878"/>
                </a:solidFill>
                <a:latin typeface="Arial"/>
                <a:ea typeface="Arial"/>
                <a:cs typeface="Arial"/>
              </a:defRPr>
            </a:lvl9pPr>
          </a:lstStyle>
          <a:p xmlns:a="http://schemas.openxmlformats.org/drawingml/2006/main">
            <a:pPr>
              <a:defRPr sz="1725" b="1">
                <a:solidFill>
                  <a:srgbClr val="526878"/>
                </a:solidFill>
                <a:latin typeface="Arial"/>
                <a:ea typeface="Arial"/>
                <a:cs typeface="Arial"/>
              </a:defRPr>
            </a:pPr>
            <a:r>
              <a:rPr sz="1725" b="1">
                <a:solidFill>
                  <a:srgbClr val="526878"/>
                </a:solidFill>
                <a:latin typeface="Arial"/>
                <a:ea typeface="Arial"/>
                <a:cs typeface="Arial"/>
              </a:rPr>
              <a:t>Better class balance in the predictions, but accuracy still trails the majority baseline.</a:t>
            </a:r>
          </a:p>
        </p:txBody>
      </p:sp>
    </p:spTree>
    <p:extLst>
      <p:ext uri="{BB962C8B-B14F-4D97-AF65-F5344CB8AC3E}">
        <p14:creationId xmlns:p14="http://schemas.microsoft.com/office/powerpoint/2010/main" val="718201561"/>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A181E3-A7FC-4197-97B6-9400BA41A4A2}"/>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07 / ERROR ANALYSIS</a:t>
            </a:r>
          </a:p>
        </p:txBody>
      </p:sp>
      <p:sp>
        <p:nvSpPr>
          <p:cNvPr id="2" name="">
            <a:extLst xmlns:a="http://schemas.openxmlformats.org/drawingml/2006/main">
              <a:ext uri="{FF2B5EF4-FFF2-40B4-BE49-F238E27FC236}">
                <a16:creationId xmlns:a16="http://schemas.microsoft.com/office/drawing/2014/main" id="{9B1C1F19-446A-46AD-85F8-AACFCB23C9E4}"/>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Neutral sentiment remains the weak point</a:t>
            </a:r>
          </a:p>
        </p:txBody>
      </p:sp>
      <p:sp>
        <p:nvSpPr>
          <p:cNvPr id="3" name="">
            <a:extLst xmlns:a="http://schemas.openxmlformats.org/drawingml/2006/main">
              <a:ext uri="{FF2B5EF4-FFF2-40B4-BE49-F238E27FC236}">
                <a16:creationId xmlns:a16="http://schemas.microsoft.com/office/drawing/2014/main" id="{177D1047-18F6-4CDC-B7A9-44E50F95CC54}"/>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EC804E02-2253-44F4-9685-EFF641F08E58}"/>
              </a:ext>
            </a:extLst>
          </p:cNvPr>
          <p:cNvGraphicFramePr/>
          <p:nvPr/>
        </p:nvGraphicFramePr>
        <p:xfrm>
          <a:off xmlns:a="http://schemas.openxmlformats.org/drawingml/2006/main" x="523875" y="2143125"/>
          <a:ext xmlns:a="http://schemas.openxmlformats.org/drawingml/2006/main" cx="7239000" cy="3667125"/>
        </p:xfrm>
        <a:graphic xmlns:a="http://schemas.openxmlformats.org/drawingml/2006/main">
          <a:graphicData uri="http://schemas.openxmlformats.org/drawingml/2006/chart">
            <c:chart xmlns:r="http://schemas.openxmlformats.org/officeDocument/2006/relationships" xmlns:c="http://schemas.openxmlformats.org/drawingml/2006/chart" r:id="R17f481b38d954f70"/>
          </a:graphicData>
        </a:graphic>
      </p:graphicFrame>
      <p:sp>
        <p:nvSpPr>
          <p:cNvPr id="5" name="">
            <a:extLst xmlns:a="http://schemas.openxmlformats.org/drawingml/2006/main">
              <a:ext uri="{FF2B5EF4-FFF2-40B4-BE49-F238E27FC236}">
                <a16:creationId xmlns:a16="http://schemas.microsoft.com/office/drawing/2014/main" id="{F334AB2C-6C47-4877-9A16-D5313E8370B1}"/>
              </a:ext>
            </a:extLst>
          </p:cNvPr>
          <p:cNvSpPr>
            <a:spLocks xmlns:a="http://schemas.openxmlformats.org/drawingml/2006/main" noGrp="1"/>
          </p:cNvSpPr>
          <p:nvPr/>
        </p:nvSpPr>
        <p:spPr>
          <a:xfrm xmlns:a="http://schemas.openxmlformats.org/drawingml/2006/main">
            <a:off x="81915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550" b="1">
                <a:solidFill>
                  <a:srgbClr val="B26D16"/>
                </a:solidFill>
                <a:latin typeface="Arial"/>
                <a:ea typeface="Arial"/>
                <a:cs typeface="Arial"/>
              </a:defRPr>
            </a:defPPr>
            <a:lvl1pPr>
              <a:defRPr sz="5550" b="1">
                <a:solidFill>
                  <a:srgbClr val="B26D16"/>
                </a:solidFill>
                <a:latin typeface="Arial"/>
                <a:ea typeface="Arial"/>
                <a:cs typeface="Arial"/>
              </a:defRPr>
            </a:lvl1pPr>
            <a:lvl2pPr>
              <a:defRPr sz="5550" b="1">
                <a:solidFill>
                  <a:srgbClr val="B26D16"/>
                </a:solidFill>
                <a:latin typeface="Arial"/>
                <a:ea typeface="Arial"/>
                <a:cs typeface="Arial"/>
              </a:defRPr>
            </a:lvl2pPr>
            <a:lvl3pPr>
              <a:defRPr sz="5550" b="1">
                <a:solidFill>
                  <a:srgbClr val="B26D16"/>
                </a:solidFill>
                <a:latin typeface="Arial"/>
                <a:ea typeface="Arial"/>
                <a:cs typeface="Arial"/>
              </a:defRPr>
            </a:lvl3pPr>
            <a:lvl4pPr>
              <a:defRPr sz="5550" b="1">
                <a:solidFill>
                  <a:srgbClr val="B26D16"/>
                </a:solidFill>
                <a:latin typeface="Arial"/>
                <a:ea typeface="Arial"/>
                <a:cs typeface="Arial"/>
              </a:defRPr>
            </a:lvl4pPr>
            <a:lvl5pPr>
              <a:defRPr sz="5550" b="1">
                <a:solidFill>
                  <a:srgbClr val="B26D16"/>
                </a:solidFill>
                <a:latin typeface="Arial"/>
                <a:ea typeface="Arial"/>
                <a:cs typeface="Arial"/>
              </a:defRPr>
            </a:lvl5pPr>
            <a:lvl6pPr>
              <a:defRPr sz="5550" b="1">
                <a:solidFill>
                  <a:srgbClr val="B26D16"/>
                </a:solidFill>
                <a:latin typeface="Arial"/>
                <a:ea typeface="Arial"/>
                <a:cs typeface="Arial"/>
              </a:defRPr>
            </a:lvl6pPr>
            <a:lvl7pPr>
              <a:defRPr sz="5550" b="1">
                <a:solidFill>
                  <a:srgbClr val="B26D16"/>
                </a:solidFill>
                <a:latin typeface="Arial"/>
                <a:ea typeface="Arial"/>
                <a:cs typeface="Arial"/>
              </a:defRPr>
            </a:lvl7pPr>
            <a:lvl8pPr>
              <a:defRPr sz="5550" b="1">
                <a:solidFill>
                  <a:srgbClr val="B26D16"/>
                </a:solidFill>
                <a:latin typeface="Arial"/>
                <a:ea typeface="Arial"/>
                <a:cs typeface="Arial"/>
              </a:defRPr>
            </a:lvl8pPr>
            <a:lvl9pPr>
              <a:defRPr sz="5550" b="1">
                <a:solidFill>
                  <a:srgbClr val="B26D16"/>
                </a:solidFill>
                <a:latin typeface="Arial"/>
                <a:ea typeface="Arial"/>
                <a:cs typeface="Arial"/>
              </a:defRPr>
            </a:lvl9pPr>
          </a:lstStyle>
          <a:p xmlns:a="http://schemas.openxmlformats.org/drawingml/2006/main">
            <a:pPr>
              <a:defRPr sz="5550" b="1">
                <a:solidFill>
                  <a:srgbClr val="B26D16"/>
                </a:solidFill>
                <a:latin typeface="Arial"/>
                <a:ea typeface="Arial"/>
                <a:cs typeface="Arial"/>
              </a:defRPr>
            </a:pPr>
            <a:r>
              <a:rPr sz="5550" b="1">
                <a:solidFill>
                  <a:srgbClr val="B26D16"/>
                </a:solidFill>
                <a:latin typeface="Arial"/>
                <a:ea typeface="Arial"/>
                <a:cs typeface="Arial"/>
              </a:rPr>
              <a:t>0.203</a:t>
            </a:r>
          </a:p>
        </p:txBody>
      </p:sp>
      <p:sp>
        <p:nvSpPr>
          <p:cNvPr id="6" name="">
            <a:extLst xmlns:a="http://schemas.openxmlformats.org/drawingml/2006/main">
              <a:ext uri="{FF2B5EF4-FFF2-40B4-BE49-F238E27FC236}">
                <a16:creationId xmlns:a16="http://schemas.microsoft.com/office/drawing/2014/main" id="{F79CB11B-B383-4DF3-9A88-23F7F3FE3057}"/>
              </a:ext>
            </a:extLst>
          </p:cNvPr>
          <p:cNvSpPr>
            <a:spLocks xmlns:a="http://schemas.openxmlformats.org/drawingml/2006/main" noGrp="1"/>
          </p:cNvSpPr>
          <p:nvPr/>
        </p:nvSpPr>
        <p:spPr>
          <a:xfrm xmlns:a="http://schemas.openxmlformats.org/drawingml/2006/main">
            <a:off x="8239125" y="33337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64B"/>
                </a:solidFill>
                <a:latin typeface="Arial"/>
                <a:ea typeface="Arial"/>
                <a:cs typeface="Arial"/>
              </a:defRPr>
            </a:defPPr>
            <a:lvl1pPr>
              <a:defRPr sz="2100" b="1">
                <a:solidFill>
                  <a:srgbClr val="18364B"/>
                </a:solidFill>
                <a:latin typeface="Arial"/>
                <a:ea typeface="Arial"/>
                <a:cs typeface="Arial"/>
              </a:defRPr>
            </a:lvl1pPr>
            <a:lvl2pPr>
              <a:defRPr sz="2100" b="1">
                <a:solidFill>
                  <a:srgbClr val="18364B"/>
                </a:solidFill>
                <a:latin typeface="Arial"/>
                <a:ea typeface="Arial"/>
                <a:cs typeface="Arial"/>
              </a:defRPr>
            </a:lvl2pPr>
            <a:lvl3pPr>
              <a:defRPr sz="2100" b="1">
                <a:solidFill>
                  <a:srgbClr val="18364B"/>
                </a:solidFill>
                <a:latin typeface="Arial"/>
                <a:ea typeface="Arial"/>
                <a:cs typeface="Arial"/>
              </a:defRPr>
            </a:lvl3pPr>
            <a:lvl4pPr>
              <a:defRPr sz="2100" b="1">
                <a:solidFill>
                  <a:srgbClr val="18364B"/>
                </a:solidFill>
                <a:latin typeface="Arial"/>
                <a:ea typeface="Arial"/>
                <a:cs typeface="Arial"/>
              </a:defRPr>
            </a:lvl4pPr>
            <a:lvl5pPr>
              <a:defRPr sz="2100" b="1">
                <a:solidFill>
                  <a:srgbClr val="18364B"/>
                </a:solidFill>
                <a:latin typeface="Arial"/>
                <a:ea typeface="Arial"/>
                <a:cs typeface="Arial"/>
              </a:defRPr>
            </a:lvl5pPr>
            <a:lvl6pPr>
              <a:defRPr sz="2100" b="1">
                <a:solidFill>
                  <a:srgbClr val="18364B"/>
                </a:solidFill>
                <a:latin typeface="Arial"/>
                <a:ea typeface="Arial"/>
                <a:cs typeface="Arial"/>
              </a:defRPr>
            </a:lvl6pPr>
            <a:lvl7pPr>
              <a:defRPr sz="2100" b="1">
                <a:solidFill>
                  <a:srgbClr val="18364B"/>
                </a:solidFill>
                <a:latin typeface="Arial"/>
                <a:ea typeface="Arial"/>
                <a:cs typeface="Arial"/>
              </a:defRPr>
            </a:lvl7pPr>
            <a:lvl8pPr>
              <a:defRPr sz="2100" b="1">
                <a:solidFill>
                  <a:srgbClr val="18364B"/>
                </a:solidFill>
                <a:latin typeface="Arial"/>
                <a:ea typeface="Arial"/>
                <a:cs typeface="Arial"/>
              </a:defRPr>
            </a:lvl8pPr>
            <a:lvl9pPr>
              <a:defRPr sz="2100" b="1">
                <a:solidFill>
                  <a:srgbClr val="18364B"/>
                </a:solidFill>
                <a:latin typeface="Arial"/>
                <a:ea typeface="Arial"/>
                <a:cs typeface="Arial"/>
              </a:defRPr>
            </a:lvl9pPr>
          </a:lstStyle>
          <a:p xmlns:a="http://schemas.openxmlformats.org/drawingml/2006/main">
            <a:pPr>
              <a:defRPr sz="2100" b="1">
                <a:solidFill>
                  <a:srgbClr val="18364B"/>
                </a:solidFill>
                <a:latin typeface="Arial"/>
                <a:ea typeface="Arial"/>
                <a:cs typeface="Arial"/>
              </a:defRPr>
            </a:pPr>
            <a:r>
              <a:rPr sz="2100" b="1">
                <a:solidFill>
                  <a:srgbClr val="18364B"/>
                </a:solidFill>
                <a:latin typeface="Arial"/>
                <a:ea typeface="Arial"/>
                <a:cs typeface="Arial"/>
              </a:rPr>
              <a:t>neutral-class F1</a:t>
            </a:r>
          </a:p>
        </p:txBody>
      </p:sp>
      <p:sp>
        <p:nvSpPr>
          <p:cNvPr id="7" name="">
            <a:extLst xmlns:a="http://schemas.openxmlformats.org/drawingml/2006/main">
              <a:ext uri="{FF2B5EF4-FFF2-40B4-BE49-F238E27FC236}">
                <a16:creationId xmlns:a16="http://schemas.microsoft.com/office/drawing/2014/main" id="{3304E055-418C-4D37-AA07-CB5C4B649373}"/>
              </a:ext>
            </a:extLst>
          </p:cNvPr>
          <p:cNvSpPr>
            <a:spLocks xmlns:a="http://schemas.openxmlformats.org/drawingml/2006/main" noGrp="1"/>
          </p:cNvSpPr>
          <p:nvPr/>
        </p:nvSpPr>
        <p:spPr>
          <a:xfrm xmlns:a="http://schemas.openxmlformats.org/drawingml/2006/main">
            <a:off x="8239125" y="4114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POSSIBLE EXPLANATIONS</a:t>
            </a:r>
          </a:p>
        </p:txBody>
      </p:sp>
      <p:sp>
        <p:nvSpPr>
          <p:cNvPr id="8" name="">
            <a:extLst xmlns:a="http://schemas.openxmlformats.org/drawingml/2006/main">
              <a:ext uri="{FF2B5EF4-FFF2-40B4-BE49-F238E27FC236}">
                <a16:creationId xmlns:a16="http://schemas.microsoft.com/office/drawing/2014/main" id="{E08CA857-16D2-4AFD-9ACA-6F48FE3D080B}"/>
              </a:ext>
            </a:extLst>
          </p:cNvPr>
          <p:cNvSpPr>
            <a:spLocks xmlns:a="http://schemas.openxmlformats.org/drawingml/2006/main" noGrp="1"/>
          </p:cNvSpPr>
          <p:nvPr/>
        </p:nvSpPr>
        <p:spPr>
          <a:xfrm xmlns:a="http://schemas.openxmlformats.org/drawingml/2006/main">
            <a:off x="8239125" y="45815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64B"/>
                </a:solidFill>
                <a:latin typeface="Arial"/>
                <a:ea typeface="Arial"/>
                <a:cs typeface="Arial"/>
              </a:defRPr>
            </a:defPPr>
            <a:lvl1pPr>
              <a:defRPr sz="1800" b="0">
                <a:solidFill>
                  <a:srgbClr val="18364B"/>
                </a:solidFill>
                <a:latin typeface="Arial"/>
                <a:ea typeface="Arial"/>
                <a:cs typeface="Arial"/>
              </a:defRPr>
            </a:lvl1pPr>
            <a:lvl2pPr>
              <a:defRPr sz="1800" b="0">
                <a:solidFill>
                  <a:srgbClr val="18364B"/>
                </a:solidFill>
                <a:latin typeface="Arial"/>
                <a:ea typeface="Arial"/>
                <a:cs typeface="Arial"/>
              </a:defRPr>
            </a:lvl2pPr>
            <a:lvl3pPr>
              <a:defRPr sz="1800" b="0">
                <a:solidFill>
                  <a:srgbClr val="18364B"/>
                </a:solidFill>
                <a:latin typeface="Arial"/>
                <a:ea typeface="Arial"/>
                <a:cs typeface="Arial"/>
              </a:defRPr>
            </a:lvl3pPr>
            <a:lvl4pPr>
              <a:defRPr sz="1800" b="0">
                <a:solidFill>
                  <a:srgbClr val="18364B"/>
                </a:solidFill>
                <a:latin typeface="Arial"/>
                <a:ea typeface="Arial"/>
                <a:cs typeface="Arial"/>
              </a:defRPr>
            </a:lvl4pPr>
            <a:lvl5pPr>
              <a:defRPr sz="1800" b="0">
                <a:solidFill>
                  <a:srgbClr val="18364B"/>
                </a:solidFill>
                <a:latin typeface="Arial"/>
                <a:ea typeface="Arial"/>
                <a:cs typeface="Arial"/>
              </a:defRPr>
            </a:lvl5pPr>
            <a:lvl6pPr>
              <a:defRPr sz="1800" b="0">
                <a:solidFill>
                  <a:srgbClr val="18364B"/>
                </a:solidFill>
                <a:latin typeface="Arial"/>
                <a:ea typeface="Arial"/>
                <a:cs typeface="Arial"/>
              </a:defRPr>
            </a:lvl6pPr>
            <a:lvl7pPr>
              <a:defRPr sz="1800" b="0">
                <a:solidFill>
                  <a:srgbClr val="18364B"/>
                </a:solidFill>
                <a:latin typeface="Arial"/>
                <a:ea typeface="Arial"/>
                <a:cs typeface="Arial"/>
              </a:defRPr>
            </a:lvl7pPr>
            <a:lvl8pPr>
              <a:defRPr sz="1800" b="0">
                <a:solidFill>
                  <a:srgbClr val="18364B"/>
                </a:solidFill>
                <a:latin typeface="Arial"/>
                <a:ea typeface="Arial"/>
                <a:cs typeface="Arial"/>
              </a:defRPr>
            </a:lvl8pPr>
            <a:lvl9pPr>
              <a:defRPr sz="1800" b="0">
                <a:solidFill>
                  <a:srgbClr val="18364B"/>
                </a:solidFill>
                <a:latin typeface="Arial"/>
                <a:ea typeface="Arial"/>
                <a:cs typeface="Arial"/>
              </a:defRPr>
            </a:lvl9pPr>
          </a:lstStyle>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Fewer neutral examples</a:t>
            </a:r>
          </a:p>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Mixed or ambiguous ratings</a:t>
            </a:r>
          </a:p>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Loss of text after token 96</a:t>
            </a:r>
          </a:p>
        </p:txBody>
      </p:sp>
    </p:spTree>
    <p:extLst>
      <p:ext uri="{BB962C8B-B14F-4D97-AF65-F5344CB8AC3E}">
        <p14:creationId xmlns:p14="http://schemas.microsoft.com/office/powerpoint/2010/main" val="953632890"/>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337E57-555C-4A8C-9F59-ADE9C2B3B4EB}"/>
              </a:ext>
            </a:extLst>
          </p:cNvPr>
          <p:cNvSpPr>
            <a:spLocks xmlns:a="http://schemas.openxmlformats.org/drawingml/2006/main" noGrp="1"/>
          </p:cNvSpPr>
          <p:nvPr/>
        </p:nvSpPr>
        <p:spPr>
          <a:xfrm xmlns:a="http://schemas.openxmlformats.org/drawingml/2006/main">
            <a:off x="609600" y="3238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08 / IMPROVEMENTS</a:t>
            </a:r>
          </a:p>
        </p:txBody>
      </p:sp>
      <p:sp>
        <p:nvSpPr>
          <p:cNvPr id="2" name="">
            <a:extLst xmlns:a="http://schemas.openxmlformats.org/drawingml/2006/main">
              <a:ext uri="{FF2B5EF4-FFF2-40B4-BE49-F238E27FC236}">
                <a16:creationId xmlns:a16="http://schemas.microsoft.com/office/drawing/2014/main" id="{4BC5BC9A-33F4-4F54-8E7F-3772BA344D14}"/>
              </a:ext>
            </a:extLst>
          </p:cNvPr>
          <p:cNvSpPr>
            <a:spLocks xmlns:a="http://schemas.openxmlformats.org/drawingml/2006/main" noGrp="1"/>
          </p:cNvSpPr>
          <p:nvPr/>
        </p:nvSpPr>
        <p:spPr>
          <a:xfrm xmlns:a="http://schemas.openxmlformats.org/drawingml/2006/main">
            <a:off x="609600" y="8572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364B"/>
                </a:solidFill>
                <a:latin typeface="Arial"/>
                <a:ea typeface="Arial"/>
                <a:cs typeface="Arial"/>
              </a:defRPr>
            </a:defPPr>
            <a:lvl1pPr>
              <a:defRPr sz="3600" b="1">
                <a:solidFill>
                  <a:srgbClr val="18364B"/>
                </a:solidFill>
                <a:latin typeface="Arial"/>
                <a:ea typeface="Arial"/>
                <a:cs typeface="Arial"/>
              </a:defRPr>
            </a:lvl1pPr>
            <a:lvl2pPr>
              <a:defRPr sz="3600" b="1">
                <a:solidFill>
                  <a:srgbClr val="18364B"/>
                </a:solidFill>
                <a:latin typeface="Arial"/>
                <a:ea typeface="Arial"/>
                <a:cs typeface="Arial"/>
              </a:defRPr>
            </a:lvl2pPr>
            <a:lvl3pPr>
              <a:defRPr sz="3600" b="1">
                <a:solidFill>
                  <a:srgbClr val="18364B"/>
                </a:solidFill>
                <a:latin typeface="Arial"/>
                <a:ea typeface="Arial"/>
                <a:cs typeface="Arial"/>
              </a:defRPr>
            </a:lvl3pPr>
            <a:lvl4pPr>
              <a:defRPr sz="3600" b="1">
                <a:solidFill>
                  <a:srgbClr val="18364B"/>
                </a:solidFill>
                <a:latin typeface="Arial"/>
                <a:ea typeface="Arial"/>
                <a:cs typeface="Arial"/>
              </a:defRPr>
            </a:lvl4pPr>
            <a:lvl5pPr>
              <a:defRPr sz="3600" b="1">
                <a:solidFill>
                  <a:srgbClr val="18364B"/>
                </a:solidFill>
                <a:latin typeface="Arial"/>
                <a:ea typeface="Arial"/>
                <a:cs typeface="Arial"/>
              </a:defRPr>
            </a:lvl5pPr>
            <a:lvl6pPr>
              <a:defRPr sz="3600" b="1">
                <a:solidFill>
                  <a:srgbClr val="18364B"/>
                </a:solidFill>
                <a:latin typeface="Arial"/>
                <a:ea typeface="Arial"/>
                <a:cs typeface="Arial"/>
              </a:defRPr>
            </a:lvl6pPr>
            <a:lvl7pPr>
              <a:defRPr sz="3600" b="1">
                <a:solidFill>
                  <a:srgbClr val="18364B"/>
                </a:solidFill>
                <a:latin typeface="Arial"/>
                <a:ea typeface="Arial"/>
                <a:cs typeface="Arial"/>
              </a:defRPr>
            </a:lvl7pPr>
            <a:lvl8pPr>
              <a:defRPr sz="3600" b="1">
                <a:solidFill>
                  <a:srgbClr val="18364B"/>
                </a:solidFill>
                <a:latin typeface="Arial"/>
                <a:ea typeface="Arial"/>
                <a:cs typeface="Arial"/>
              </a:defRPr>
            </a:lvl8pPr>
            <a:lvl9pPr>
              <a:defRPr sz="3600" b="1">
                <a:solidFill>
                  <a:srgbClr val="18364B"/>
                </a:solidFill>
                <a:latin typeface="Arial"/>
                <a:ea typeface="Arial"/>
                <a:cs typeface="Arial"/>
              </a:defRPr>
            </a:lvl9pPr>
          </a:lstStyle>
          <a:p xmlns:a="http://schemas.openxmlformats.org/drawingml/2006/main">
            <a:pPr>
              <a:defRPr sz="3600" b="1">
                <a:solidFill>
                  <a:srgbClr val="18364B"/>
                </a:solidFill>
                <a:latin typeface="Arial"/>
                <a:ea typeface="Arial"/>
                <a:cs typeface="Arial"/>
              </a:defRPr>
            </a:pPr>
            <a:r>
              <a:rPr sz="3600" b="1">
                <a:solidFill>
                  <a:srgbClr val="18364B"/>
                </a:solidFill>
                <a:latin typeface="Arial"/>
                <a:ea typeface="Arial"/>
                <a:cs typeface="Arial"/>
              </a:rPr>
              <a:t>What the next experiment should test</a:t>
            </a:r>
          </a:p>
        </p:txBody>
      </p:sp>
      <p:sp>
        <p:nvSpPr>
          <p:cNvPr id="3" name="">
            <a:extLst xmlns:a="http://schemas.openxmlformats.org/drawingml/2006/main">
              <a:ext uri="{FF2B5EF4-FFF2-40B4-BE49-F238E27FC236}">
                <a16:creationId xmlns:a16="http://schemas.microsoft.com/office/drawing/2014/main" id="{ABFF8FC8-19CE-4354-A584-C3EE09FEB4FC}"/>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9B2D170-9F8F-467B-A5A1-4688807BEB38}"/>
              </a:ext>
            </a:extLst>
          </p:cNvPr>
          <p:cNvSpPr>
            <a:spLocks xmlns:a="http://schemas.openxmlformats.org/drawingml/2006/main" noGrp="1"/>
          </p:cNvSpPr>
          <p:nvPr/>
        </p:nvSpPr>
        <p:spPr>
          <a:xfrm xmlns:a="http://schemas.openxmlformats.org/drawingml/2006/main">
            <a:off x="647700" y="2238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07F7A"/>
                </a:solidFill>
                <a:latin typeface="Arial"/>
                <a:ea typeface="Arial"/>
                <a:cs typeface="Arial"/>
              </a:defRPr>
            </a:defPPr>
            <a:lvl1pPr>
              <a:defRPr sz="3825" b="1">
                <a:solidFill>
                  <a:srgbClr val="007F7A"/>
                </a:solidFill>
                <a:latin typeface="Arial"/>
                <a:ea typeface="Arial"/>
                <a:cs typeface="Arial"/>
              </a:defRPr>
            </a:lvl1pPr>
            <a:lvl2pPr>
              <a:defRPr sz="3825" b="1">
                <a:solidFill>
                  <a:srgbClr val="007F7A"/>
                </a:solidFill>
                <a:latin typeface="Arial"/>
                <a:ea typeface="Arial"/>
                <a:cs typeface="Arial"/>
              </a:defRPr>
            </a:lvl2pPr>
            <a:lvl3pPr>
              <a:defRPr sz="3825" b="1">
                <a:solidFill>
                  <a:srgbClr val="007F7A"/>
                </a:solidFill>
                <a:latin typeface="Arial"/>
                <a:ea typeface="Arial"/>
                <a:cs typeface="Arial"/>
              </a:defRPr>
            </a:lvl3pPr>
            <a:lvl4pPr>
              <a:defRPr sz="3825" b="1">
                <a:solidFill>
                  <a:srgbClr val="007F7A"/>
                </a:solidFill>
                <a:latin typeface="Arial"/>
                <a:ea typeface="Arial"/>
                <a:cs typeface="Arial"/>
              </a:defRPr>
            </a:lvl4pPr>
            <a:lvl5pPr>
              <a:defRPr sz="3825" b="1">
                <a:solidFill>
                  <a:srgbClr val="007F7A"/>
                </a:solidFill>
                <a:latin typeface="Arial"/>
                <a:ea typeface="Arial"/>
                <a:cs typeface="Arial"/>
              </a:defRPr>
            </a:lvl5pPr>
            <a:lvl6pPr>
              <a:defRPr sz="3825" b="1">
                <a:solidFill>
                  <a:srgbClr val="007F7A"/>
                </a:solidFill>
                <a:latin typeface="Arial"/>
                <a:ea typeface="Arial"/>
                <a:cs typeface="Arial"/>
              </a:defRPr>
            </a:lvl6pPr>
            <a:lvl7pPr>
              <a:defRPr sz="3825" b="1">
                <a:solidFill>
                  <a:srgbClr val="007F7A"/>
                </a:solidFill>
                <a:latin typeface="Arial"/>
                <a:ea typeface="Arial"/>
                <a:cs typeface="Arial"/>
              </a:defRPr>
            </a:lvl7pPr>
            <a:lvl8pPr>
              <a:defRPr sz="3825" b="1">
                <a:solidFill>
                  <a:srgbClr val="007F7A"/>
                </a:solidFill>
                <a:latin typeface="Arial"/>
                <a:ea typeface="Arial"/>
                <a:cs typeface="Arial"/>
              </a:defRPr>
            </a:lvl8pPr>
            <a:lvl9pPr>
              <a:defRPr sz="3825" b="1">
                <a:solidFill>
                  <a:srgbClr val="007F7A"/>
                </a:solidFill>
                <a:latin typeface="Arial"/>
                <a:ea typeface="Arial"/>
                <a:cs typeface="Arial"/>
              </a:defRPr>
            </a:lvl9pPr>
          </a:lstStyle>
          <a:p xmlns:a="http://schemas.openxmlformats.org/drawingml/2006/main">
            <a:pPr>
              <a:defRPr sz="3825" b="1">
                <a:solidFill>
                  <a:srgbClr val="007F7A"/>
                </a:solidFill>
                <a:latin typeface="Arial"/>
                <a:ea typeface="Arial"/>
                <a:cs typeface="Arial"/>
              </a:defRPr>
            </a:pPr>
            <a:r>
              <a:rPr sz="3825" b="1">
                <a:solidFill>
                  <a:srgbClr val="007F7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3292760-EDBE-43E4-8C27-BD012C125296}"/>
              </a:ext>
            </a:extLst>
          </p:cNvPr>
          <p:cNvSpPr>
            <a:spLocks xmlns:a="http://schemas.openxmlformats.org/drawingml/2006/main" noGrp="1"/>
          </p:cNvSpPr>
          <p:nvPr/>
        </p:nvSpPr>
        <p:spPr>
          <a:xfrm xmlns:a="http://schemas.openxmlformats.org/drawingml/2006/main">
            <a:off x="2047875" y="223837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Stability</a:t>
            </a:r>
          </a:p>
        </p:txBody>
      </p:sp>
      <p:sp>
        <p:nvSpPr>
          <p:cNvPr id="6" name="">
            <a:extLst xmlns:a="http://schemas.openxmlformats.org/drawingml/2006/main">
              <a:ext uri="{FF2B5EF4-FFF2-40B4-BE49-F238E27FC236}">
                <a16:creationId xmlns:a16="http://schemas.microsoft.com/office/drawing/2014/main" id="{EC5F8041-3579-4C26-B9B2-B4B4268C5080}"/>
              </a:ext>
            </a:extLst>
          </p:cNvPr>
          <p:cNvSpPr>
            <a:spLocks xmlns:a="http://schemas.openxmlformats.org/drawingml/2006/main" noGrp="1"/>
          </p:cNvSpPr>
          <p:nvPr/>
        </p:nvSpPr>
        <p:spPr>
          <a:xfrm xmlns:a="http://schemas.openxmlformats.org/drawingml/2006/main">
            <a:off x="2066925" y="2809875"/>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4B"/>
                </a:solidFill>
                <a:latin typeface="Arial"/>
                <a:ea typeface="Arial"/>
                <a:cs typeface="Arial"/>
              </a:defRPr>
            </a:defPPr>
            <a:lvl1pPr>
              <a:defRPr sz="1875" b="0">
                <a:solidFill>
                  <a:srgbClr val="18364B"/>
                </a:solidFill>
                <a:latin typeface="Arial"/>
                <a:ea typeface="Arial"/>
                <a:cs typeface="Arial"/>
              </a:defRPr>
            </a:lvl1pPr>
            <a:lvl2pPr>
              <a:defRPr sz="1875" b="0">
                <a:solidFill>
                  <a:srgbClr val="18364B"/>
                </a:solidFill>
                <a:latin typeface="Arial"/>
                <a:ea typeface="Arial"/>
                <a:cs typeface="Arial"/>
              </a:defRPr>
            </a:lvl2pPr>
            <a:lvl3pPr>
              <a:defRPr sz="1875" b="0">
                <a:solidFill>
                  <a:srgbClr val="18364B"/>
                </a:solidFill>
                <a:latin typeface="Arial"/>
                <a:ea typeface="Arial"/>
                <a:cs typeface="Arial"/>
              </a:defRPr>
            </a:lvl3pPr>
            <a:lvl4pPr>
              <a:defRPr sz="1875" b="0">
                <a:solidFill>
                  <a:srgbClr val="18364B"/>
                </a:solidFill>
                <a:latin typeface="Arial"/>
                <a:ea typeface="Arial"/>
                <a:cs typeface="Arial"/>
              </a:defRPr>
            </a:lvl4pPr>
            <a:lvl5pPr>
              <a:defRPr sz="1875" b="0">
                <a:solidFill>
                  <a:srgbClr val="18364B"/>
                </a:solidFill>
                <a:latin typeface="Arial"/>
                <a:ea typeface="Arial"/>
                <a:cs typeface="Arial"/>
              </a:defRPr>
            </a:lvl5pPr>
            <a:lvl6pPr>
              <a:defRPr sz="1875" b="0">
                <a:solidFill>
                  <a:srgbClr val="18364B"/>
                </a:solidFill>
                <a:latin typeface="Arial"/>
                <a:ea typeface="Arial"/>
                <a:cs typeface="Arial"/>
              </a:defRPr>
            </a:lvl6pPr>
            <a:lvl7pPr>
              <a:defRPr sz="1875" b="0">
                <a:solidFill>
                  <a:srgbClr val="18364B"/>
                </a:solidFill>
                <a:latin typeface="Arial"/>
                <a:ea typeface="Arial"/>
                <a:cs typeface="Arial"/>
              </a:defRPr>
            </a:lvl7pPr>
            <a:lvl8pPr>
              <a:defRPr sz="1875" b="0">
                <a:solidFill>
                  <a:srgbClr val="18364B"/>
                </a:solidFill>
                <a:latin typeface="Arial"/>
                <a:ea typeface="Arial"/>
                <a:cs typeface="Arial"/>
              </a:defRPr>
            </a:lvl8pPr>
            <a:lvl9pPr>
              <a:defRPr sz="1875" b="0">
                <a:solidFill>
                  <a:srgbClr val="18364B"/>
                </a:solidFill>
                <a:latin typeface="Arial"/>
                <a:ea typeface="Arial"/>
                <a:cs typeface="Arial"/>
              </a:defRPr>
            </a:lvl9pPr>
          </a:lstStyle>
          <a:p xmlns:a="http://schemas.openxmlformats.org/drawingml/2006/main">
            <a:pPr>
              <a:defRPr sz="1875" b="0">
                <a:solidFill>
                  <a:srgbClr val="18364B"/>
                </a:solidFill>
                <a:latin typeface="Arial"/>
                <a:ea typeface="Arial"/>
                <a:cs typeface="Arial"/>
              </a:defRPr>
            </a:pPr>
            <a:r>
              <a:rPr sz="1875" b="0">
                <a:solidFill>
                  <a:srgbClr val="18364B"/>
                </a:solidFill>
                <a:latin typeface="Arial"/>
                <a:ea typeface="Arial"/>
                <a:cs typeface="Arial"/>
              </a:rPr>
              <a:t>Repeat across seeds and train longer.</a:t>
            </a:r>
          </a:p>
        </p:txBody>
      </p:sp>
      <p:sp>
        <p:nvSpPr>
          <p:cNvPr id="7" name="">
            <a:extLst xmlns:a="http://schemas.openxmlformats.org/drawingml/2006/main">
              <a:ext uri="{FF2B5EF4-FFF2-40B4-BE49-F238E27FC236}">
                <a16:creationId xmlns:a16="http://schemas.microsoft.com/office/drawing/2014/main" id="{D611D890-0FCD-4A8B-96A4-0DD87ECA0D9D}"/>
              </a:ext>
            </a:extLst>
          </p:cNvPr>
          <p:cNvSpPr>
            <a:spLocks xmlns:a="http://schemas.openxmlformats.org/drawingml/2006/main" noGrp="1"/>
          </p:cNvSpPr>
          <p:nvPr/>
        </p:nvSpPr>
        <p:spPr>
          <a:xfrm xmlns:a="http://schemas.openxmlformats.org/drawingml/2006/main">
            <a:off x="647700" y="347662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07F7A"/>
                </a:solidFill>
                <a:latin typeface="Arial"/>
                <a:ea typeface="Arial"/>
                <a:cs typeface="Arial"/>
              </a:defRPr>
            </a:defPPr>
            <a:lvl1pPr>
              <a:defRPr sz="3825" b="1">
                <a:solidFill>
                  <a:srgbClr val="007F7A"/>
                </a:solidFill>
                <a:latin typeface="Arial"/>
                <a:ea typeface="Arial"/>
                <a:cs typeface="Arial"/>
              </a:defRPr>
            </a:lvl1pPr>
            <a:lvl2pPr>
              <a:defRPr sz="3825" b="1">
                <a:solidFill>
                  <a:srgbClr val="007F7A"/>
                </a:solidFill>
                <a:latin typeface="Arial"/>
                <a:ea typeface="Arial"/>
                <a:cs typeface="Arial"/>
              </a:defRPr>
            </a:lvl2pPr>
            <a:lvl3pPr>
              <a:defRPr sz="3825" b="1">
                <a:solidFill>
                  <a:srgbClr val="007F7A"/>
                </a:solidFill>
                <a:latin typeface="Arial"/>
                <a:ea typeface="Arial"/>
                <a:cs typeface="Arial"/>
              </a:defRPr>
            </a:lvl3pPr>
            <a:lvl4pPr>
              <a:defRPr sz="3825" b="1">
                <a:solidFill>
                  <a:srgbClr val="007F7A"/>
                </a:solidFill>
                <a:latin typeface="Arial"/>
                <a:ea typeface="Arial"/>
                <a:cs typeface="Arial"/>
              </a:defRPr>
            </a:lvl4pPr>
            <a:lvl5pPr>
              <a:defRPr sz="3825" b="1">
                <a:solidFill>
                  <a:srgbClr val="007F7A"/>
                </a:solidFill>
                <a:latin typeface="Arial"/>
                <a:ea typeface="Arial"/>
                <a:cs typeface="Arial"/>
              </a:defRPr>
            </a:lvl5pPr>
            <a:lvl6pPr>
              <a:defRPr sz="3825" b="1">
                <a:solidFill>
                  <a:srgbClr val="007F7A"/>
                </a:solidFill>
                <a:latin typeface="Arial"/>
                <a:ea typeface="Arial"/>
                <a:cs typeface="Arial"/>
              </a:defRPr>
            </a:lvl6pPr>
            <a:lvl7pPr>
              <a:defRPr sz="3825" b="1">
                <a:solidFill>
                  <a:srgbClr val="007F7A"/>
                </a:solidFill>
                <a:latin typeface="Arial"/>
                <a:ea typeface="Arial"/>
                <a:cs typeface="Arial"/>
              </a:defRPr>
            </a:lvl7pPr>
            <a:lvl8pPr>
              <a:defRPr sz="3825" b="1">
                <a:solidFill>
                  <a:srgbClr val="007F7A"/>
                </a:solidFill>
                <a:latin typeface="Arial"/>
                <a:ea typeface="Arial"/>
                <a:cs typeface="Arial"/>
              </a:defRPr>
            </a:lvl8pPr>
            <a:lvl9pPr>
              <a:defRPr sz="3825" b="1">
                <a:solidFill>
                  <a:srgbClr val="007F7A"/>
                </a:solidFill>
                <a:latin typeface="Arial"/>
                <a:ea typeface="Arial"/>
                <a:cs typeface="Arial"/>
              </a:defRPr>
            </a:lvl9pPr>
          </a:lstStyle>
          <a:p xmlns:a="http://schemas.openxmlformats.org/drawingml/2006/main">
            <a:pPr>
              <a:defRPr sz="3825" b="1">
                <a:solidFill>
                  <a:srgbClr val="007F7A"/>
                </a:solidFill>
                <a:latin typeface="Arial"/>
                <a:ea typeface="Arial"/>
                <a:cs typeface="Arial"/>
              </a:defRPr>
            </a:pPr>
            <a:r>
              <a:rPr sz="3825" b="1">
                <a:solidFill>
                  <a:srgbClr val="007F7A"/>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9590346-4136-453B-A267-C937E09F6236}"/>
              </a:ext>
            </a:extLst>
          </p:cNvPr>
          <p:cNvSpPr>
            <a:spLocks xmlns:a="http://schemas.openxmlformats.org/drawingml/2006/main" noGrp="1"/>
          </p:cNvSpPr>
          <p:nvPr/>
        </p:nvSpPr>
        <p:spPr>
          <a:xfrm xmlns:a="http://schemas.openxmlformats.org/drawingml/2006/main">
            <a:off x="2047875" y="347662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Text coverage</a:t>
            </a:r>
          </a:p>
        </p:txBody>
      </p:sp>
      <p:sp>
        <p:nvSpPr>
          <p:cNvPr id="9" name="">
            <a:extLst xmlns:a="http://schemas.openxmlformats.org/drawingml/2006/main">
              <a:ext uri="{FF2B5EF4-FFF2-40B4-BE49-F238E27FC236}">
                <a16:creationId xmlns:a16="http://schemas.microsoft.com/office/drawing/2014/main" id="{6760C2BE-FD5A-4A5F-8BBB-1F568894D7C0}"/>
              </a:ext>
            </a:extLst>
          </p:cNvPr>
          <p:cNvSpPr>
            <a:spLocks xmlns:a="http://schemas.openxmlformats.org/drawingml/2006/main" noGrp="1"/>
          </p:cNvSpPr>
          <p:nvPr/>
        </p:nvSpPr>
        <p:spPr>
          <a:xfrm xmlns:a="http://schemas.openxmlformats.org/drawingml/2006/main">
            <a:off x="2066925" y="4048125"/>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4B"/>
                </a:solidFill>
                <a:latin typeface="Arial"/>
                <a:ea typeface="Arial"/>
                <a:cs typeface="Arial"/>
              </a:defRPr>
            </a:defPPr>
            <a:lvl1pPr>
              <a:defRPr sz="1875" b="0">
                <a:solidFill>
                  <a:srgbClr val="18364B"/>
                </a:solidFill>
                <a:latin typeface="Arial"/>
                <a:ea typeface="Arial"/>
                <a:cs typeface="Arial"/>
              </a:defRPr>
            </a:lvl1pPr>
            <a:lvl2pPr>
              <a:defRPr sz="1875" b="0">
                <a:solidFill>
                  <a:srgbClr val="18364B"/>
                </a:solidFill>
                <a:latin typeface="Arial"/>
                <a:ea typeface="Arial"/>
                <a:cs typeface="Arial"/>
              </a:defRPr>
            </a:lvl2pPr>
            <a:lvl3pPr>
              <a:defRPr sz="1875" b="0">
                <a:solidFill>
                  <a:srgbClr val="18364B"/>
                </a:solidFill>
                <a:latin typeface="Arial"/>
                <a:ea typeface="Arial"/>
                <a:cs typeface="Arial"/>
              </a:defRPr>
            </a:lvl3pPr>
            <a:lvl4pPr>
              <a:defRPr sz="1875" b="0">
                <a:solidFill>
                  <a:srgbClr val="18364B"/>
                </a:solidFill>
                <a:latin typeface="Arial"/>
                <a:ea typeface="Arial"/>
                <a:cs typeface="Arial"/>
              </a:defRPr>
            </a:lvl4pPr>
            <a:lvl5pPr>
              <a:defRPr sz="1875" b="0">
                <a:solidFill>
                  <a:srgbClr val="18364B"/>
                </a:solidFill>
                <a:latin typeface="Arial"/>
                <a:ea typeface="Arial"/>
                <a:cs typeface="Arial"/>
              </a:defRPr>
            </a:lvl5pPr>
            <a:lvl6pPr>
              <a:defRPr sz="1875" b="0">
                <a:solidFill>
                  <a:srgbClr val="18364B"/>
                </a:solidFill>
                <a:latin typeface="Arial"/>
                <a:ea typeface="Arial"/>
                <a:cs typeface="Arial"/>
              </a:defRPr>
            </a:lvl6pPr>
            <a:lvl7pPr>
              <a:defRPr sz="1875" b="0">
                <a:solidFill>
                  <a:srgbClr val="18364B"/>
                </a:solidFill>
                <a:latin typeface="Arial"/>
                <a:ea typeface="Arial"/>
                <a:cs typeface="Arial"/>
              </a:defRPr>
            </a:lvl7pPr>
            <a:lvl8pPr>
              <a:defRPr sz="1875" b="0">
                <a:solidFill>
                  <a:srgbClr val="18364B"/>
                </a:solidFill>
                <a:latin typeface="Arial"/>
                <a:ea typeface="Arial"/>
                <a:cs typeface="Arial"/>
              </a:defRPr>
            </a:lvl8pPr>
            <a:lvl9pPr>
              <a:defRPr sz="1875" b="0">
                <a:solidFill>
                  <a:srgbClr val="18364B"/>
                </a:solidFill>
                <a:latin typeface="Arial"/>
                <a:ea typeface="Arial"/>
                <a:cs typeface="Arial"/>
              </a:defRPr>
            </a:lvl9pPr>
          </a:lstStyle>
          <a:p xmlns:a="http://schemas.openxmlformats.org/drawingml/2006/main">
            <a:pPr>
              <a:defRPr sz="1875" b="0">
                <a:solidFill>
                  <a:srgbClr val="18364B"/>
                </a:solidFill>
                <a:latin typeface="Arial"/>
                <a:ea typeface="Arial"/>
                <a:cs typeface="Arial"/>
              </a:defRPr>
            </a:pPr>
            <a:r>
              <a:rPr sz="1875" b="0">
                <a:solidFill>
                  <a:srgbClr val="18364B"/>
                </a:solidFill>
                <a:latin typeface="Arial"/>
                <a:ea typeface="Arial"/>
                <a:cs typeface="Arial"/>
              </a:rPr>
              <a:t>Test longer sequences and pretrained embeddings.</a:t>
            </a:r>
          </a:p>
        </p:txBody>
      </p:sp>
      <p:sp>
        <p:nvSpPr>
          <p:cNvPr id="10" name="">
            <a:extLst xmlns:a="http://schemas.openxmlformats.org/drawingml/2006/main">
              <a:ext uri="{FF2B5EF4-FFF2-40B4-BE49-F238E27FC236}">
                <a16:creationId xmlns:a16="http://schemas.microsoft.com/office/drawing/2014/main" id="{FCAD2DD7-9EFA-4A52-9507-50AEFDCAD37B}"/>
              </a:ext>
            </a:extLst>
          </p:cNvPr>
          <p:cNvSpPr>
            <a:spLocks xmlns:a="http://schemas.openxmlformats.org/drawingml/2006/main" noGrp="1"/>
          </p:cNvSpPr>
          <p:nvPr/>
        </p:nvSpPr>
        <p:spPr>
          <a:xfrm xmlns:a="http://schemas.openxmlformats.org/drawingml/2006/main">
            <a:off x="647700" y="47148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07F7A"/>
                </a:solidFill>
                <a:latin typeface="Arial"/>
                <a:ea typeface="Arial"/>
                <a:cs typeface="Arial"/>
              </a:defRPr>
            </a:defPPr>
            <a:lvl1pPr>
              <a:defRPr sz="3825" b="1">
                <a:solidFill>
                  <a:srgbClr val="007F7A"/>
                </a:solidFill>
                <a:latin typeface="Arial"/>
                <a:ea typeface="Arial"/>
                <a:cs typeface="Arial"/>
              </a:defRPr>
            </a:lvl1pPr>
            <a:lvl2pPr>
              <a:defRPr sz="3825" b="1">
                <a:solidFill>
                  <a:srgbClr val="007F7A"/>
                </a:solidFill>
                <a:latin typeface="Arial"/>
                <a:ea typeface="Arial"/>
                <a:cs typeface="Arial"/>
              </a:defRPr>
            </a:lvl2pPr>
            <a:lvl3pPr>
              <a:defRPr sz="3825" b="1">
                <a:solidFill>
                  <a:srgbClr val="007F7A"/>
                </a:solidFill>
                <a:latin typeface="Arial"/>
                <a:ea typeface="Arial"/>
                <a:cs typeface="Arial"/>
              </a:defRPr>
            </a:lvl3pPr>
            <a:lvl4pPr>
              <a:defRPr sz="3825" b="1">
                <a:solidFill>
                  <a:srgbClr val="007F7A"/>
                </a:solidFill>
                <a:latin typeface="Arial"/>
                <a:ea typeface="Arial"/>
                <a:cs typeface="Arial"/>
              </a:defRPr>
            </a:lvl4pPr>
            <a:lvl5pPr>
              <a:defRPr sz="3825" b="1">
                <a:solidFill>
                  <a:srgbClr val="007F7A"/>
                </a:solidFill>
                <a:latin typeface="Arial"/>
                <a:ea typeface="Arial"/>
                <a:cs typeface="Arial"/>
              </a:defRPr>
            </a:lvl5pPr>
            <a:lvl6pPr>
              <a:defRPr sz="3825" b="1">
                <a:solidFill>
                  <a:srgbClr val="007F7A"/>
                </a:solidFill>
                <a:latin typeface="Arial"/>
                <a:ea typeface="Arial"/>
                <a:cs typeface="Arial"/>
              </a:defRPr>
            </a:lvl6pPr>
            <a:lvl7pPr>
              <a:defRPr sz="3825" b="1">
                <a:solidFill>
                  <a:srgbClr val="007F7A"/>
                </a:solidFill>
                <a:latin typeface="Arial"/>
                <a:ea typeface="Arial"/>
                <a:cs typeface="Arial"/>
              </a:defRPr>
            </a:lvl7pPr>
            <a:lvl8pPr>
              <a:defRPr sz="3825" b="1">
                <a:solidFill>
                  <a:srgbClr val="007F7A"/>
                </a:solidFill>
                <a:latin typeface="Arial"/>
                <a:ea typeface="Arial"/>
                <a:cs typeface="Arial"/>
              </a:defRPr>
            </a:lvl8pPr>
            <a:lvl9pPr>
              <a:defRPr sz="3825" b="1">
                <a:solidFill>
                  <a:srgbClr val="007F7A"/>
                </a:solidFill>
                <a:latin typeface="Arial"/>
                <a:ea typeface="Arial"/>
                <a:cs typeface="Arial"/>
              </a:defRPr>
            </a:lvl9pPr>
          </a:lstStyle>
          <a:p xmlns:a="http://schemas.openxmlformats.org/drawingml/2006/main">
            <a:pPr>
              <a:defRPr sz="3825" b="1">
                <a:solidFill>
                  <a:srgbClr val="007F7A"/>
                </a:solidFill>
                <a:latin typeface="Arial"/>
                <a:ea typeface="Arial"/>
                <a:cs typeface="Arial"/>
              </a:defRPr>
            </a:pPr>
            <a:r>
              <a:rPr sz="3825" b="1">
                <a:solidFill>
                  <a:srgbClr val="007F7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C5A390E-401B-478F-B172-27DE9749462A}"/>
              </a:ext>
            </a:extLst>
          </p:cNvPr>
          <p:cNvSpPr>
            <a:spLocks xmlns:a="http://schemas.openxmlformats.org/drawingml/2006/main" noGrp="1"/>
          </p:cNvSpPr>
          <p:nvPr/>
        </p:nvSpPr>
        <p:spPr>
          <a:xfrm xmlns:a="http://schemas.openxmlformats.org/drawingml/2006/main">
            <a:off x="2047875" y="471487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Generalization</a:t>
            </a:r>
          </a:p>
        </p:txBody>
      </p:sp>
      <p:sp>
        <p:nvSpPr>
          <p:cNvPr id="12" name="">
            <a:extLst xmlns:a="http://schemas.openxmlformats.org/drawingml/2006/main">
              <a:ext uri="{FF2B5EF4-FFF2-40B4-BE49-F238E27FC236}">
                <a16:creationId xmlns:a16="http://schemas.microsoft.com/office/drawing/2014/main" id="{32E2A733-FC92-4088-AF77-B0171F32F587}"/>
              </a:ext>
            </a:extLst>
          </p:cNvPr>
          <p:cNvSpPr>
            <a:spLocks xmlns:a="http://schemas.openxmlformats.org/drawingml/2006/main" noGrp="1"/>
          </p:cNvSpPr>
          <p:nvPr/>
        </p:nvSpPr>
        <p:spPr>
          <a:xfrm xmlns:a="http://schemas.openxmlformats.org/drawingml/2006/main">
            <a:off x="2066925" y="5286375"/>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4B"/>
                </a:solidFill>
                <a:latin typeface="Arial"/>
                <a:ea typeface="Arial"/>
                <a:cs typeface="Arial"/>
              </a:defRPr>
            </a:defPPr>
            <a:lvl1pPr>
              <a:defRPr sz="1875" b="0">
                <a:solidFill>
                  <a:srgbClr val="18364B"/>
                </a:solidFill>
                <a:latin typeface="Arial"/>
                <a:ea typeface="Arial"/>
                <a:cs typeface="Arial"/>
              </a:defRPr>
            </a:lvl1pPr>
            <a:lvl2pPr>
              <a:defRPr sz="1875" b="0">
                <a:solidFill>
                  <a:srgbClr val="18364B"/>
                </a:solidFill>
                <a:latin typeface="Arial"/>
                <a:ea typeface="Arial"/>
                <a:cs typeface="Arial"/>
              </a:defRPr>
            </a:lvl2pPr>
            <a:lvl3pPr>
              <a:defRPr sz="1875" b="0">
                <a:solidFill>
                  <a:srgbClr val="18364B"/>
                </a:solidFill>
                <a:latin typeface="Arial"/>
                <a:ea typeface="Arial"/>
                <a:cs typeface="Arial"/>
              </a:defRPr>
            </a:lvl3pPr>
            <a:lvl4pPr>
              <a:defRPr sz="1875" b="0">
                <a:solidFill>
                  <a:srgbClr val="18364B"/>
                </a:solidFill>
                <a:latin typeface="Arial"/>
                <a:ea typeface="Arial"/>
                <a:cs typeface="Arial"/>
              </a:defRPr>
            </a:lvl4pPr>
            <a:lvl5pPr>
              <a:defRPr sz="1875" b="0">
                <a:solidFill>
                  <a:srgbClr val="18364B"/>
                </a:solidFill>
                <a:latin typeface="Arial"/>
                <a:ea typeface="Arial"/>
                <a:cs typeface="Arial"/>
              </a:defRPr>
            </a:lvl5pPr>
            <a:lvl6pPr>
              <a:defRPr sz="1875" b="0">
                <a:solidFill>
                  <a:srgbClr val="18364B"/>
                </a:solidFill>
                <a:latin typeface="Arial"/>
                <a:ea typeface="Arial"/>
                <a:cs typeface="Arial"/>
              </a:defRPr>
            </a:lvl6pPr>
            <a:lvl7pPr>
              <a:defRPr sz="1875" b="0">
                <a:solidFill>
                  <a:srgbClr val="18364B"/>
                </a:solidFill>
                <a:latin typeface="Arial"/>
                <a:ea typeface="Arial"/>
                <a:cs typeface="Arial"/>
              </a:defRPr>
            </a:lvl7pPr>
            <a:lvl8pPr>
              <a:defRPr sz="1875" b="0">
                <a:solidFill>
                  <a:srgbClr val="18364B"/>
                </a:solidFill>
                <a:latin typeface="Arial"/>
                <a:ea typeface="Arial"/>
                <a:cs typeface="Arial"/>
              </a:defRPr>
            </a:lvl8pPr>
            <a:lvl9pPr>
              <a:defRPr sz="1875" b="0">
                <a:solidFill>
                  <a:srgbClr val="18364B"/>
                </a:solidFill>
                <a:latin typeface="Arial"/>
                <a:ea typeface="Arial"/>
                <a:cs typeface="Arial"/>
              </a:defRPr>
            </a:lvl9pPr>
          </a:lstStyle>
          <a:p xmlns:a="http://schemas.openxmlformats.org/drawingml/2006/main">
            <a:pPr>
              <a:defRPr sz="1875" b="0">
                <a:solidFill>
                  <a:srgbClr val="18364B"/>
                </a:solidFill>
                <a:latin typeface="Arial"/>
                <a:ea typeface="Arial"/>
                <a:cs typeface="Arial"/>
              </a:defRPr>
            </a:pPr>
            <a:r>
              <a:rPr sz="1875" b="0">
                <a:solidFill>
                  <a:srgbClr val="18364B"/>
                </a:solidFill>
                <a:latin typeface="Arial"/>
                <a:ea typeface="Arial"/>
                <a:cs typeface="Arial"/>
              </a:rPr>
              <a:t>Increase data and check near-duplicates or drug groups.</a:t>
            </a:r>
          </a:p>
        </p:txBody>
      </p:sp>
    </p:spTree>
    <p:extLst>
      <p:ext uri="{BB962C8B-B14F-4D97-AF65-F5344CB8AC3E}">
        <p14:creationId xmlns:p14="http://schemas.microsoft.com/office/powerpoint/2010/main" val="1774844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2026-10-20T13:48:40.8260000Z</dcterms:created>
  <dcterms:modified xsi:type="dcterms:W3CDTF">2026-10-20T13:48:40.8260000Z</dcterms:modified>
</coreProperties>
</file>