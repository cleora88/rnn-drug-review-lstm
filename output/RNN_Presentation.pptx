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3.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b9768906d03462a" /><Relationship Type="http://schemas.openxmlformats.org/officeDocument/2006/relationships/extended-properties" Target="/docProps/app.xml" Id="R696de7ce46fc4b37" /><Relationship Type="http://schemas.openxmlformats.org/officeDocument/2006/relationships/officeDocument" Target="/ppt/presentation.xml" Id="Rb0edd9fc2f974bf2" /></Relationships>
</file>

<file path=ppt/presentation.xml><?xml version="1.0" encoding="utf-8"?>
<p:presentation xmlns:p="http://schemas.openxmlformats.org/presentationml/2006/main">
  <p:sldMasterIdLst>
    <p:sldMasterId xmlns:r="http://schemas.openxmlformats.org/officeDocument/2006/relationships" id="2147483648" r:id="R6bdbae4893df49fc"/>
  </p:sldMasterIdLst>
  <p:notesMasterIdLst>
    <p:notesMasterId xmlns:r="http://schemas.openxmlformats.org/officeDocument/2006/relationships" r:id="R4e4a8884d23a4070"/>
  </p:notesMasterIdLst>
  <p:sldIdLst>
    <p:sldId xmlns:r="http://schemas.openxmlformats.org/officeDocument/2006/relationships" id="256" r:id="Raa78ea94160e4562"/>
    <p:sldId xmlns:r="http://schemas.openxmlformats.org/officeDocument/2006/relationships" id="257" r:id="R0ff8fcaeafce4d18"/>
    <p:sldId xmlns:r="http://schemas.openxmlformats.org/officeDocument/2006/relationships" id="258" r:id="R5a8e1cef3d204019"/>
    <p:sldId xmlns:r="http://schemas.openxmlformats.org/officeDocument/2006/relationships" id="259" r:id="R686bf4e2f3064201"/>
    <p:sldId xmlns:r="http://schemas.openxmlformats.org/officeDocument/2006/relationships" id="260" r:id="R99dde1f4242c4aa0"/>
    <p:sldId xmlns:r="http://schemas.openxmlformats.org/officeDocument/2006/relationships" id="261" r:id="R6fe9010620b84e1b"/>
    <p:sldId xmlns:r="http://schemas.openxmlformats.org/officeDocument/2006/relationships" id="262" r:id="Rdcfbef5d3c694e9e"/>
    <p:sldId xmlns:r="http://schemas.openxmlformats.org/officeDocument/2006/relationships" id="263" r:id="Rf939d212c371418a"/>
    <p:sldId xmlns:r="http://schemas.openxmlformats.org/officeDocument/2006/relationships" id="264" r:id="R0c9ebf01ae3e4dc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7e3aebbe7354a85" /><Relationship Type="http://schemas.openxmlformats.org/officeDocument/2006/relationships/slideMaster" Target="/ppt/slideMasters/slideMaster1.xml" Id="R6bdbae4893df49fc" /><Relationship Type="http://schemas.openxmlformats.org/officeDocument/2006/relationships/notesMaster" Target="/ppt/notesMasters/notesMaster1.xml" Id="R4e4a8884d23a4070" /><Relationship Type="http://schemas.openxmlformats.org/officeDocument/2006/relationships/presProps" Target="/ppt/presProps.xml" Id="R0de4a08a14e84f1a" /><Relationship Type="http://schemas.openxmlformats.org/officeDocument/2006/relationships/tableStyles" Target="/ppt/tableStyles.xml" Id="R572a5e2dfaac4ea2" /><Relationship Type="http://schemas.openxmlformats.org/officeDocument/2006/relationships/slide" Target="/ppt/slides/slide1.xml" Id="Raa78ea94160e4562" /><Relationship Type="http://schemas.openxmlformats.org/officeDocument/2006/relationships/slide" Target="/ppt/slides/slide2.xml" Id="R0ff8fcaeafce4d18" /><Relationship Type="http://schemas.openxmlformats.org/officeDocument/2006/relationships/slide" Target="/ppt/slides/slide3.xml" Id="R5a8e1cef3d204019" /><Relationship Type="http://schemas.openxmlformats.org/officeDocument/2006/relationships/slide" Target="/ppt/slides/slide4.xml" Id="R686bf4e2f3064201" /><Relationship Type="http://schemas.openxmlformats.org/officeDocument/2006/relationships/slide" Target="/ppt/slides/slide5.xml" Id="R99dde1f4242c4aa0" /><Relationship Type="http://schemas.openxmlformats.org/officeDocument/2006/relationships/slide" Target="/ppt/slides/slide6.xml" Id="R6fe9010620b84e1b" /><Relationship Type="http://schemas.openxmlformats.org/officeDocument/2006/relationships/slide" Target="/ppt/slides/slide7.xml" Id="Rdcfbef5d3c694e9e" /><Relationship Type="http://schemas.openxmlformats.org/officeDocument/2006/relationships/slide" Target="/ppt/slides/slide8.xml" Id="Rf939d212c371418a" /><Relationship Type="http://schemas.openxmlformats.org/officeDocument/2006/relationships/slide" Target="/ppt/slides/slide9.xml" Id="R0c9ebf01ae3e4dc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0500e1bc5ee45f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d413dbbb0474181" /><Relationship Type="http://schemas.openxmlformats.org/officeDocument/2006/relationships/notesMaster" Target="/ppt/notesMasters/notesMaster1.xml" Id="R237c6af87ebd4b1a" /></Relationships>
</file>

<file path=ppt/notesSlides/_rels/notesSlide2.xml.rels>&#65279;<?xml version="1.0" encoding="utf-8"?><Relationships xmlns="http://schemas.openxmlformats.org/package/2006/relationships"><Relationship Type="http://schemas.openxmlformats.org/officeDocument/2006/relationships/slide" Target="/ppt/slides/slide2.xml" Id="R56633457e79b4381" /><Relationship Type="http://schemas.openxmlformats.org/officeDocument/2006/relationships/notesMaster" Target="/ppt/notesMasters/notesMaster1.xml" Id="R8c56712023a545f4" /></Relationships>
</file>

<file path=ppt/notesSlides/_rels/notesSlide3.xml.rels>&#65279;<?xml version="1.0" encoding="utf-8"?><Relationships xmlns="http://schemas.openxmlformats.org/package/2006/relationships"><Relationship Type="http://schemas.openxmlformats.org/officeDocument/2006/relationships/slide" Target="/ppt/slides/slide3.xml" Id="Rdaf24583a3b841e0" /><Relationship Type="http://schemas.openxmlformats.org/officeDocument/2006/relationships/notesMaster" Target="/ppt/notesMasters/notesMaster1.xml" Id="Rad5c0c9703ad4031" /></Relationships>
</file>

<file path=ppt/notesSlides/_rels/notesSlide4.xml.rels>&#65279;<?xml version="1.0" encoding="utf-8"?><Relationships xmlns="http://schemas.openxmlformats.org/package/2006/relationships"><Relationship Type="http://schemas.openxmlformats.org/officeDocument/2006/relationships/slide" Target="/ppt/slides/slide4.xml" Id="R71694fda4d114a21" /><Relationship Type="http://schemas.openxmlformats.org/officeDocument/2006/relationships/notesMaster" Target="/ppt/notesMasters/notesMaster1.xml" Id="R7bf94e29db5448b0" /></Relationships>
</file>

<file path=ppt/notesSlides/_rels/notesSlide5.xml.rels>&#65279;<?xml version="1.0" encoding="utf-8"?><Relationships xmlns="http://schemas.openxmlformats.org/package/2006/relationships"><Relationship Type="http://schemas.openxmlformats.org/officeDocument/2006/relationships/slide" Target="/ppt/slides/slide5.xml" Id="Re7cd6423e7da4e17" /><Relationship Type="http://schemas.openxmlformats.org/officeDocument/2006/relationships/notesMaster" Target="/ppt/notesMasters/notesMaster1.xml" Id="Re7feb24205d94f41" /></Relationships>
</file>

<file path=ppt/notesSlides/_rels/notesSlide6.xml.rels>&#65279;<?xml version="1.0" encoding="utf-8"?><Relationships xmlns="http://schemas.openxmlformats.org/package/2006/relationships"><Relationship Type="http://schemas.openxmlformats.org/officeDocument/2006/relationships/slide" Target="/ppt/slides/slide6.xml" Id="R7790001982f24349" /><Relationship Type="http://schemas.openxmlformats.org/officeDocument/2006/relationships/notesMaster" Target="/ppt/notesMasters/notesMaster1.xml" Id="R056514045efc40b6" /></Relationships>
</file>

<file path=ppt/notesSlides/_rels/notesSlide7.xml.rels>&#65279;<?xml version="1.0" encoding="utf-8"?><Relationships xmlns="http://schemas.openxmlformats.org/package/2006/relationships"><Relationship Type="http://schemas.openxmlformats.org/officeDocument/2006/relationships/slide" Target="/ppt/slides/slide7.xml" Id="R636fc86dd48c4019" /><Relationship Type="http://schemas.openxmlformats.org/officeDocument/2006/relationships/notesMaster" Target="/ppt/notesMasters/notesMaster1.xml" Id="R5f10d4bcc5124d99" /></Relationships>
</file>

<file path=ppt/notesSlides/_rels/notesSlide8.xml.rels>&#65279;<?xml version="1.0" encoding="utf-8"?><Relationships xmlns="http://schemas.openxmlformats.org/package/2006/relationships"><Relationship Type="http://schemas.openxmlformats.org/officeDocument/2006/relationships/slide" Target="/ppt/slides/slide8.xml" Id="R7e6eb7fa15234619" /><Relationship Type="http://schemas.openxmlformats.org/officeDocument/2006/relationships/notesMaster" Target="/ppt/notesMasters/notesMaster1.xml" Id="Rbb213c6ca7094223" /></Relationships>
</file>

<file path=ppt/notesSlides/_rels/notesSlide9.xml.rels>&#65279;<?xml version="1.0" encoding="utf-8"?><Relationships xmlns="http://schemas.openxmlformats.org/package/2006/relationships"><Relationship Type="http://schemas.openxmlformats.org/officeDocument/2006/relationships/slide" Target="/ppt/slides/slide9.xml" Id="R6e531cf7af0848ca" /><Relationship Type="http://schemas.openxmlformats.org/officeDocument/2006/relationships/notesMaster" Target="/ppt/notesMasters/notesMaster1.xml" Id="R1309925ee3be47e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Introduce the classification task and the three architectures. Mention that other team members must be added before the defense.</a:t>
            </a:r>
          </a:p>
          <a:p xmlns:a="http://schemas.openxmlformats.org/drawingml/2006/main">
            <a:r>
              <a:t>Source: project code and results saved in results/. Assignment: Guidelines_RNN_2627.pdf.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Explain the target, emphasizing that rating thresholds are our own design choice. Only review text enters the model, preventing direct rating leakage. Dataset source: UCI dataset 462. Mirror: https://github.com/semnan-university-ai/Drug-Review-Dataset</a:t>
            </a:r>
          </a:p>
          <a:p xmlns:a="http://schemas.openxmlformats.org/drawingml/2006/main">
            <a:r>
              <a:t>Source: project code and results saved in results/. Assignment: Guidelines_RNN_2627.pdf.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75 seconds. The full downloaded files contain 161297 training and 53766 test reviews. The chart uses the final 12000-review training subset. Explain why accuracy alone can favor the majority class.</a:t>
            </a:r>
          </a:p>
          <a:p xmlns:a="http://schemas.openxmlformats.org/drawingml/2006/main">
            <a:r>
              <a:t>Source: project code and results saved in results/. Assignment: Guidelines_RNN_2627.pdf.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75 seconds. Normalize HTML and case, tokenize text and drop exact normalized duplicates. Remove test reviews also present in the original training partition. Then stratify the train/validation split and draw fixed subsets. Near-duplicates and shared-drug effects remain possible.</a:t>
            </a:r>
          </a:p>
          <a:p xmlns:a="http://schemas.openxmlformats.org/drawingml/2006/main">
            <a:r>
              <a:t>Source: project code and results saved in results/. Assignment: Guidelines_RNN_2627.pdf.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90 seconds. Vanilla has independent input, forget and output gates. CIFG removes one gate by setting the input gate to one minus the forget gate. WMC connects memory to the gates using tanh. Its output gate uses the newly updated memory. Cite the equations in the project appendix. All affine operations use nn.Linear, with no nn.LSTM.</a:t>
            </a:r>
          </a:p>
          <a:p xmlns:a="http://schemas.openxmlformats.org/drawingml/2006/main">
            <a:r>
              <a:t>Source: project code and results saved in results/. Assignment: Guidelines_RNN_2627.pdf.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75 seconds. Compare the first two settings to isolate learning rate, and the first and third to isolate batch size. Nine runs total, four epochs each. Adam, weighted cross entropy and clipping at norm one remain fixed. Select the best epoch by validation macro-F1. One seed means uncertainty remains.</a:t>
            </a:r>
          </a:p>
          <a:p xmlns:a="http://schemas.openxmlformats.org/drawingml/2006/main">
            <a:r>
              <a:t>Source: project code and results saved in results/. Assignment: Guidelines_RNN_2627.pdf.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Settings and checkpoints were selected using validation only. Explain the distinction between accuracy and macro-F1. The test subset is fixed across architectures. These are observed differences for a single seed, not proof of general architectural superiority.</a:t>
            </a:r>
          </a:p>
          <a:p xmlns:a="http://schemas.openxmlformats.org/drawingml/2006/main">
            <a:r>
              <a:t>Source: project code and results saved in results/. Assignment: Guidelines_RNN_2627.pdf.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This chart reports test F1 for the configuration with the highest validation macro-F1. Discuss the neutral class and mixed sentiment. Use the saved prediction CSV for concrete examples during questions.</a:t>
            </a:r>
          </a:p>
          <a:p xmlns:a="http://schemas.openxmlformats.org/drawingml/2006/main">
            <a:r>
              <a:t>Source: project code and results saved in results/. Assignment: Guidelines_RNN_2627.pdf.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The current results use one seed, limited data and four training epochs. Propose several seeds and more training before stronger claims. Longer sequences may preserve information lost by truncation. Pretrained embeddings, near-duplicate detection and grouping by drug offer further experiments. Total presentation timing is approximately ten minutes.</a:t>
            </a:r>
          </a:p>
          <a:p xmlns:a="http://schemas.openxmlformats.org/drawingml/2006/main">
            <a:r>
              <a:t>Source: project code and results saved in results/. Assignment: Guidelines_RNN_2627.pdf.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28e0a6db2764e2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10fe3e4573242a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38b58e484eb4f0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9ec2ae5d8d74ee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7c18118255740a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cd33dd5c79f48f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34809FA-7FF5-49C3-ABE4-F954877BF75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AFB8F31-9EE3-4326-9749-30232CC75D7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599EF6E-36A3-4B40-8B95-393974CCC91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F555251-6557-46E9-952B-86F42BB3057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1B527FE-F932-45A9-BBAC-4F8D661635F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44F2F62-0859-4889-BE4E-1559C686DFD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5E62E7A-4A5B-4A8D-9CA8-C0D859A7CA5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2070FA0-38D9-4C24-A523-1843CD018DE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ABFF353-1E89-49F0-B4D8-2C96E336014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EAFF7D9-11DF-4856-8ED0-7240ED9814E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51f92690a024ef8" /><Relationship Type="http://schemas.openxmlformats.org/officeDocument/2006/relationships/slideLayout" Target="/ppt/slideLayouts/slideLayout1.xml" Id="R2984576fd0df4af2" /><Relationship Type="http://schemas.openxmlformats.org/officeDocument/2006/relationships/slideLayout" Target="/ppt/slideLayouts/slideLayout2.xml" Id="Rb7e85a728f4d4be6" /><Relationship Type="http://schemas.openxmlformats.org/officeDocument/2006/relationships/slideLayout" Target="/ppt/slideLayouts/slideLayout3.xml" Id="R1bb3617fa5624645" /><Relationship Type="http://schemas.openxmlformats.org/officeDocument/2006/relationships/slideLayout" Target="/ppt/slideLayouts/slideLayout4.xml" Id="R52ef8084db674626" /><Relationship Type="http://schemas.openxmlformats.org/officeDocument/2006/relationships/slideLayout" Target="/ppt/slideLayouts/slideLayout5.xml" Id="Rece73baab6d34cc6" /><Relationship Type="http://schemas.openxmlformats.org/officeDocument/2006/relationships/slideLayout" Target="/ppt/slideLayouts/slideLayout6.xml" Id="R1cfded44a6fd4fa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984576fd0df4af2"/>
    <p:sldLayoutId xmlns:r="http://schemas.openxmlformats.org/officeDocument/2006/relationships" id="2147483650" r:id="Rb7e85a728f4d4be6"/>
    <p:sldLayoutId xmlns:r="http://schemas.openxmlformats.org/officeDocument/2006/relationships" id="2147483651" r:id="R1bb3617fa5624645"/>
    <p:sldLayoutId xmlns:r="http://schemas.openxmlformats.org/officeDocument/2006/relationships" id="2147483652" r:id="R52ef8084db674626"/>
    <p:sldLayoutId xmlns:r="http://schemas.openxmlformats.org/officeDocument/2006/relationships" id="2147483653" r:id="Rece73baab6d34cc6"/>
    <p:sldLayoutId xmlns:r="http://schemas.openxmlformats.org/officeDocument/2006/relationships" id="2147483654" r:id="R1cfded44a6fd4fa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a14bd5ae4bb45ad" /><Relationship Type="http://schemas.openxmlformats.org/officeDocument/2006/relationships/image" Target="/ppt/media/image.png" Id="R71e29a7b84464fac" /><Relationship Type="http://schemas.openxmlformats.org/officeDocument/2006/relationships/notesSlide" Target="/ppt/notesSlides/notesSlide1.xml" Id="Ra943de51745143c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5c227e47f9c4077" /><Relationship Type="http://schemas.openxmlformats.org/officeDocument/2006/relationships/notesSlide" Target="/ppt/notesSlides/notesSlide2.xml" Id="Ra86737ac90a54f5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8c61f3a51c04977" /><Relationship Type="http://schemas.openxmlformats.org/officeDocument/2006/relationships/chart" Target="/ppt/slides/charts/chart1.xml" Id="Rc989a90b7f4b4f06" /><Relationship Type="http://schemas.openxmlformats.org/officeDocument/2006/relationships/notesSlide" Target="/ppt/notesSlides/notesSlide3.xml" Id="Rbf07ced711fe4b9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005fc74268a4f50" /><Relationship Type="http://schemas.openxmlformats.org/officeDocument/2006/relationships/notesSlide" Target="/ppt/notesSlides/notesSlide4.xml" Id="R3d2ab493b714459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f7fda4d6c7a44fd" /><Relationship Type="http://schemas.openxmlformats.org/officeDocument/2006/relationships/notesSlide" Target="/ppt/notesSlides/notesSlide5.xml" Id="R23eb95a3829f49d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17989cad79b45c9" /><Relationship Type="http://schemas.openxmlformats.org/officeDocument/2006/relationships/chart" Target="/ppt/slides/charts/chart2.xml" Id="Rda3d5477a4334054" /><Relationship Type="http://schemas.openxmlformats.org/officeDocument/2006/relationships/notesSlide" Target="/ppt/notesSlides/notesSlide6.xml" Id="R9525ca24369f43b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e846214a9b549a8" /><Relationship Type="http://schemas.openxmlformats.org/officeDocument/2006/relationships/notesSlide" Target="/ppt/notesSlides/notesSlide7.xml" Id="R0cc1e90d72164f5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ae99cea178d4fa8" /><Relationship Type="http://schemas.openxmlformats.org/officeDocument/2006/relationships/chart" Target="/ppt/slides/charts/chart3.xml" Id="R9780d586ec554f35" /><Relationship Type="http://schemas.openxmlformats.org/officeDocument/2006/relationships/notesSlide" Target="/ppt/notesSlides/notesSlide8.xml" Id="R0c4407f1630644f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74133ed137d4731" /><Relationship Type="http://schemas.openxmlformats.org/officeDocument/2006/relationships/notesSlide" Target="/ppt/notesSlides/notesSlide9.xml" Id="R8836653321774e0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varyColors val="0"/>
        <c:ser>
          <c:idx val="0"/>
          <c:order val="0"/>
          <c:tx>
            <c:v>Training reviews</c:v>
          </c:tx>
          <c:spPr>
            <a:solidFill xmlns:a="http://schemas.openxmlformats.org/drawingml/2006/main">
              <a:srgbClr val="287B9B"/>
            </a:solidFill>
          </c:spPr>
          <c:invertIfNegative val="0"/>
          <c:cat>
            <c:strRef>
              <c:f>'Chart Data'!$A$2:$A$4</c:f>
              <c:strCache>
                <c:ptCount val="3"/>
                <c:pt idx="0">
                  <c:v>Negative</c:v>
                </c:pt>
                <c:pt idx="1">
                  <c:v>Neutral</c:v>
                </c:pt>
                <c:pt idx="2">
                  <c:v>Positive</c:v>
                </c:pt>
              </c:strCache>
            </c:strRef>
          </c:cat>
          <c:val>
            <c:numRef>
              <c:f>'Chart Data'!$B$2:$B$4</c:f>
              <c:numCache>
                <c:formatCode>General</c:formatCode>
                <c:ptCount val="3"/>
                <c:pt idx="0">
                  <c:v>2975</c:v>
                </c:pt>
                <c:pt idx="1">
                  <c:v>1068</c:v>
                </c:pt>
                <c:pt idx="2">
                  <c:v>7957</c:v>
                </c:pt>
              </c:numCache>
            </c:numRef>
          </c:val>
        </c:ser>
        <c:dLbls>
          <c:txPr>
            <a:bodyPr xmlns:a="http://schemas.openxmlformats.org/drawingml/2006/main" anchorCtr="1"/>
            <a:lstStyle xmlns:a="http://schemas.openxmlformats.org/drawingml/2006/main"/>
            <a:p xmlns:a="http://schemas.openxmlformats.org/drawingml/2006/main">
              <a:pPr>
                <a:defRPr sz="1500">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Arial"/>
                <a:ea typeface="Arial"/>
                <a:cs typeface="Arial"/>
              </a:defRPr>
            </a:pPr>
          </a:p>
        </c:txPr>
        <c:crossAx val="48672768"/>
      </c:catAx>
      <c:valAx>
        <c:axId val="48672768"/>
        <c:scaling>
          <c:orientation val="minMax"/>
        </c:scaling>
        <c:delete val="0"/>
        <c:axPos val="l"/>
        <c:title>
          <c:tx>
            <c:rich>
              <a:bodyPr xmlns:a="http://schemas.openxmlformats.org/drawingml/2006/main"/>
              <a:lstStyle xmlns:a="http://schemas.openxmlformats.org/drawingml/2006/main"/>
              <a:p xmlns:a="http://schemas.openxmlformats.org/drawingml/2006/main">
                <a:r>
                  <a:rPr>
                    <a:latin typeface="Arial"/>
                    <a:ea typeface="Arial"/>
                    <a:cs typeface="Arial"/>
                  </a:rPr>
                  <a:t>Reviews</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Arial"/>
                <a:ea typeface="Arial"/>
                <a:cs typeface="Arial"/>
              </a:defRPr>
            </a:pPr>
          </a:p>
        </c:txPr>
        <c:crossAx val="48650112"/>
        <c:crossBetween val="between"/>
      </c:valAx>
    </c:plotArea>
    <c:plotVisOnly val="1"/>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lineChart>
        <c:grouping val="standard"/>
        <c:varyColors val="0"/>
        <c:ser>
          <c:idx val="0"/>
          <c:order val="0"/>
          <c:tx>
            <c:v>vanilla / 0.001 / 64</c:v>
          </c:tx>
          <c:marker>
            <c:symbol val="none"/>
          </c:marker>
          <c:cat>
            <c:numRef>
              <c:f>'Chart Data'!$A$2:$A$5</c:f>
              <c:numCache>
                <c:formatCode>General</c:formatCode>
                <c:ptCount val="4"/>
                <c:pt idx="0">
                  <c:v>1</c:v>
                </c:pt>
                <c:pt idx="1">
                  <c:v>2</c:v>
                </c:pt>
                <c:pt idx="2">
                  <c:v>3</c:v>
                </c:pt>
                <c:pt idx="3">
                  <c:v>4</c:v>
                </c:pt>
              </c:numCache>
            </c:numRef>
          </c:cat>
          <c:val>
            <c:numRef>
              <c:f>'Chart Data'!$B$2:$B$5</c:f>
              <c:numCache>
                <c:formatCode>0.00</c:formatCode>
                <c:ptCount val="4"/>
                <c:pt idx="0">
                  <c:v>0.334413</c:v>
                </c:pt>
                <c:pt idx="1">
                  <c:v>0.410813</c:v>
                </c:pt>
                <c:pt idx="2">
                  <c:v>0.459511</c:v>
                </c:pt>
                <c:pt idx="3">
                  <c:v>0.485908</c:v>
                </c:pt>
              </c:numCache>
            </c:numRef>
          </c:val>
        </c:ser>
        <c:ser>
          <c:idx val="1"/>
          <c:order val="1"/>
          <c:tx>
            <c:v>cifg / 0.001 / 64</c:v>
          </c:tx>
          <c:marker>
            <c:symbol val="none"/>
          </c:marker>
          <c:cat>
            <c:numRef>
              <c:f>'Chart Data'!$C$2:$C$5</c:f>
              <c:numCache>
                <c:formatCode>General</c:formatCode>
                <c:ptCount val="4"/>
                <c:pt idx="0">
                  <c:v>1</c:v>
                </c:pt>
                <c:pt idx="1">
                  <c:v>2</c:v>
                </c:pt>
                <c:pt idx="2">
                  <c:v>3</c:v>
                </c:pt>
                <c:pt idx="3">
                  <c:v>4</c:v>
                </c:pt>
              </c:numCache>
            </c:numRef>
          </c:cat>
          <c:val>
            <c:numRef>
              <c:f>'Chart Data'!$D$2:$D$5</c:f>
              <c:numCache>
                <c:formatCode>0.00</c:formatCode>
                <c:ptCount val="4"/>
                <c:pt idx="0">
                  <c:v>0.359974</c:v>
                </c:pt>
                <c:pt idx="1">
                  <c:v>0.444392</c:v>
                </c:pt>
                <c:pt idx="2">
                  <c:v>0.48735</c:v>
                </c:pt>
                <c:pt idx="3">
                  <c:v>0.513225</c:v>
                </c:pt>
              </c:numCache>
            </c:numRef>
          </c:val>
        </c:ser>
        <c:ser>
          <c:idx val="2"/>
          <c:order val="2"/>
          <c:tx>
            <c:v>wmc / 0.003 / 128</c:v>
          </c:tx>
          <c:marker>
            <c:symbol val="none"/>
          </c:marker>
          <c:cat>
            <c:numRef>
              <c:f>'Chart Data'!$E$2:$E$5</c:f>
              <c:numCache>
                <c:formatCode>General</c:formatCode>
                <c:ptCount val="4"/>
                <c:pt idx="0">
                  <c:v>1</c:v>
                </c:pt>
                <c:pt idx="1">
                  <c:v>2</c:v>
                </c:pt>
                <c:pt idx="2">
                  <c:v>3</c:v>
                </c:pt>
                <c:pt idx="3">
                  <c:v>4</c:v>
                </c:pt>
              </c:numCache>
            </c:numRef>
          </c:cat>
          <c:val>
            <c:numRef>
              <c:f>'Chart Data'!$F$2:$F$5</c:f>
              <c:numCache>
                <c:formatCode>0.00</c:formatCode>
                <c:ptCount val="4"/>
                <c:pt idx="0">
                  <c:v>0.398277</c:v>
                </c:pt>
                <c:pt idx="1">
                  <c:v>0.451536</c:v>
                </c:pt>
                <c:pt idx="2">
                  <c:v>0.438614</c:v>
                </c:pt>
                <c:pt idx="3">
                  <c:v>0.49126</c:v>
                </c:pt>
              </c:numCache>
            </c:numRef>
          </c:val>
        </c:ser>
        <c:dLbls>
          <c:txPr>
            <a:bodyPr xmlns:a="http://schemas.openxmlformats.org/drawingml/2006/main" anchorCtr="1"/>
            <a:lstStyle xmlns:a="http://schemas.openxmlformats.org/drawingml/2006/main"/>
            <a:p xmlns:a="http://schemas.openxmlformats.org/drawingml/2006/main">
              <a:pPr>
                <a:defRPr sz="1500">
                  <a:latin typeface="Arial"/>
                  <a:ea typeface="Arial"/>
                  <a:cs typeface="Arial"/>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Epoch</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Arial"/>
                <a:ea typeface="Arial"/>
                <a:cs typeface="Arial"/>
              </a:defRPr>
            </a:pPr>
          </a:p>
        </c:txPr>
        <c:crossAx val="48672768"/>
      </c:catAx>
      <c:valAx>
        <c:axId val="48672768"/>
        <c:scaling>
          <c:orientation val="minMax"/>
        </c:scaling>
        <c:delete val="0"/>
        <c:axPos val="l"/>
        <c:title>
          <c:tx>
            <c:rich>
              <a:bodyPr xmlns:a="http://schemas.openxmlformats.org/drawingml/2006/main"/>
              <a:lstStyle xmlns:a="http://schemas.openxmlformats.org/drawingml/2006/main"/>
              <a:p xmlns:a="http://schemas.openxmlformats.org/drawingml/2006/main">
                <a:r>
                  <a:rPr>
                    <a:latin typeface="Arial"/>
                    <a:ea typeface="Arial"/>
                    <a:cs typeface="Arial"/>
                  </a:rPr>
                  <a:t>Validation macro-F1</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Arial"/>
                <a:ea typeface="Arial"/>
                <a:cs typeface="Aria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500">
              <a:latin typeface="Arial"/>
              <a:ea typeface="Arial"/>
              <a:cs typeface="Arial"/>
            </a:defRPr>
          </a:pPr>
        </a:p>
      </c:txPr>
    </c:legend>
    <c:plotVisOnly val="1"/>
  </c:chart>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varyColors val="0"/>
        <c:ser>
          <c:idx val="0"/>
          <c:order val="0"/>
          <c:tx>
            <c:v>Test F1</c:v>
          </c:tx>
          <c:spPr>
            <a:solidFill xmlns:a="http://schemas.openxmlformats.org/drawingml/2006/main">
              <a:srgbClr val="287B9B"/>
            </a:solidFill>
          </c:spPr>
          <c:invertIfNegative val="0"/>
          <c:cat>
            <c:strRef>
              <c:f>'Chart Data'!$A$2:$A$4</c:f>
              <c:strCache>
                <c:ptCount val="3"/>
                <c:pt idx="0">
                  <c:v>Negative</c:v>
                </c:pt>
                <c:pt idx="1">
                  <c:v>Neutral</c:v>
                </c:pt>
                <c:pt idx="2">
                  <c:v>Positive</c:v>
                </c:pt>
              </c:strCache>
            </c:strRef>
          </c:cat>
          <c:val>
            <c:numRef>
              <c:f>'Chart Data'!$B$2:$B$4</c:f>
              <c:numCache>
                <c:formatCode>0.0</c:formatCode>
                <c:ptCount val="3"/>
                <c:pt idx="0">
                  <c:v>0.524892</c:v>
                </c:pt>
                <c:pt idx="1">
                  <c:v>0.202627</c:v>
                </c:pt>
                <c:pt idx="2">
                  <c:v>0.772709</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500">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Arial"/>
                <a:ea typeface="Arial"/>
                <a:cs typeface="Arial"/>
              </a:defRPr>
            </a:pPr>
          </a:p>
        </c:txPr>
        <c:crossAx val="48672768"/>
      </c:catAx>
      <c:valAx>
        <c:axId val="48672768"/>
        <c:scaling>
          <c:orientation val="minMax"/>
        </c:scaling>
        <c:delete val="0"/>
        <c:axPos val="l"/>
        <c:title>
          <c:tx>
            <c:rich>
              <a:bodyPr xmlns:a="http://schemas.openxmlformats.org/drawingml/2006/main"/>
              <a:lstStyle xmlns:a="http://schemas.openxmlformats.org/drawingml/2006/main"/>
              <a:p xmlns:a="http://schemas.openxmlformats.org/drawingml/2006/main">
                <a:r>
                  <a:rPr>
                    <a:latin typeface="Arial"/>
                    <a:ea typeface="Arial"/>
                    <a:cs typeface="Arial"/>
                  </a:rPr>
                  <a:t>F1</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Arial"/>
                <a:ea typeface="Arial"/>
                <a:cs typeface="Arial"/>
              </a:defRPr>
            </a:pPr>
          </a:p>
        </c:txPr>
        <c:crossAx val="48650112"/>
        <c:crossBetween val="between"/>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7123B4E-FB00-4142-8369-206EEC37A44F}"/>
              </a:ext>
            </a:extLst>
          </p:cNvPr>
          <p:cNvSpPr>
            <a:spLocks xmlns:a="http://schemas.openxmlformats.org/drawingml/2006/main" noGrp="1"/>
          </p:cNvSpPr>
          <p:nvPr/>
        </p:nvSpPr>
        <p:spPr>
          <a:xfrm xmlns:a="http://schemas.openxmlformats.org/drawingml/2006/main">
            <a:off x="619125" y="428625"/>
            <a:ext cx="10953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955"/>
                </a:solidFill>
                <a:latin typeface="Arial"/>
                <a:ea typeface="Arial"/>
                <a:cs typeface="Arial"/>
              </a:defRPr>
            </a:defPPr>
            <a:lvl1pPr>
              <a:defRPr sz="3225" b="1">
                <a:solidFill>
                  <a:srgbClr val="173955"/>
                </a:solidFill>
                <a:latin typeface="Arial"/>
                <a:ea typeface="Arial"/>
                <a:cs typeface="Arial"/>
              </a:defRPr>
            </a:lvl1pPr>
            <a:lvl2pPr>
              <a:defRPr sz="3225" b="1">
                <a:solidFill>
                  <a:srgbClr val="173955"/>
                </a:solidFill>
                <a:latin typeface="Arial"/>
                <a:ea typeface="Arial"/>
                <a:cs typeface="Arial"/>
              </a:defRPr>
            </a:lvl2pPr>
            <a:lvl3pPr>
              <a:defRPr sz="3225" b="1">
                <a:solidFill>
                  <a:srgbClr val="173955"/>
                </a:solidFill>
                <a:latin typeface="Arial"/>
                <a:ea typeface="Arial"/>
                <a:cs typeface="Arial"/>
              </a:defRPr>
            </a:lvl3pPr>
            <a:lvl4pPr>
              <a:defRPr sz="3225" b="1">
                <a:solidFill>
                  <a:srgbClr val="173955"/>
                </a:solidFill>
                <a:latin typeface="Arial"/>
                <a:ea typeface="Arial"/>
                <a:cs typeface="Arial"/>
              </a:defRPr>
            </a:lvl4pPr>
            <a:lvl5pPr>
              <a:defRPr sz="3225" b="1">
                <a:solidFill>
                  <a:srgbClr val="173955"/>
                </a:solidFill>
                <a:latin typeface="Arial"/>
                <a:ea typeface="Arial"/>
                <a:cs typeface="Arial"/>
              </a:defRPr>
            </a:lvl5pPr>
            <a:lvl6pPr>
              <a:defRPr sz="3225" b="1">
                <a:solidFill>
                  <a:srgbClr val="173955"/>
                </a:solidFill>
                <a:latin typeface="Arial"/>
                <a:ea typeface="Arial"/>
                <a:cs typeface="Arial"/>
              </a:defRPr>
            </a:lvl6pPr>
            <a:lvl7pPr>
              <a:defRPr sz="3225" b="1">
                <a:solidFill>
                  <a:srgbClr val="173955"/>
                </a:solidFill>
                <a:latin typeface="Arial"/>
                <a:ea typeface="Arial"/>
                <a:cs typeface="Arial"/>
              </a:defRPr>
            </a:lvl7pPr>
            <a:lvl8pPr>
              <a:defRPr sz="3225" b="1">
                <a:solidFill>
                  <a:srgbClr val="173955"/>
                </a:solidFill>
                <a:latin typeface="Arial"/>
                <a:ea typeface="Arial"/>
                <a:cs typeface="Arial"/>
              </a:defRPr>
            </a:lvl8pPr>
            <a:lvl9pPr>
              <a:defRPr sz="3225" b="1">
                <a:solidFill>
                  <a:srgbClr val="173955"/>
                </a:solidFill>
                <a:latin typeface="Arial"/>
                <a:ea typeface="Arial"/>
                <a:cs typeface="Arial"/>
              </a:defRPr>
            </a:lvl9pPr>
          </a:lstStyle>
          <a:p xmlns:a="http://schemas.openxmlformats.org/drawingml/2006/main">
            <a:pPr>
              <a:defRPr sz="3225" b="1">
                <a:solidFill>
                  <a:srgbClr val="173955"/>
                </a:solidFill>
                <a:latin typeface="Arial"/>
                <a:ea typeface="Arial"/>
                <a:cs typeface="Arial"/>
              </a:defRPr>
            </a:pPr>
            <a:r>
              <a:rPr sz="3225" b="1">
                <a:solidFill>
                  <a:srgbClr val="173955"/>
                </a:solidFill>
                <a:latin typeface="Arial"/>
                <a:ea typeface="Arial"/>
                <a:cs typeface="Arial"/>
              </a:rPr>
              <a:t>Drug review sentiment</a:t>
            </a:r>
          </a:p>
          <a:p xmlns:a="http://schemas.openxmlformats.org/drawingml/2006/main">
            <a:pPr>
              <a:defRPr sz="3225" b="1">
                <a:solidFill>
                  <a:srgbClr val="173955"/>
                </a:solidFill>
                <a:latin typeface="Arial"/>
                <a:ea typeface="Arial"/>
                <a:cs typeface="Arial"/>
              </a:defRPr>
            </a:pPr>
            <a:r>
              <a:rPr sz="3225" b="1">
                <a:solidFill>
                  <a:srgbClr val="173955"/>
                </a:solidFill>
                <a:latin typeface="Arial"/>
                <a:ea typeface="Arial"/>
                <a:cs typeface="Arial"/>
              </a:rPr>
              <a:t>with manual LSTM cells</a:t>
            </a:r>
          </a:p>
        </p:txBody>
      </p:sp>
      <p:sp>
        <p:nvSpPr>
          <p:cNvPr id="2" name="">
            <a:extLst xmlns:a="http://schemas.openxmlformats.org/drawingml/2006/main">
              <a:ext uri="{FF2B5EF4-FFF2-40B4-BE49-F238E27FC236}">
                <a16:creationId xmlns:a16="http://schemas.microsoft.com/office/drawing/2014/main" id="{A3741E32-A947-44D9-8C95-DAF5C90BC435}"/>
              </a:ext>
            </a:extLst>
          </p:cNvPr>
          <p:cNvSpPr>
            <a:spLocks xmlns:a="http://schemas.openxmlformats.org/drawingml/2006/main" noGrp="1"/>
          </p:cNvSpPr>
          <p:nvPr/>
        </p:nvSpPr>
        <p:spPr>
          <a:xfrm xmlns:a="http://schemas.openxmlformats.org/drawingml/2006/main">
            <a:off x="666750" y="2619375"/>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0">
                <a:solidFill>
                  <a:srgbClr val="23394D"/>
                </a:solidFill>
                <a:latin typeface="Arial"/>
                <a:ea typeface="Arial"/>
                <a:cs typeface="Arial"/>
              </a:defRPr>
            </a:defPPr>
            <a:lvl1pPr>
              <a:defRPr sz="2625" b="0">
                <a:solidFill>
                  <a:srgbClr val="23394D"/>
                </a:solidFill>
                <a:latin typeface="Arial"/>
                <a:ea typeface="Arial"/>
                <a:cs typeface="Arial"/>
              </a:defRPr>
            </a:lvl1pPr>
            <a:lvl2pPr>
              <a:defRPr sz="2625" b="0">
                <a:solidFill>
                  <a:srgbClr val="23394D"/>
                </a:solidFill>
                <a:latin typeface="Arial"/>
                <a:ea typeface="Arial"/>
                <a:cs typeface="Arial"/>
              </a:defRPr>
            </a:lvl2pPr>
            <a:lvl3pPr>
              <a:defRPr sz="2625" b="0">
                <a:solidFill>
                  <a:srgbClr val="23394D"/>
                </a:solidFill>
                <a:latin typeface="Arial"/>
                <a:ea typeface="Arial"/>
                <a:cs typeface="Arial"/>
              </a:defRPr>
            </a:lvl3pPr>
            <a:lvl4pPr>
              <a:defRPr sz="2625" b="0">
                <a:solidFill>
                  <a:srgbClr val="23394D"/>
                </a:solidFill>
                <a:latin typeface="Arial"/>
                <a:ea typeface="Arial"/>
                <a:cs typeface="Arial"/>
              </a:defRPr>
            </a:lvl4pPr>
            <a:lvl5pPr>
              <a:defRPr sz="2625" b="0">
                <a:solidFill>
                  <a:srgbClr val="23394D"/>
                </a:solidFill>
                <a:latin typeface="Arial"/>
                <a:ea typeface="Arial"/>
                <a:cs typeface="Arial"/>
              </a:defRPr>
            </a:lvl5pPr>
            <a:lvl6pPr>
              <a:defRPr sz="2625" b="0">
                <a:solidFill>
                  <a:srgbClr val="23394D"/>
                </a:solidFill>
                <a:latin typeface="Arial"/>
                <a:ea typeface="Arial"/>
                <a:cs typeface="Arial"/>
              </a:defRPr>
            </a:lvl6pPr>
            <a:lvl7pPr>
              <a:defRPr sz="2625" b="0">
                <a:solidFill>
                  <a:srgbClr val="23394D"/>
                </a:solidFill>
                <a:latin typeface="Arial"/>
                <a:ea typeface="Arial"/>
                <a:cs typeface="Arial"/>
              </a:defRPr>
            </a:lvl7pPr>
            <a:lvl8pPr>
              <a:defRPr sz="2625" b="0">
                <a:solidFill>
                  <a:srgbClr val="23394D"/>
                </a:solidFill>
                <a:latin typeface="Arial"/>
                <a:ea typeface="Arial"/>
                <a:cs typeface="Arial"/>
              </a:defRPr>
            </a:lvl8pPr>
            <a:lvl9pPr>
              <a:defRPr sz="2625" b="0">
                <a:solidFill>
                  <a:srgbClr val="23394D"/>
                </a:solidFill>
                <a:latin typeface="Arial"/>
                <a:ea typeface="Arial"/>
                <a:cs typeface="Arial"/>
              </a:defRPr>
            </a:lvl9pPr>
          </a:lstStyle>
          <a:p xmlns:a="http://schemas.openxmlformats.org/drawingml/2006/main">
            <a:pPr>
              <a:defRPr sz="2625" b="0">
                <a:solidFill>
                  <a:srgbClr val="23394D"/>
                </a:solidFill>
                <a:latin typeface="Arial"/>
                <a:ea typeface="Arial"/>
                <a:cs typeface="Arial"/>
              </a:defRPr>
            </a:pPr>
            <a:r>
              <a:rPr sz="2625" b="0">
                <a:solidFill>
                  <a:srgbClr val="23394D"/>
                </a:solidFill>
                <a:latin typeface="Arial"/>
                <a:ea typeface="Arial"/>
                <a:cs typeface="Arial"/>
              </a:rPr>
              <a:t>Vanilla LSTM, CIFG and WMC</a:t>
            </a:r>
          </a:p>
        </p:txBody>
      </p:sp>
      <p:sp>
        <p:nvSpPr>
          <p:cNvPr id="3" name="">
            <a:extLst xmlns:a="http://schemas.openxmlformats.org/drawingml/2006/main">
              <a:ext uri="{FF2B5EF4-FFF2-40B4-BE49-F238E27FC236}">
                <a16:creationId xmlns:a16="http://schemas.microsoft.com/office/drawing/2014/main" id="{AD2E3BA1-AE96-4C54-B4BA-7F154D25DDE9}"/>
              </a:ext>
            </a:extLst>
          </p:cNvPr>
          <p:cNvSpPr>
            <a:spLocks xmlns:a="http://schemas.openxmlformats.org/drawingml/2006/main" noGrp="1"/>
          </p:cNvSpPr>
          <p:nvPr/>
        </p:nvSpPr>
        <p:spPr>
          <a:xfrm xmlns:a="http://schemas.openxmlformats.org/drawingml/2006/main">
            <a:off x="666750" y="4000500"/>
            <a:ext cx="8572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3394D"/>
                </a:solidFill>
                <a:latin typeface="Arial"/>
                <a:ea typeface="Arial"/>
                <a:cs typeface="Arial"/>
              </a:defRPr>
            </a:defPPr>
            <a:lvl1pPr>
              <a:defRPr sz="2100" b="0">
                <a:solidFill>
                  <a:srgbClr val="23394D"/>
                </a:solidFill>
                <a:latin typeface="Arial"/>
                <a:ea typeface="Arial"/>
                <a:cs typeface="Arial"/>
              </a:defRPr>
            </a:lvl1pPr>
            <a:lvl2pPr>
              <a:defRPr sz="2100" b="0">
                <a:solidFill>
                  <a:srgbClr val="23394D"/>
                </a:solidFill>
                <a:latin typeface="Arial"/>
                <a:ea typeface="Arial"/>
                <a:cs typeface="Arial"/>
              </a:defRPr>
            </a:lvl2pPr>
            <a:lvl3pPr>
              <a:defRPr sz="2100" b="0">
                <a:solidFill>
                  <a:srgbClr val="23394D"/>
                </a:solidFill>
                <a:latin typeface="Arial"/>
                <a:ea typeface="Arial"/>
                <a:cs typeface="Arial"/>
              </a:defRPr>
            </a:lvl3pPr>
            <a:lvl4pPr>
              <a:defRPr sz="2100" b="0">
                <a:solidFill>
                  <a:srgbClr val="23394D"/>
                </a:solidFill>
                <a:latin typeface="Arial"/>
                <a:ea typeface="Arial"/>
                <a:cs typeface="Arial"/>
              </a:defRPr>
            </a:lvl4pPr>
            <a:lvl5pPr>
              <a:defRPr sz="2100" b="0">
                <a:solidFill>
                  <a:srgbClr val="23394D"/>
                </a:solidFill>
                <a:latin typeface="Arial"/>
                <a:ea typeface="Arial"/>
                <a:cs typeface="Arial"/>
              </a:defRPr>
            </a:lvl5pPr>
            <a:lvl6pPr>
              <a:defRPr sz="2100" b="0">
                <a:solidFill>
                  <a:srgbClr val="23394D"/>
                </a:solidFill>
                <a:latin typeface="Arial"/>
                <a:ea typeface="Arial"/>
                <a:cs typeface="Arial"/>
              </a:defRPr>
            </a:lvl6pPr>
            <a:lvl7pPr>
              <a:defRPr sz="2100" b="0">
                <a:solidFill>
                  <a:srgbClr val="23394D"/>
                </a:solidFill>
                <a:latin typeface="Arial"/>
                <a:ea typeface="Arial"/>
                <a:cs typeface="Arial"/>
              </a:defRPr>
            </a:lvl7pPr>
            <a:lvl8pPr>
              <a:defRPr sz="2100" b="0">
                <a:solidFill>
                  <a:srgbClr val="23394D"/>
                </a:solidFill>
                <a:latin typeface="Arial"/>
                <a:ea typeface="Arial"/>
                <a:cs typeface="Arial"/>
              </a:defRPr>
            </a:lvl8pPr>
            <a:lvl9pPr>
              <a:defRPr sz="2100" b="0">
                <a:solidFill>
                  <a:srgbClr val="23394D"/>
                </a:solidFill>
                <a:latin typeface="Arial"/>
                <a:ea typeface="Arial"/>
                <a:cs typeface="Arial"/>
              </a:defRPr>
            </a:lvl9pPr>
          </a:lstStyle>
          <a:p xmlns:a="http://schemas.openxmlformats.org/drawingml/2006/main">
            <a:pPr>
              <a:defRPr sz="2100" b="0">
                <a:solidFill>
                  <a:srgbClr val="23394D"/>
                </a:solidFill>
                <a:latin typeface="Arial"/>
                <a:ea typeface="Arial"/>
                <a:cs typeface="Arial"/>
              </a:defRPr>
            </a:pPr>
            <a:r>
              <a:rPr sz="2100" b="0">
                <a:solidFill>
                  <a:srgbClr val="23394D"/>
                </a:solidFill>
                <a:latin typeface="Arial"/>
                <a:ea typeface="Arial"/>
                <a:cs typeface="Arial"/>
              </a:rPr>
              <a:t>Zouhair Eouichak</a:t>
            </a:r>
          </a:p>
          <a:p xmlns:a="http://schemas.openxmlformats.org/drawingml/2006/main">
            <a:pPr>
              <a:defRPr sz="2100" b="0">
                <a:solidFill>
                  <a:srgbClr val="23394D"/>
                </a:solidFill>
                <a:latin typeface="Arial"/>
                <a:ea typeface="Arial"/>
                <a:cs typeface="Arial"/>
              </a:defRPr>
            </a:pPr>
            <a:r>
              <a:rPr sz="2100" b="0">
                <a:solidFill>
                  <a:srgbClr val="23394D"/>
                </a:solidFill>
                <a:latin typeface="Arial"/>
                <a:ea typeface="Arial"/>
                <a:cs typeface="Arial"/>
              </a:rPr>
              <a:t>TP B / Advanced NLP / 2026-2027</a:t>
            </a:r>
          </a:p>
        </p:txBody>
      </p:sp>
      <p:pic>
        <p:nvPicPr>
          <p:cNvPr id="4" name="">
            <a:extLst xmlns:a="http://schemas.openxmlformats.org/drawingml/2006/main">
              <a:ext uri="{FF2B5EF4-FFF2-40B4-BE49-F238E27FC236}">
                <a16:creationId xmlns:a16="http://schemas.microsoft.com/office/drawing/2014/main" id="{7DB67BDC-5961-4595-A9B1-FE88CC818416}"/>
              </a:ext>
            </a:extLst>
          </p:cNvPr>
          <p:cNvPicPr>
            <a:picLocks xmlns:a="http://schemas.openxmlformats.org/drawingml/2006/main" noChangeAspect="1"/>
          </p:cNvPicPr>
          <p:nvPr/>
        </p:nvPicPr>
        <p:blipFill>
          <a:blip xmlns:r="http://schemas.openxmlformats.org/officeDocument/2006/relationships" xmlns:a="http://schemas.openxmlformats.org/drawingml/2006/main" r:embed="R71e29a7b84464fac"/>
          <a:stretch xmlns:a="http://schemas.openxmlformats.org/drawingml/2006/main"/>
        </p:blipFill>
        <p:spPr>
          <a:xfrm xmlns:a="http://schemas.openxmlformats.org/drawingml/2006/main">
            <a:off x="9525000" y="4748978"/>
            <a:ext cx="1809750" cy="408044"/>
          </a:xfrm>
          <a:prstGeom xmlns:a="http://schemas.openxmlformats.org/drawingml/2006/main" prst="rect">
            <a:avLst/>
          </a:prstGeom>
        </p:spPr>
      </p:pic>
    </p:spTree>
    <p:extLst>
      <p:ext uri="{BB962C8B-B14F-4D97-AF65-F5344CB8AC3E}">
        <p14:creationId xmlns:p14="http://schemas.microsoft.com/office/powerpoint/2010/main" val="1920267628"/>
      </p:ext>
    </p:extLst>
  </p:cSld>
</p:sld>
</file>

<file path=ppt/slides/slide2.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9526DBF-C554-430D-AB94-9977E498DC30}"/>
              </a:ext>
            </a:extLst>
          </p:cNvPr>
          <p:cNvSpPr>
            <a:spLocks xmlns:a="http://schemas.openxmlformats.org/drawingml/2006/main" noGrp="1"/>
          </p:cNvSpPr>
          <p:nvPr/>
        </p:nvSpPr>
        <p:spPr>
          <a:xfrm xmlns:a="http://schemas.openxmlformats.org/drawingml/2006/main">
            <a:off x="619125" y="428625"/>
            <a:ext cx="10953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955"/>
                </a:solidFill>
                <a:latin typeface="Arial"/>
                <a:ea typeface="Arial"/>
                <a:cs typeface="Arial"/>
              </a:defRPr>
            </a:defPPr>
            <a:lvl1pPr>
              <a:defRPr sz="3225" b="1">
                <a:solidFill>
                  <a:srgbClr val="173955"/>
                </a:solidFill>
                <a:latin typeface="Arial"/>
                <a:ea typeface="Arial"/>
                <a:cs typeface="Arial"/>
              </a:defRPr>
            </a:lvl1pPr>
            <a:lvl2pPr>
              <a:defRPr sz="3225" b="1">
                <a:solidFill>
                  <a:srgbClr val="173955"/>
                </a:solidFill>
                <a:latin typeface="Arial"/>
                <a:ea typeface="Arial"/>
                <a:cs typeface="Arial"/>
              </a:defRPr>
            </a:lvl2pPr>
            <a:lvl3pPr>
              <a:defRPr sz="3225" b="1">
                <a:solidFill>
                  <a:srgbClr val="173955"/>
                </a:solidFill>
                <a:latin typeface="Arial"/>
                <a:ea typeface="Arial"/>
                <a:cs typeface="Arial"/>
              </a:defRPr>
            </a:lvl3pPr>
            <a:lvl4pPr>
              <a:defRPr sz="3225" b="1">
                <a:solidFill>
                  <a:srgbClr val="173955"/>
                </a:solidFill>
                <a:latin typeface="Arial"/>
                <a:ea typeface="Arial"/>
                <a:cs typeface="Arial"/>
              </a:defRPr>
            </a:lvl4pPr>
            <a:lvl5pPr>
              <a:defRPr sz="3225" b="1">
                <a:solidFill>
                  <a:srgbClr val="173955"/>
                </a:solidFill>
                <a:latin typeface="Arial"/>
                <a:ea typeface="Arial"/>
                <a:cs typeface="Arial"/>
              </a:defRPr>
            </a:lvl5pPr>
            <a:lvl6pPr>
              <a:defRPr sz="3225" b="1">
                <a:solidFill>
                  <a:srgbClr val="173955"/>
                </a:solidFill>
                <a:latin typeface="Arial"/>
                <a:ea typeface="Arial"/>
                <a:cs typeface="Arial"/>
              </a:defRPr>
            </a:lvl6pPr>
            <a:lvl7pPr>
              <a:defRPr sz="3225" b="1">
                <a:solidFill>
                  <a:srgbClr val="173955"/>
                </a:solidFill>
                <a:latin typeface="Arial"/>
                <a:ea typeface="Arial"/>
                <a:cs typeface="Arial"/>
              </a:defRPr>
            </a:lvl7pPr>
            <a:lvl8pPr>
              <a:defRPr sz="3225" b="1">
                <a:solidFill>
                  <a:srgbClr val="173955"/>
                </a:solidFill>
                <a:latin typeface="Arial"/>
                <a:ea typeface="Arial"/>
                <a:cs typeface="Arial"/>
              </a:defRPr>
            </a:lvl8pPr>
            <a:lvl9pPr>
              <a:defRPr sz="3225" b="1">
                <a:solidFill>
                  <a:srgbClr val="173955"/>
                </a:solidFill>
                <a:latin typeface="Arial"/>
                <a:ea typeface="Arial"/>
                <a:cs typeface="Arial"/>
              </a:defRPr>
            </a:lvl9pPr>
          </a:lstStyle>
          <a:p xmlns:a="http://schemas.openxmlformats.org/drawingml/2006/main">
            <a:pPr>
              <a:defRPr sz="3225" b="1">
                <a:solidFill>
                  <a:srgbClr val="173955"/>
                </a:solidFill>
                <a:latin typeface="Arial"/>
                <a:ea typeface="Arial"/>
                <a:cs typeface="Arial"/>
              </a:defRPr>
            </a:pPr>
            <a:r>
              <a:rPr sz="3225" b="1">
                <a:solidFill>
                  <a:srgbClr val="173955"/>
                </a:solidFill>
                <a:latin typeface="Arial"/>
                <a:ea typeface="Arial"/>
                <a:cs typeface="Arial"/>
              </a:rPr>
              <a:t>Task and labels</a:t>
            </a:r>
          </a:p>
        </p:txBody>
      </p:sp>
      <p:sp>
        <p:nvSpPr>
          <p:cNvPr id="2" name="">
            <a:extLst xmlns:a="http://schemas.openxmlformats.org/drawingml/2006/main">
              <a:ext uri="{FF2B5EF4-FFF2-40B4-BE49-F238E27FC236}">
                <a16:creationId xmlns:a16="http://schemas.microsoft.com/office/drawing/2014/main" id="{C7D3A84B-6357-4F8C-8627-835ABC12009C}"/>
              </a:ext>
            </a:extLst>
          </p:cNvPr>
          <p:cNvSpPr>
            <a:spLocks xmlns:a="http://schemas.openxmlformats.org/drawingml/2006/main" noGrp="1"/>
          </p:cNvSpPr>
          <p:nvPr/>
        </p:nvSpPr>
        <p:spPr>
          <a:xfrm xmlns:a="http://schemas.openxmlformats.org/drawingml/2006/main">
            <a:off x="666750" y="161925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3394D"/>
                </a:solidFill>
                <a:latin typeface="Arial"/>
                <a:ea typeface="Arial"/>
                <a:cs typeface="Arial"/>
              </a:defRPr>
            </a:defPPr>
            <a:lvl1pPr>
              <a:defRPr sz="2250" b="0">
                <a:solidFill>
                  <a:srgbClr val="23394D"/>
                </a:solidFill>
                <a:latin typeface="Arial"/>
                <a:ea typeface="Arial"/>
                <a:cs typeface="Arial"/>
              </a:defRPr>
            </a:lvl1pPr>
            <a:lvl2pPr>
              <a:defRPr sz="2250" b="0">
                <a:solidFill>
                  <a:srgbClr val="23394D"/>
                </a:solidFill>
                <a:latin typeface="Arial"/>
                <a:ea typeface="Arial"/>
                <a:cs typeface="Arial"/>
              </a:defRPr>
            </a:lvl2pPr>
            <a:lvl3pPr>
              <a:defRPr sz="2250" b="0">
                <a:solidFill>
                  <a:srgbClr val="23394D"/>
                </a:solidFill>
                <a:latin typeface="Arial"/>
                <a:ea typeface="Arial"/>
                <a:cs typeface="Arial"/>
              </a:defRPr>
            </a:lvl3pPr>
            <a:lvl4pPr>
              <a:defRPr sz="2250" b="0">
                <a:solidFill>
                  <a:srgbClr val="23394D"/>
                </a:solidFill>
                <a:latin typeface="Arial"/>
                <a:ea typeface="Arial"/>
                <a:cs typeface="Arial"/>
              </a:defRPr>
            </a:lvl4pPr>
            <a:lvl5pPr>
              <a:defRPr sz="2250" b="0">
                <a:solidFill>
                  <a:srgbClr val="23394D"/>
                </a:solidFill>
                <a:latin typeface="Arial"/>
                <a:ea typeface="Arial"/>
                <a:cs typeface="Arial"/>
              </a:defRPr>
            </a:lvl5pPr>
            <a:lvl6pPr>
              <a:defRPr sz="2250" b="0">
                <a:solidFill>
                  <a:srgbClr val="23394D"/>
                </a:solidFill>
                <a:latin typeface="Arial"/>
                <a:ea typeface="Arial"/>
                <a:cs typeface="Arial"/>
              </a:defRPr>
            </a:lvl6pPr>
            <a:lvl7pPr>
              <a:defRPr sz="2250" b="0">
                <a:solidFill>
                  <a:srgbClr val="23394D"/>
                </a:solidFill>
                <a:latin typeface="Arial"/>
                <a:ea typeface="Arial"/>
                <a:cs typeface="Arial"/>
              </a:defRPr>
            </a:lvl7pPr>
            <a:lvl8pPr>
              <a:defRPr sz="2250" b="0">
                <a:solidFill>
                  <a:srgbClr val="23394D"/>
                </a:solidFill>
                <a:latin typeface="Arial"/>
                <a:ea typeface="Arial"/>
                <a:cs typeface="Arial"/>
              </a:defRPr>
            </a:lvl8pPr>
            <a:lvl9pPr>
              <a:defRPr sz="2250" b="0">
                <a:solidFill>
                  <a:srgbClr val="23394D"/>
                </a:solidFill>
                <a:latin typeface="Arial"/>
                <a:ea typeface="Arial"/>
                <a:cs typeface="Arial"/>
              </a:defRPr>
            </a:lvl9pPr>
          </a:lstStyle>
          <a:p xmlns:a="http://schemas.openxmlformats.org/drawingml/2006/main">
            <a:pPr>
              <a:defRPr sz="2250" b="0">
                <a:solidFill>
                  <a:srgbClr val="23394D"/>
                </a:solidFill>
                <a:latin typeface="Arial"/>
                <a:ea typeface="Arial"/>
                <a:cs typeface="Arial"/>
              </a:defRPr>
            </a:pPr>
            <a:r>
              <a:rPr sz="2250" b="0">
                <a:solidFill>
                  <a:srgbClr val="23394D"/>
                </a:solidFill>
                <a:latin typeface="Arial"/>
                <a:ea typeface="Arial"/>
                <a:cs typeface="Arial"/>
              </a:rPr>
              <a:t>Input: a patient’s written drug review</a:t>
            </a:r>
          </a:p>
        </p:txBody>
      </p:sp>
      <p:sp>
        <p:nvSpPr>
          <p:cNvPr id="3" name="">
            <a:extLst xmlns:a="http://schemas.openxmlformats.org/drawingml/2006/main">
              <a:ext uri="{FF2B5EF4-FFF2-40B4-BE49-F238E27FC236}">
                <a16:creationId xmlns:a16="http://schemas.microsoft.com/office/drawing/2014/main" id="{8C842609-4855-47DB-8A9E-F93F3796ED8F}"/>
              </a:ext>
            </a:extLst>
          </p:cNvPr>
          <p:cNvSpPr>
            <a:spLocks xmlns:a="http://schemas.openxmlformats.org/drawingml/2006/main" noGrp="1"/>
          </p:cNvSpPr>
          <p:nvPr/>
        </p:nvSpPr>
        <p:spPr>
          <a:xfrm xmlns:a="http://schemas.openxmlformats.org/drawingml/2006/main">
            <a:off x="666750" y="261937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3394D"/>
                </a:solidFill>
                <a:latin typeface="Arial"/>
                <a:ea typeface="Arial"/>
                <a:cs typeface="Arial"/>
              </a:defRPr>
            </a:defPPr>
            <a:lvl1pPr>
              <a:defRPr sz="2250" b="0">
                <a:solidFill>
                  <a:srgbClr val="23394D"/>
                </a:solidFill>
                <a:latin typeface="Arial"/>
                <a:ea typeface="Arial"/>
                <a:cs typeface="Arial"/>
              </a:defRPr>
            </a:lvl1pPr>
            <a:lvl2pPr>
              <a:defRPr sz="2250" b="0">
                <a:solidFill>
                  <a:srgbClr val="23394D"/>
                </a:solidFill>
                <a:latin typeface="Arial"/>
                <a:ea typeface="Arial"/>
                <a:cs typeface="Arial"/>
              </a:defRPr>
            </a:lvl2pPr>
            <a:lvl3pPr>
              <a:defRPr sz="2250" b="0">
                <a:solidFill>
                  <a:srgbClr val="23394D"/>
                </a:solidFill>
                <a:latin typeface="Arial"/>
                <a:ea typeface="Arial"/>
                <a:cs typeface="Arial"/>
              </a:defRPr>
            </a:lvl3pPr>
            <a:lvl4pPr>
              <a:defRPr sz="2250" b="0">
                <a:solidFill>
                  <a:srgbClr val="23394D"/>
                </a:solidFill>
                <a:latin typeface="Arial"/>
                <a:ea typeface="Arial"/>
                <a:cs typeface="Arial"/>
              </a:defRPr>
            </a:lvl4pPr>
            <a:lvl5pPr>
              <a:defRPr sz="2250" b="0">
                <a:solidFill>
                  <a:srgbClr val="23394D"/>
                </a:solidFill>
                <a:latin typeface="Arial"/>
                <a:ea typeface="Arial"/>
                <a:cs typeface="Arial"/>
              </a:defRPr>
            </a:lvl5pPr>
            <a:lvl6pPr>
              <a:defRPr sz="2250" b="0">
                <a:solidFill>
                  <a:srgbClr val="23394D"/>
                </a:solidFill>
                <a:latin typeface="Arial"/>
                <a:ea typeface="Arial"/>
                <a:cs typeface="Arial"/>
              </a:defRPr>
            </a:lvl6pPr>
            <a:lvl7pPr>
              <a:defRPr sz="2250" b="0">
                <a:solidFill>
                  <a:srgbClr val="23394D"/>
                </a:solidFill>
                <a:latin typeface="Arial"/>
                <a:ea typeface="Arial"/>
                <a:cs typeface="Arial"/>
              </a:defRPr>
            </a:lvl7pPr>
            <a:lvl8pPr>
              <a:defRPr sz="2250" b="0">
                <a:solidFill>
                  <a:srgbClr val="23394D"/>
                </a:solidFill>
                <a:latin typeface="Arial"/>
                <a:ea typeface="Arial"/>
                <a:cs typeface="Arial"/>
              </a:defRPr>
            </a:lvl8pPr>
            <a:lvl9pPr>
              <a:defRPr sz="2250" b="0">
                <a:solidFill>
                  <a:srgbClr val="23394D"/>
                </a:solidFill>
                <a:latin typeface="Arial"/>
                <a:ea typeface="Arial"/>
                <a:cs typeface="Arial"/>
              </a:defRPr>
            </a:lvl9pPr>
          </a:lstStyle>
          <a:p xmlns:a="http://schemas.openxmlformats.org/drawingml/2006/main">
            <a:pPr>
              <a:defRPr sz="2250" b="0">
                <a:solidFill>
                  <a:srgbClr val="23394D"/>
                </a:solidFill>
                <a:latin typeface="Arial"/>
                <a:ea typeface="Arial"/>
                <a:cs typeface="Arial"/>
              </a:defRPr>
            </a:pPr>
            <a:r>
              <a:rPr sz="2250" b="0">
                <a:solidFill>
                  <a:srgbClr val="23394D"/>
                </a:solidFill>
                <a:latin typeface="Arial"/>
                <a:ea typeface="Arial"/>
                <a:cs typeface="Arial"/>
              </a:rPr>
              <a:t>Target: negative (1-4), neutral (5-6), positive (7-10)</a:t>
            </a:r>
          </a:p>
        </p:txBody>
      </p:sp>
      <p:sp>
        <p:nvSpPr>
          <p:cNvPr id="4" name="">
            <a:extLst xmlns:a="http://schemas.openxmlformats.org/drawingml/2006/main">
              <a:ext uri="{FF2B5EF4-FFF2-40B4-BE49-F238E27FC236}">
                <a16:creationId xmlns:a16="http://schemas.microsoft.com/office/drawing/2014/main" id="{A8C8D5CB-C9EE-445F-8E4B-E53DC00E7C27}"/>
              </a:ext>
            </a:extLst>
          </p:cNvPr>
          <p:cNvSpPr>
            <a:spLocks xmlns:a="http://schemas.openxmlformats.org/drawingml/2006/main" noGrp="1"/>
          </p:cNvSpPr>
          <p:nvPr/>
        </p:nvSpPr>
        <p:spPr>
          <a:xfrm xmlns:a="http://schemas.openxmlformats.org/drawingml/2006/main">
            <a:off x="666750" y="361950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3394D"/>
                </a:solidFill>
                <a:latin typeface="Arial"/>
                <a:ea typeface="Arial"/>
                <a:cs typeface="Arial"/>
              </a:defRPr>
            </a:defPPr>
            <a:lvl1pPr>
              <a:defRPr sz="2250" b="0">
                <a:solidFill>
                  <a:srgbClr val="23394D"/>
                </a:solidFill>
                <a:latin typeface="Arial"/>
                <a:ea typeface="Arial"/>
                <a:cs typeface="Arial"/>
              </a:defRPr>
            </a:lvl1pPr>
            <a:lvl2pPr>
              <a:defRPr sz="2250" b="0">
                <a:solidFill>
                  <a:srgbClr val="23394D"/>
                </a:solidFill>
                <a:latin typeface="Arial"/>
                <a:ea typeface="Arial"/>
                <a:cs typeface="Arial"/>
              </a:defRPr>
            </a:lvl2pPr>
            <a:lvl3pPr>
              <a:defRPr sz="2250" b="0">
                <a:solidFill>
                  <a:srgbClr val="23394D"/>
                </a:solidFill>
                <a:latin typeface="Arial"/>
                <a:ea typeface="Arial"/>
                <a:cs typeface="Arial"/>
              </a:defRPr>
            </a:lvl3pPr>
            <a:lvl4pPr>
              <a:defRPr sz="2250" b="0">
                <a:solidFill>
                  <a:srgbClr val="23394D"/>
                </a:solidFill>
                <a:latin typeface="Arial"/>
                <a:ea typeface="Arial"/>
                <a:cs typeface="Arial"/>
              </a:defRPr>
            </a:lvl4pPr>
            <a:lvl5pPr>
              <a:defRPr sz="2250" b="0">
                <a:solidFill>
                  <a:srgbClr val="23394D"/>
                </a:solidFill>
                <a:latin typeface="Arial"/>
                <a:ea typeface="Arial"/>
                <a:cs typeface="Arial"/>
              </a:defRPr>
            </a:lvl5pPr>
            <a:lvl6pPr>
              <a:defRPr sz="2250" b="0">
                <a:solidFill>
                  <a:srgbClr val="23394D"/>
                </a:solidFill>
                <a:latin typeface="Arial"/>
                <a:ea typeface="Arial"/>
                <a:cs typeface="Arial"/>
              </a:defRPr>
            </a:lvl6pPr>
            <a:lvl7pPr>
              <a:defRPr sz="2250" b="0">
                <a:solidFill>
                  <a:srgbClr val="23394D"/>
                </a:solidFill>
                <a:latin typeface="Arial"/>
                <a:ea typeface="Arial"/>
                <a:cs typeface="Arial"/>
              </a:defRPr>
            </a:lvl7pPr>
            <a:lvl8pPr>
              <a:defRPr sz="2250" b="0">
                <a:solidFill>
                  <a:srgbClr val="23394D"/>
                </a:solidFill>
                <a:latin typeface="Arial"/>
                <a:ea typeface="Arial"/>
                <a:cs typeface="Arial"/>
              </a:defRPr>
            </a:lvl8pPr>
            <a:lvl9pPr>
              <a:defRPr sz="2250" b="0">
                <a:solidFill>
                  <a:srgbClr val="23394D"/>
                </a:solidFill>
                <a:latin typeface="Arial"/>
                <a:ea typeface="Arial"/>
                <a:cs typeface="Arial"/>
              </a:defRPr>
            </a:lvl9pPr>
          </a:lstStyle>
          <a:p xmlns:a="http://schemas.openxmlformats.org/drawingml/2006/main">
            <a:pPr>
              <a:defRPr sz="2250" b="0">
                <a:solidFill>
                  <a:srgbClr val="23394D"/>
                </a:solidFill>
                <a:latin typeface="Arial"/>
                <a:ea typeface="Arial"/>
                <a:cs typeface="Arial"/>
              </a:defRPr>
            </a:pPr>
            <a:r>
              <a:rPr sz="2250" b="0">
                <a:solidFill>
                  <a:srgbClr val="23394D"/>
                </a:solidFill>
                <a:latin typeface="Arial"/>
                <a:ea typeface="Arial"/>
                <a:cs typeface="Arial"/>
              </a:rPr>
              <a:t>Goal: compare recurrent cells under a shared protocol</a:t>
            </a:r>
          </a:p>
        </p:txBody>
      </p:sp>
      <p:sp>
        <p:nvSpPr>
          <p:cNvPr id="5" name="">
            <a:extLst xmlns:a="http://schemas.openxmlformats.org/drawingml/2006/main">
              <a:ext uri="{FF2B5EF4-FFF2-40B4-BE49-F238E27FC236}">
                <a16:creationId xmlns:a16="http://schemas.microsoft.com/office/drawing/2014/main" id="{75BA27A9-F8B7-4B68-8663-FE4E1560DDF3}"/>
              </a:ext>
            </a:extLst>
          </p:cNvPr>
          <p:cNvSpPr>
            <a:spLocks xmlns:a="http://schemas.openxmlformats.org/drawingml/2006/main" noGrp="1"/>
          </p:cNvSpPr>
          <p:nvPr/>
        </p:nvSpPr>
        <p:spPr>
          <a:xfrm xmlns:a="http://schemas.openxmlformats.org/drawingml/2006/main">
            <a:off x="666750" y="461962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3394D"/>
                </a:solidFill>
                <a:latin typeface="Arial"/>
                <a:ea typeface="Arial"/>
                <a:cs typeface="Arial"/>
              </a:defRPr>
            </a:defPPr>
            <a:lvl1pPr>
              <a:defRPr sz="2250" b="0">
                <a:solidFill>
                  <a:srgbClr val="23394D"/>
                </a:solidFill>
                <a:latin typeface="Arial"/>
                <a:ea typeface="Arial"/>
                <a:cs typeface="Arial"/>
              </a:defRPr>
            </a:lvl1pPr>
            <a:lvl2pPr>
              <a:defRPr sz="2250" b="0">
                <a:solidFill>
                  <a:srgbClr val="23394D"/>
                </a:solidFill>
                <a:latin typeface="Arial"/>
                <a:ea typeface="Arial"/>
                <a:cs typeface="Arial"/>
              </a:defRPr>
            </a:lvl2pPr>
            <a:lvl3pPr>
              <a:defRPr sz="2250" b="0">
                <a:solidFill>
                  <a:srgbClr val="23394D"/>
                </a:solidFill>
                <a:latin typeface="Arial"/>
                <a:ea typeface="Arial"/>
                <a:cs typeface="Arial"/>
              </a:defRPr>
            </a:lvl3pPr>
            <a:lvl4pPr>
              <a:defRPr sz="2250" b="0">
                <a:solidFill>
                  <a:srgbClr val="23394D"/>
                </a:solidFill>
                <a:latin typeface="Arial"/>
                <a:ea typeface="Arial"/>
                <a:cs typeface="Arial"/>
              </a:defRPr>
            </a:lvl4pPr>
            <a:lvl5pPr>
              <a:defRPr sz="2250" b="0">
                <a:solidFill>
                  <a:srgbClr val="23394D"/>
                </a:solidFill>
                <a:latin typeface="Arial"/>
                <a:ea typeface="Arial"/>
                <a:cs typeface="Arial"/>
              </a:defRPr>
            </a:lvl5pPr>
            <a:lvl6pPr>
              <a:defRPr sz="2250" b="0">
                <a:solidFill>
                  <a:srgbClr val="23394D"/>
                </a:solidFill>
                <a:latin typeface="Arial"/>
                <a:ea typeface="Arial"/>
                <a:cs typeface="Arial"/>
              </a:defRPr>
            </a:lvl6pPr>
            <a:lvl7pPr>
              <a:defRPr sz="2250" b="0">
                <a:solidFill>
                  <a:srgbClr val="23394D"/>
                </a:solidFill>
                <a:latin typeface="Arial"/>
                <a:ea typeface="Arial"/>
                <a:cs typeface="Arial"/>
              </a:defRPr>
            </a:lvl7pPr>
            <a:lvl8pPr>
              <a:defRPr sz="2250" b="0">
                <a:solidFill>
                  <a:srgbClr val="23394D"/>
                </a:solidFill>
                <a:latin typeface="Arial"/>
                <a:ea typeface="Arial"/>
                <a:cs typeface="Arial"/>
              </a:defRPr>
            </a:lvl8pPr>
            <a:lvl9pPr>
              <a:defRPr sz="2250" b="0">
                <a:solidFill>
                  <a:srgbClr val="23394D"/>
                </a:solidFill>
                <a:latin typeface="Arial"/>
                <a:ea typeface="Arial"/>
                <a:cs typeface="Arial"/>
              </a:defRPr>
            </a:lvl9pPr>
          </a:lstStyle>
          <a:p xmlns:a="http://schemas.openxmlformats.org/drawingml/2006/main">
            <a:pPr>
              <a:defRPr sz="2250" b="0">
                <a:solidFill>
                  <a:srgbClr val="23394D"/>
                </a:solidFill>
                <a:latin typeface="Arial"/>
                <a:ea typeface="Arial"/>
                <a:cs typeface="Arial"/>
              </a:defRPr>
            </a:pPr>
            <a:r>
              <a:rPr sz="2250" b="0">
                <a:solidFill>
                  <a:srgbClr val="23394D"/>
                </a:solidFill>
                <a:latin typeface="Arial"/>
                <a:ea typeface="Arial"/>
                <a:cs typeface="Arial"/>
              </a:rPr>
              <a:t>Primary selection metric: validation macro-F1</a:t>
            </a:r>
          </a:p>
        </p:txBody>
      </p:sp>
    </p:spTree>
    <p:extLst>
      <p:ext uri="{BB962C8B-B14F-4D97-AF65-F5344CB8AC3E}">
        <p14:creationId xmlns:p14="http://schemas.microsoft.com/office/powerpoint/2010/main" val="586913293"/>
      </p:ext>
    </p:extLst>
  </p:cSld>
</p:sld>
</file>

<file path=ppt/slides/slide3.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8B2B694-DF0A-47F3-9846-3635922FAA3C}"/>
              </a:ext>
            </a:extLst>
          </p:cNvPr>
          <p:cNvSpPr>
            <a:spLocks xmlns:a="http://schemas.openxmlformats.org/drawingml/2006/main" noGrp="1"/>
          </p:cNvSpPr>
          <p:nvPr/>
        </p:nvSpPr>
        <p:spPr>
          <a:xfrm xmlns:a="http://schemas.openxmlformats.org/drawingml/2006/main">
            <a:off x="619125" y="428625"/>
            <a:ext cx="10953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955"/>
                </a:solidFill>
                <a:latin typeface="Arial"/>
                <a:ea typeface="Arial"/>
                <a:cs typeface="Arial"/>
              </a:defRPr>
            </a:defPPr>
            <a:lvl1pPr>
              <a:defRPr sz="3225" b="1">
                <a:solidFill>
                  <a:srgbClr val="173955"/>
                </a:solidFill>
                <a:latin typeface="Arial"/>
                <a:ea typeface="Arial"/>
                <a:cs typeface="Arial"/>
              </a:defRPr>
            </a:lvl1pPr>
            <a:lvl2pPr>
              <a:defRPr sz="3225" b="1">
                <a:solidFill>
                  <a:srgbClr val="173955"/>
                </a:solidFill>
                <a:latin typeface="Arial"/>
                <a:ea typeface="Arial"/>
                <a:cs typeface="Arial"/>
              </a:defRPr>
            </a:lvl2pPr>
            <a:lvl3pPr>
              <a:defRPr sz="3225" b="1">
                <a:solidFill>
                  <a:srgbClr val="173955"/>
                </a:solidFill>
                <a:latin typeface="Arial"/>
                <a:ea typeface="Arial"/>
                <a:cs typeface="Arial"/>
              </a:defRPr>
            </a:lvl3pPr>
            <a:lvl4pPr>
              <a:defRPr sz="3225" b="1">
                <a:solidFill>
                  <a:srgbClr val="173955"/>
                </a:solidFill>
                <a:latin typeface="Arial"/>
                <a:ea typeface="Arial"/>
                <a:cs typeface="Arial"/>
              </a:defRPr>
            </a:lvl4pPr>
            <a:lvl5pPr>
              <a:defRPr sz="3225" b="1">
                <a:solidFill>
                  <a:srgbClr val="173955"/>
                </a:solidFill>
                <a:latin typeface="Arial"/>
                <a:ea typeface="Arial"/>
                <a:cs typeface="Arial"/>
              </a:defRPr>
            </a:lvl5pPr>
            <a:lvl6pPr>
              <a:defRPr sz="3225" b="1">
                <a:solidFill>
                  <a:srgbClr val="173955"/>
                </a:solidFill>
                <a:latin typeface="Arial"/>
                <a:ea typeface="Arial"/>
                <a:cs typeface="Arial"/>
              </a:defRPr>
            </a:lvl6pPr>
            <a:lvl7pPr>
              <a:defRPr sz="3225" b="1">
                <a:solidFill>
                  <a:srgbClr val="173955"/>
                </a:solidFill>
                <a:latin typeface="Arial"/>
                <a:ea typeface="Arial"/>
                <a:cs typeface="Arial"/>
              </a:defRPr>
            </a:lvl7pPr>
            <a:lvl8pPr>
              <a:defRPr sz="3225" b="1">
                <a:solidFill>
                  <a:srgbClr val="173955"/>
                </a:solidFill>
                <a:latin typeface="Arial"/>
                <a:ea typeface="Arial"/>
                <a:cs typeface="Arial"/>
              </a:defRPr>
            </a:lvl8pPr>
            <a:lvl9pPr>
              <a:defRPr sz="3225" b="1">
                <a:solidFill>
                  <a:srgbClr val="173955"/>
                </a:solidFill>
                <a:latin typeface="Arial"/>
                <a:ea typeface="Arial"/>
                <a:cs typeface="Arial"/>
              </a:defRPr>
            </a:lvl9pPr>
          </a:lstStyle>
          <a:p xmlns:a="http://schemas.openxmlformats.org/drawingml/2006/main">
            <a:pPr>
              <a:defRPr sz="3225" b="1">
                <a:solidFill>
                  <a:srgbClr val="173955"/>
                </a:solidFill>
                <a:latin typeface="Arial"/>
                <a:ea typeface="Arial"/>
                <a:cs typeface="Arial"/>
              </a:defRPr>
            </a:pPr>
            <a:r>
              <a:rPr sz="3225" b="1">
                <a:solidFill>
                  <a:srgbClr val="173955"/>
                </a:solidFill>
                <a:latin typeface="Arial"/>
                <a:ea typeface="Arial"/>
                <a:cs typeface="Arial"/>
              </a:rPr>
              <a:t>Dataset exploration</a:t>
            </a:r>
          </a:p>
        </p:txBody>
      </p:sp>
      <p:graphicFrame>
        <p:nvGraphicFramePr>
          <p:cNvPr id="2" name="Chart">
            <a:extLst xmlns:a="http://schemas.openxmlformats.org/drawingml/2006/main">
              <a:ext uri="{FF2B5EF4-FFF2-40B4-BE49-F238E27FC236}">
                <a16:creationId xmlns:a16="http://schemas.microsoft.com/office/drawing/2014/main" id="{D40F1513-A24B-4759-913F-7A2B9BCD3E35}"/>
              </a:ext>
            </a:extLst>
          </p:cNvPr>
          <p:cNvGraphicFramePr/>
          <p:nvPr/>
        </p:nvGraphicFramePr>
        <p:xfrm>
          <a:off xmlns:a="http://schemas.openxmlformats.org/drawingml/2006/main" x="666750" y="1571625"/>
          <a:ext xmlns:a="http://schemas.openxmlformats.org/drawingml/2006/main" cx="6953250" cy="4000500"/>
        </p:xfrm>
        <a:graphic xmlns:a="http://schemas.openxmlformats.org/drawingml/2006/main">
          <a:graphicData uri="http://schemas.openxmlformats.org/drawingml/2006/chart">
            <c:chart xmlns:r="http://schemas.openxmlformats.org/officeDocument/2006/relationships" xmlns:c="http://schemas.openxmlformats.org/drawingml/2006/chart" r:id="Rc989a90b7f4b4f06"/>
          </a:graphicData>
        </a:graphic>
      </p:graphicFrame>
      <p:sp>
        <p:nvSpPr>
          <p:cNvPr id="3" name="">
            <a:extLst xmlns:a="http://schemas.openxmlformats.org/drawingml/2006/main">
              <a:ext uri="{FF2B5EF4-FFF2-40B4-BE49-F238E27FC236}">
                <a16:creationId xmlns:a16="http://schemas.microsoft.com/office/drawing/2014/main" id="{F6C3964C-B5BB-4926-915E-1946CDA08372}"/>
              </a:ext>
            </a:extLst>
          </p:cNvPr>
          <p:cNvSpPr>
            <a:spLocks xmlns:a="http://schemas.openxmlformats.org/drawingml/2006/main" noGrp="1"/>
          </p:cNvSpPr>
          <p:nvPr/>
        </p:nvSpPr>
        <p:spPr>
          <a:xfrm xmlns:a="http://schemas.openxmlformats.org/drawingml/2006/main">
            <a:off x="8096250" y="2047875"/>
            <a:ext cx="3429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23394D"/>
                </a:solidFill>
                <a:latin typeface="Arial"/>
                <a:ea typeface="Arial"/>
                <a:cs typeface="Arial"/>
              </a:defRPr>
            </a:defPPr>
            <a:lvl1pPr>
              <a:defRPr sz="2400" b="1">
                <a:solidFill>
                  <a:srgbClr val="23394D"/>
                </a:solidFill>
                <a:latin typeface="Arial"/>
                <a:ea typeface="Arial"/>
                <a:cs typeface="Arial"/>
              </a:defRPr>
            </a:lvl1pPr>
            <a:lvl2pPr>
              <a:defRPr sz="2400" b="1">
                <a:solidFill>
                  <a:srgbClr val="23394D"/>
                </a:solidFill>
                <a:latin typeface="Arial"/>
                <a:ea typeface="Arial"/>
                <a:cs typeface="Arial"/>
              </a:defRPr>
            </a:lvl2pPr>
            <a:lvl3pPr>
              <a:defRPr sz="2400" b="1">
                <a:solidFill>
                  <a:srgbClr val="23394D"/>
                </a:solidFill>
                <a:latin typeface="Arial"/>
                <a:ea typeface="Arial"/>
                <a:cs typeface="Arial"/>
              </a:defRPr>
            </a:lvl3pPr>
            <a:lvl4pPr>
              <a:defRPr sz="2400" b="1">
                <a:solidFill>
                  <a:srgbClr val="23394D"/>
                </a:solidFill>
                <a:latin typeface="Arial"/>
                <a:ea typeface="Arial"/>
                <a:cs typeface="Arial"/>
              </a:defRPr>
            </a:lvl4pPr>
            <a:lvl5pPr>
              <a:defRPr sz="2400" b="1">
                <a:solidFill>
                  <a:srgbClr val="23394D"/>
                </a:solidFill>
                <a:latin typeface="Arial"/>
                <a:ea typeface="Arial"/>
                <a:cs typeface="Arial"/>
              </a:defRPr>
            </a:lvl5pPr>
            <a:lvl6pPr>
              <a:defRPr sz="2400" b="1">
                <a:solidFill>
                  <a:srgbClr val="23394D"/>
                </a:solidFill>
                <a:latin typeface="Arial"/>
                <a:ea typeface="Arial"/>
                <a:cs typeface="Arial"/>
              </a:defRPr>
            </a:lvl6pPr>
            <a:lvl7pPr>
              <a:defRPr sz="2400" b="1">
                <a:solidFill>
                  <a:srgbClr val="23394D"/>
                </a:solidFill>
                <a:latin typeface="Arial"/>
                <a:ea typeface="Arial"/>
                <a:cs typeface="Arial"/>
              </a:defRPr>
            </a:lvl7pPr>
            <a:lvl8pPr>
              <a:defRPr sz="2400" b="1">
                <a:solidFill>
                  <a:srgbClr val="23394D"/>
                </a:solidFill>
                <a:latin typeface="Arial"/>
                <a:ea typeface="Arial"/>
                <a:cs typeface="Arial"/>
              </a:defRPr>
            </a:lvl8pPr>
            <a:lvl9pPr>
              <a:defRPr sz="2400" b="1">
                <a:solidFill>
                  <a:srgbClr val="23394D"/>
                </a:solidFill>
                <a:latin typeface="Arial"/>
                <a:ea typeface="Arial"/>
                <a:cs typeface="Arial"/>
              </a:defRPr>
            </a:lvl9pPr>
          </a:lstStyle>
          <a:p xmlns:a="http://schemas.openxmlformats.org/drawingml/2006/main">
            <a:pPr>
              <a:defRPr sz="2400" b="1">
                <a:solidFill>
                  <a:srgbClr val="23394D"/>
                </a:solidFill>
                <a:latin typeface="Arial"/>
                <a:ea typeface="Arial"/>
                <a:cs typeface="Arial"/>
              </a:defRPr>
            </a:pPr>
            <a:r>
              <a:rPr sz="2400" b="1">
                <a:solidFill>
                  <a:srgbClr val="23394D"/>
                </a:solidFill>
                <a:latin typeface="Arial"/>
                <a:ea typeface="Arial"/>
                <a:cs typeface="Arial"/>
              </a:rPr>
              <a:t>12,000 training</a:t>
            </a:r>
          </a:p>
          <a:p xmlns:a="http://schemas.openxmlformats.org/drawingml/2006/main">
            <a:pPr>
              <a:defRPr sz="2400" b="1">
                <a:solidFill>
                  <a:srgbClr val="23394D"/>
                </a:solidFill>
                <a:latin typeface="Arial"/>
                <a:ea typeface="Arial"/>
                <a:cs typeface="Arial"/>
              </a:defRPr>
            </a:pPr>
            <a:r>
              <a:rPr sz="2400" b="1">
                <a:solidFill>
                  <a:srgbClr val="23394D"/>
                </a:solidFill>
                <a:latin typeface="Arial"/>
                <a:ea typeface="Arial"/>
                <a:cs typeface="Arial"/>
              </a:rPr>
              <a:t>2,000 validation</a:t>
            </a:r>
          </a:p>
          <a:p xmlns:a="http://schemas.openxmlformats.org/drawingml/2006/main">
            <a:pPr>
              <a:defRPr sz="2400" b="1">
                <a:solidFill>
                  <a:srgbClr val="23394D"/>
                </a:solidFill>
                <a:latin typeface="Arial"/>
                <a:ea typeface="Arial"/>
                <a:cs typeface="Arial"/>
              </a:defRPr>
            </a:pPr>
            <a:r>
              <a:rPr sz="2400" b="1">
                <a:solidFill>
                  <a:srgbClr val="23394D"/>
                </a:solidFill>
                <a:latin typeface="Arial"/>
                <a:ea typeface="Arial"/>
                <a:cs typeface="Arial"/>
              </a:rPr>
              <a:t>4,000 test</a:t>
            </a:r>
          </a:p>
        </p:txBody>
      </p:sp>
      <p:sp>
        <p:nvSpPr>
          <p:cNvPr id="4" name="">
            <a:extLst xmlns:a="http://schemas.openxmlformats.org/drawingml/2006/main">
              <a:ext uri="{FF2B5EF4-FFF2-40B4-BE49-F238E27FC236}">
                <a16:creationId xmlns:a16="http://schemas.microsoft.com/office/drawing/2014/main" id="{2DB9126E-76BB-4CD5-AD7A-A97690DC6D6C}"/>
              </a:ext>
            </a:extLst>
          </p:cNvPr>
          <p:cNvSpPr>
            <a:spLocks xmlns:a="http://schemas.openxmlformats.org/drawingml/2006/main" noGrp="1"/>
          </p:cNvSpPr>
          <p:nvPr/>
        </p:nvSpPr>
        <p:spPr>
          <a:xfrm xmlns:a="http://schemas.openxmlformats.org/drawingml/2006/main">
            <a:off x="8096250" y="4381500"/>
            <a:ext cx="3429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23394D"/>
                </a:solidFill>
                <a:latin typeface="Arial"/>
                <a:ea typeface="Arial"/>
                <a:cs typeface="Arial"/>
              </a:defRPr>
            </a:defPPr>
            <a:lvl1pPr>
              <a:defRPr sz="2025" b="0">
                <a:solidFill>
                  <a:srgbClr val="23394D"/>
                </a:solidFill>
                <a:latin typeface="Arial"/>
                <a:ea typeface="Arial"/>
                <a:cs typeface="Arial"/>
              </a:defRPr>
            </a:lvl1pPr>
            <a:lvl2pPr>
              <a:defRPr sz="2025" b="0">
                <a:solidFill>
                  <a:srgbClr val="23394D"/>
                </a:solidFill>
                <a:latin typeface="Arial"/>
                <a:ea typeface="Arial"/>
                <a:cs typeface="Arial"/>
              </a:defRPr>
            </a:lvl2pPr>
            <a:lvl3pPr>
              <a:defRPr sz="2025" b="0">
                <a:solidFill>
                  <a:srgbClr val="23394D"/>
                </a:solidFill>
                <a:latin typeface="Arial"/>
                <a:ea typeface="Arial"/>
                <a:cs typeface="Arial"/>
              </a:defRPr>
            </a:lvl3pPr>
            <a:lvl4pPr>
              <a:defRPr sz="2025" b="0">
                <a:solidFill>
                  <a:srgbClr val="23394D"/>
                </a:solidFill>
                <a:latin typeface="Arial"/>
                <a:ea typeface="Arial"/>
                <a:cs typeface="Arial"/>
              </a:defRPr>
            </a:lvl4pPr>
            <a:lvl5pPr>
              <a:defRPr sz="2025" b="0">
                <a:solidFill>
                  <a:srgbClr val="23394D"/>
                </a:solidFill>
                <a:latin typeface="Arial"/>
                <a:ea typeface="Arial"/>
                <a:cs typeface="Arial"/>
              </a:defRPr>
            </a:lvl5pPr>
            <a:lvl6pPr>
              <a:defRPr sz="2025" b="0">
                <a:solidFill>
                  <a:srgbClr val="23394D"/>
                </a:solidFill>
                <a:latin typeface="Arial"/>
                <a:ea typeface="Arial"/>
                <a:cs typeface="Arial"/>
              </a:defRPr>
            </a:lvl6pPr>
            <a:lvl7pPr>
              <a:defRPr sz="2025" b="0">
                <a:solidFill>
                  <a:srgbClr val="23394D"/>
                </a:solidFill>
                <a:latin typeface="Arial"/>
                <a:ea typeface="Arial"/>
                <a:cs typeface="Arial"/>
              </a:defRPr>
            </a:lvl7pPr>
            <a:lvl8pPr>
              <a:defRPr sz="2025" b="0">
                <a:solidFill>
                  <a:srgbClr val="23394D"/>
                </a:solidFill>
                <a:latin typeface="Arial"/>
                <a:ea typeface="Arial"/>
                <a:cs typeface="Arial"/>
              </a:defRPr>
            </a:lvl8pPr>
            <a:lvl9pPr>
              <a:defRPr sz="2025" b="0">
                <a:solidFill>
                  <a:srgbClr val="23394D"/>
                </a:solidFill>
                <a:latin typeface="Arial"/>
                <a:ea typeface="Arial"/>
                <a:cs typeface="Arial"/>
              </a:defRPr>
            </a:lvl9pPr>
          </a:lstStyle>
          <a:p xmlns:a="http://schemas.openxmlformats.org/drawingml/2006/main">
            <a:pPr>
              <a:defRPr sz="2025" b="0">
                <a:solidFill>
                  <a:srgbClr val="23394D"/>
                </a:solidFill>
                <a:latin typeface="Arial"/>
                <a:ea typeface="Arial"/>
                <a:cs typeface="Arial"/>
              </a:defRPr>
            </a:pPr>
            <a:r>
              <a:rPr sz="2025" b="0">
                <a:solidFill>
                  <a:srgbClr val="23394D"/>
                </a:solidFill>
                <a:latin typeface="Arial"/>
                <a:ea typeface="Arial"/>
                <a:cs typeface="Arial"/>
              </a:rPr>
              <a:t>Stratified subsets</a:t>
            </a:r>
          </a:p>
          <a:p xmlns:a="http://schemas.openxmlformats.org/drawingml/2006/main">
            <a:pPr>
              <a:defRPr sz="2025" b="0">
                <a:solidFill>
                  <a:srgbClr val="23394D"/>
                </a:solidFill>
                <a:latin typeface="Arial"/>
                <a:ea typeface="Arial"/>
                <a:cs typeface="Arial"/>
              </a:defRPr>
            </a:pPr>
            <a:r>
              <a:rPr sz="2025" b="0">
                <a:solidFill>
                  <a:srgbClr val="23394D"/>
                </a:solidFill>
                <a:latin typeface="Arial"/>
                <a:ea typeface="Arial"/>
                <a:cs typeface="Arial"/>
              </a:rPr>
              <a:t>Seed 42</a:t>
            </a:r>
          </a:p>
        </p:txBody>
      </p:sp>
    </p:spTree>
    <p:extLst>
      <p:ext uri="{BB962C8B-B14F-4D97-AF65-F5344CB8AC3E}">
        <p14:creationId xmlns:p14="http://schemas.microsoft.com/office/powerpoint/2010/main" val="1430191370"/>
      </p:ext>
    </p:extLst>
  </p:cSld>
</p:sld>
</file>

<file path=ppt/slides/slide4.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CB7C31A-3FC0-4767-A0FB-4FA333128E5C}"/>
              </a:ext>
            </a:extLst>
          </p:cNvPr>
          <p:cNvSpPr>
            <a:spLocks xmlns:a="http://schemas.openxmlformats.org/drawingml/2006/main" noGrp="1"/>
          </p:cNvSpPr>
          <p:nvPr/>
        </p:nvSpPr>
        <p:spPr>
          <a:xfrm xmlns:a="http://schemas.openxmlformats.org/drawingml/2006/main">
            <a:off x="619125" y="428625"/>
            <a:ext cx="10953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955"/>
                </a:solidFill>
                <a:latin typeface="Arial"/>
                <a:ea typeface="Arial"/>
                <a:cs typeface="Arial"/>
              </a:defRPr>
            </a:defPPr>
            <a:lvl1pPr>
              <a:defRPr sz="3225" b="1">
                <a:solidFill>
                  <a:srgbClr val="173955"/>
                </a:solidFill>
                <a:latin typeface="Arial"/>
                <a:ea typeface="Arial"/>
                <a:cs typeface="Arial"/>
              </a:defRPr>
            </a:lvl1pPr>
            <a:lvl2pPr>
              <a:defRPr sz="3225" b="1">
                <a:solidFill>
                  <a:srgbClr val="173955"/>
                </a:solidFill>
                <a:latin typeface="Arial"/>
                <a:ea typeface="Arial"/>
                <a:cs typeface="Arial"/>
              </a:defRPr>
            </a:lvl2pPr>
            <a:lvl3pPr>
              <a:defRPr sz="3225" b="1">
                <a:solidFill>
                  <a:srgbClr val="173955"/>
                </a:solidFill>
                <a:latin typeface="Arial"/>
                <a:ea typeface="Arial"/>
                <a:cs typeface="Arial"/>
              </a:defRPr>
            </a:lvl3pPr>
            <a:lvl4pPr>
              <a:defRPr sz="3225" b="1">
                <a:solidFill>
                  <a:srgbClr val="173955"/>
                </a:solidFill>
                <a:latin typeface="Arial"/>
                <a:ea typeface="Arial"/>
                <a:cs typeface="Arial"/>
              </a:defRPr>
            </a:lvl4pPr>
            <a:lvl5pPr>
              <a:defRPr sz="3225" b="1">
                <a:solidFill>
                  <a:srgbClr val="173955"/>
                </a:solidFill>
                <a:latin typeface="Arial"/>
                <a:ea typeface="Arial"/>
                <a:cs typeface="Arial"/>
              </a:defRPr>
            </a:lvl5pPr>
            <a:lvl6pPr>
              <a:defRPr sz="3225" b="1">
                <a:solidFill>
                  <a:srgbClr val="173955"/>
                </a:solidFill>
                <a:latin typeface="Arial"/>
                <a:ea typeface="Arial"/>
                <a:cs typeface="Arial"/>
              </a:defRPr>
            </a:lvl6pPr>
            <a:lvl7pPr>
              <a:defRPr sz="3225" b="1">
                <a:solidFill>
                  <a:srgbClr val="173955"/>
                </a:solidFill>
                <a:latin typeface="Arial"/>
                <a:ea typeface="Arial"/>
                <a:cs typeface="Arial"/>
              </a:defRPr>
            </a:lvl7pPr>
            <a:lvl8pPr>
              <a:defRPr sz="3225" b="1">
                <a:solidFill>
                  <a:srgbClr val="173955"/>
                </a:solidFill>
                <a:latin typeface="Arial"/>
                <a:ea typeface="Arial"/>
                <a:cs typeface="Arial"/>
              </a:defRPr>
            </a:lvl8pPr>
            <a:lvl9pPr>
              <a:defRPr sz="3225" b="1">
                <a:solidFill>
                  <a:srgbClr val="173955"/>
                </a:solidFill>
                <a:latin typeface="Arial"/>
                <a:ea typeface="Arial"/>
                <a:cs typeface="Arial"/>
              </a:defRPr>
            </a:lvl9pPr>
          </a:lstStyle>
          <a:p xmlns:a="http://schemas.openxmlformats.org/drawingml/2006/main">
            <a:pPr>
              <a:defRPr sz="3225" b="1">
                <a:solidFill>
                  <a:srgbClr val="173955"/>
                </a:solidFill>
                <a:latin typeface="Arial"/>
                <a:ea typeface="Arial"/>
                <a:cs typeface="Arial"/>
              </a:defRPr>
            </a:pPr>
            <a:r>
              <a:rPr sz="3225" b="1">
                <a:solidFill>
                  <a:srgbClr val="173955"/>
                </a:solidFill>
                <a:latin typeface="Arial"/>
                <a:ea typeface="Arial"/>
                <a:cs typeface="Arial"/>
              </a:rPr>
              <a:t>Preprocessing and leakage control</a:t>
            </a:r>
          </a:p>
        </p:txBody>
      </p:sp>
      <p:sp>
        <p:nvSpPr>
          <p:cNvPr id="2" name="">
            <a:extLst xmlns:a="http://schemas.openxmlformats.org/drawingml/2006/main">
              <a:ext uri="{FF2B5EF4-FFF2-40B4-BE49-F238E27FC236}">
                <a16:creationId xmlns:a16="http://schemas.microsoft.com/office/drawing/2014/main" id="{820EA987-E0A3-4319-BF4E-CCC78C4D1715}"/>
              </a:ext>
            </a:extLst>
          </p:cNvPr>
          <p:cNvSpPr>
            <a:spLocks xmlns:a="http://schemas.openxmlformats.org/drawingml/2006/main" noGrp="1"/>
          </p:cNvSpPr>
          <p:nvPr/>
        </p:nvSpPr>
        <p:spPr>
          <a:xfrm xmlns:a="http://schemas.openxmlformats.org/drawingml/2006/main">
            <a:off x="666750" y="161925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3394D"/>
                </a:solidFill>
                <a:latin typeface="Arial"/>
                <a:ea typeface="Arial"/>
                <a:cs typeface="Arial"/>
              </a:defRPr>
            </a:defPPr>
            <a:lvl1pPr>
              <a:defRPr sz="2250" b="0">
                <a:solidFill>
                  <a:srgbClr val="23394D"/>
                </a:solidFill>
                <a:latin typeface="Arial"/>
                <a:ea typeface="Arial"/>
                <a:cs typeface="Arial"/>
              </a:defRPr>
            </a:lvl1pPr>
            <a:lvl2pPr>
              <a:defRPr sz="2250" b="0">
                <a:solidFill>
                  <a:srgbClr val="23394D"/>
                </a:solidFill>
                <a:latin typeface="Arial"/>
                <a:ea typeface="Arial"/>
                <a:cs typeface="Arial"/>
              </a:defRPr>
            </a:lvl2pPr>
            <a:lvl3pPr>
              <a:defRPr sz="2250" b="0">
                <a:solidFill>
                  <a:srgbClr val="23394D"/>
                </a:solidFill>
                <a:latin typeface="Arial"/>
                <a:ea typeface="Arial"/>
                <a:cs typeface="Arial"/>
              </a:defRPr>
            </a:lvl3pPr>
            <a:lvl4pPr>
              <a:defRPr sz="2250" b="0">
                <a:solidFill>
                  <a:srgbClr val="23394D"/>
                </a:solidFill>
                <a:latin typeface="Arial"/>
                <a:ea typeface="Arial"/>
                <a:cs typeface="Arial"/>
              </a:defRPr>
            </a:lvl4pPr>
            <a:lvl5pPr>
              <a:defRPr sz="2250" b="0">
                <a:solidFill>
                  <a:srgbClr val="23394D"/>
                </a:solidFill>
                <a:latin typeface="Arial"/>
                <a:ea typeface="Arial"/>
                <a:cs typeface="Arial"/>
              </a:defRPr>
            </a:lvl5pPr>
            <a:lvl6pPr>
              <a:defRPr sz="2250" b="0">
                <a:solidFill>
                  <a:srgbClr val="23394D"/>
                </a:solidFill>
                <a:latin typeface="Arial"/>
                <a:ea typeface="Arial"/>
                <a:cs typeface="Arial"/>
              </a:defRPr>
            </a:lvl6pPr>
            <a:lvl7pPr>
              <a:defRPr sz="2250" b="0">
                <a:solidFill>
                  <a:srgbClr val="23394D"/>
                </a:solidFill>
                <a:latin typeface="Arial"/>
                <a:ea typeface="Arial"/>
                <a:cs typeface="Arial"/>
              </a:defRPr>
            </a:lvl7pPr>
            <a:lvl8pPr>
              <a:defRPr sz="2250" b="0">
                <a:solidFill>
                  <a:srgbClr val="23394D"/>
                </a:solidFill>
                <a:latin typeface="Arial"/>
                <a:ea typeface="Arial"/>
                <a:cs typeface="Arial"/>
              </a:defRPr>
            </a:lvl8pPr>
            <a:lvl9pPr>
              <a:defRPr sz="2250" b="0">
                <a:solidFill>
                  <a:srgbClr val="23394D"/>
                </a:solidFill>
                <a:latin typeface="Arial"/>
                <a:ea typeface="Arial"/>
                <a:cs typeface="Arial"/>
              </a:defRPr>
            </a:lvl9pPr>
          </a:lstStyle>
          <a:p xmlns:a="http://schemas.openxmlformats.org/drawingml/2006/main">
            <a:pPr>
              <a:defRPr sz="2250" b="0">
                <a:solidFill>
                  <a:srgbClr val="23394D"/>
                </a:solidFill>
                <a:latin typeface="Arial"/>
                <a:ea typeface="Arial"/>
                <a:cs typeface="Arial"/>
              </a:defRPr>
            </a:pPr>
            <a:r>
              <a:rPr sz="2250" b="0">
                <a:solidFill>
                  <a:srgbClr val="23394D"/>
                </a:solidFill>
                <a:latin typeface="Arial"/>
                <a:ea typeface="Arial"/>
                <a:cs typeface="Arial"/>
              </a:rPr>
              <a:t>32,114 test reviews removed for train overlap</a:t>
            </a:r>
          </a:p>
        </p:txBody>
      </p:sp>
      <p:sp>
        <p:nvSpPr>
          <p:cNvPr id="3" name="">
            <a:extLst xmlns:a="http://schemas.openxmlformats.org/drawingml/2006/main">
              <a:ext uri="{FF2B5EF4-FFF2-40B4-BE49-F238E27FC236}">
                <a16:creationId xmlns:a16="http://schemas.microsoft.com/office/drawing/2014/main" id="{3880E9BD-F774-4489-88F6-D94E37930999}"/>
              </a:ext>
            </a:extLst>
          </p:cNvPr>
          <p:cNvSpPr>
            <a:spLocks xmlns:a="http://schemas.openxmlformats.org/drawingml/2006/main" noGrp="1"/>
          </p:cNvSpPr>
          <p:nvPr/>
        </p:nvSpPr>
        <p:spPr>
          <a:xfrm xmlns:a="http://schemas.openxmlformats.org/drawingml/2006/main">
            <a:off x="666750" y="261937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3394D"/>
                </a:solidFill>
                <a:latin typeface="Arial"/>
                <a:ea typeface="Arial"/>
                <a:cs typeface="Arial"/>
              </a:defRPr>
            </a:defPPr>
            <a:lvl1pPr>
              <a:defRPr sz="2250" b="0">
                <a:solidFill>
                  <a:srgbClr val="23394D"/>
                </a:solidFill>
                <a:latin typeface="Arial"/>
                <a:ea typeface="Arial"/>
                <a:cs typeface="Arial"/>
              </a:defRPr>
            </a:lvl1pPr>
            <a:lvl2pPr>
              <a:defRPr sz="2250" b="0">
                <a:solidFill>
                  <a:srgbClr val="23394D"/>
                </a:solidFill>
                <a:latin typeface="Arial"/>
                <a:ea typeface="Arial"/>
                <a:cs typeface="Arial"/>
              </a:defRPr>
            </a:lvl2pPr>
            <a:lvl3pPr>
              <a:defRPr sz="2250" b="0">
                <a:solidFill>
                  <a:srgbClr val="23394D"/>
                </a:solidFill>
                <a:latin typeface="Arial"/>
                <a:ea typeface="Arial"/>
                <a:cs typeface="Arial"/>
              </a:defRPr>
            </a:lvl3pPr>
            <a:lvl4pPr>
              <a:defRPr sz="2250" b="0">
                <a:solidFill>
                  <a:srgbClr val="23394D"/>
                </a:solidFill>
                <a:latin typeface="Arial"/>
                <a:ea typeface="Arial"/>
                <a:cs typeface="Arial"/>
              </a:defRPr>
            </a:lvl4pPr>
            <a:lvl5pPr>
              <a:defRPr sz="2250" b="0">
                <a:solidFill>
                  <a:srgbClr val="23394D"/>
                </a:solidFill>
                <a:latin typeface="Arial"/>
                <a:ea typeface="Arial"/>
                <a:cs typeface="Arial"/>
              </a:defRPr>
            </a:lvl5pPr>
            <a:lvl6pPr>
              <a:defRPr sz="2250" b="0">
                <a:solidFill>
                  <a:srgbClr val="23394D"/>
                </a:solidFill>
                <a:latin typeface="Arial"/>
                <a:ea typeface="Arial"/>
                <a:cs typeface="Arial"/>
              </a:defRPr>
            </a:lvl6pPr>
            <a:lvl7pPr>
              <a:defRPr sz="2250" b="0">
                <a:solidFill>
                  <a:srgbClr val="23394D"/>
                </a:solidFill>
                <a:latin typeface="Arial"/>
                <a:ea typeface="Arial"/>
                <a:cs typeface="Arial"/>
              </a:defRPr>
            </a:lvl7pPr>
            <a:lvl8pPr>
              <a:defRPr sz="2250" b="0">
                <a:solidFill>
                  <a:srgbClr val="23394D"/>
                </a:solidFill>
                <a:latin typeface="Arial"/>
                <a:ea typeface="Arial"/>
                <a:cs typeface="Arial"/>
              </a:defRPr>
            </a:lvl8pPr>
            <a:lvl9pPr>
              <a:defRPr sz="2250" b="0">
                <a:solidFill>
                  <a:srgbClr val="23394D"/>
                </a:solidFill>
                <a:latin typeface="Arial"/>
                <a:ea typeface="Arial"/>
                <a:cs typeface="Arial"/>
              </a:defRPr>
            </a:lvl9pPr>
          </a:lstStyle>
          <a:p xmlns:a="http://schemas.openxmlformats.org/drawingml/2006/main">
            <a:pPr>
              <a:defRPr sz="2250" b="0">
                <a:solidFill>
                  <a:srgbClr val="23394D"/>
                </a:solidFill>
                <a:latin typeface="Arial"/>
                <a:ea typeface="Arial"/>
                <a:cs typeface="Arial"/>
              </a:defRPr>
            </a:pPr>
            <a:r>
              <a:rPr sz="2250" b="0">
                <a:solidFill>
                  <a:srgbClr val="23394D"/>
                </a:solidFill>
                <a:latin typeface="Arial"/>
                <a:ea typeface="Arial"/>
                <a:cs typeface="Arial"/>
              </a:rPr>
              <a:t>Vocabulary: 12,000 tokens, fitted on training text only</a:t>
            </a:r>
          </a:p>
        </p:txBody>
      </p:sp>
      <p:sp>
        <p:nvSpPr>
          <p:cNvPr id="4" name="">
            <a:extLst xmlns:a="http://schemas.openxmlformats.org/drawingml/2006/main">
              <a:ext uri="{FF2B5EF4-FFF2-40B4-BE49-F238E27FC236}">
                <a16:creationId xmlns:a16="http://schemas.microsoft.com/office/drawing/2014/main" id="{BCB1DA01-A41D-40FA-A893-10A79D22A937}"/>
              </a:ext>
            </a:extLst>
          </p:cNvPr>
          <p:cNvSpPr>
            <a:spLocks xmlns:a="http://schemas.openxmlformats.org/drawingml/2006/main" noGrp="1"/>
          </p:cNvSpPr>
          <p:nvPr/>
        </p:nvSpPr>
        <p:spPr>
          <a:xfrm xmlns:a="http://schemas.openxmlformats.org/drawingml/2006/main">
            <a:off x="666750" y="361950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3394D"/>
                </a:solidFill>
                <a:latin typeface="Arial"/>
                <a:ea typeface="Arial"/>
                <a:cs typeface="Arial"/>
              </a:defRPr>
            </a:defPPr>
            <a:lvl1pPr>
              <a:defRPr sz="2250" b="0">
                <a:solidFill>
                  <a:srgbClr val="23394D"/>
                </a:solidFill>
                <a:latin typeface="Arial"/>
                <a:ea typeface="Arial"/>
                <a:cs typeface="Arial"/>
              </a:defRPr>
            </a:lvl1pPr>
            <a:lvl2pPr>
              <a:defRPr sz="2250" b="0">
                <a:solidFill>
                  <a:srgbClr val="23394D"/>
                </a:solidFill>
                <a:latin typeface="Arial"/>
                <a:ea typeface="Arial"/>
                <a:cs typeface="Arial"/>
              </a:defRPr>
            </a:lvl2pPr>
            <a:lvl3pPr>
              <a:defRPr sz="2250" b="0">
                <a:solidFill>
                  <a:srgbClr val="23394D"/>
                </a:solidFill>
                <a:latin typeface="Arial"/>
                <a:ea typeface="Arial"/>
                <a:cs typeface="Arial"/>
              </a:defRPr>
            </a:lvl3pPr>
            <a:lvl4pPr>
              <a:defRPr sz="2250" b="0">
                <a:solidFill>
                  <a:srgbClr val="23394D"/>
                </a:solidFill>
                <a:latin typeface="Arial"/>
                <a:ea typeface="Arial"/>
                <a:cs typeface="Arial"/>
              </a:defRPr>
            </a:lvl4pPr>
            <a:lvl5pPr>
              <a:defRPr sz="2250" b="0">
                <a:solidFill>
                  <a:srgbClr val="23394D"/>
                </a:solidFill>
                <a:latin typeface="Arial"/>
                <a:ea typeface="Arial"/>
                <a:cs typeface="Arial"/>
              </a:defRPr>
            </a:lvl5pPr>
            <a:lvl6pPr>
              <a:defRPr sz="2250" b="0">
                <a:solidFill>
                  <a:srgbClr val="23394D"/>
                </a:solidFill>
                <a:latin typeface="Arial"/>
                <a:ea typeface="Arial"/>
                <a:cs typeface="Arial"/>
              </a:defRPr>
            </a:lvl6pPr>
            <a:lvl7pPr>
              <a:defRPr sz="2250" b="0">
                <a:solidFill>
                  <a:srgbClr val="23394D"/>
                </a:solidFill>
                <a:latin typeface="Arial"/>
                <a:ea typeface="Arial"/>
                <a:cs typeface="Arial"/>
              </a:defRPr>
            </a:lvl7pPr>
            <a:lvl8pPr>
              <a:defRPr sz="2250" b="0">
                <a:solidFill>
                  <a:srgbClr val="23394D"/>
                </a:solidFill>
                <a:latin typeface="Arial"/>
                <a:ea typeface="Arial"/>
                <a:cs typeface="Arial"/>
              </a:defRPr>
            </a:lvl8pPr>
            <a:lvl9pPr>
              <a:defRPr sz="2250" b="0">
                <a:solidFill>
                  <a:srgbClr val="23394D"/>
                </a:solidFill>
                <a:latin typeface="Arial"/>
                <a:ea typeface="Arial"/>
                <a:cs typeface="Arial"/>
              </a:defRPr>
            </a:lvl9pPr>
          </a:lstStyle>
          <a:p xmlns:a="http://schemas.openxmlformats.org/drawingml/2006/main">
            <a:pPr>
              <a:defRPr sz="2250" b="0">
                <a:solidFill>
                  <a:srgbClr val="23394D"/>
                </a:solidFill>
                <a:latin typeface="Arial"/>
                <a:ea typeface="Arial"/>
                <a:cs typeface="Arial"/>
              </a:defRPr>
            </a:pPr>
            <a:r>
              <a:rPr sz="2250" b="0">
                <a:solidFill>
                  <a:srgbClr val="23394D"/>
                </a:solidFill>
                <a:latin typeface="Arial"/>
                <a:ea typeface="Arial"/>
                <a:cs typeface="Arial"/>
              </a:rPr>
              <a:t>96-token limit truncates 43.4% of training reviews</a:t>
            </a:r>
          </a:p>
        </p:txBody>
      </p:sp>
      <p:sp>
        <p:nvSpPr>
          <p:cNvPr id="5" name="">
            <a:extLst xmlns:a="http://schemas.openxmlformats.org/drawingml/2006/main">
              <a:ext uri="{FF2B5EF4-FFF2-40B4-BE49-F238E27FC236}">
                <a16:creationId xmlns:a16="http://schemas.microsoft.com/office/drawing/2014/main" id="{2A031C90-8561-4BA6-8BC4-84F0F874497B}"/>
              </a:ext>
            </a:extLst>
          </p:cNvPr>
          <p:cNvSpPr>
            <a:spLocks xmlns:a="http://schemas.openxmlformats.org/drawingml/2006/main" noGrp="1"/>
          </p:cNvSpPr>
          <p:nvPr/>
        </p:nvSpPr>
        <p:spPr>
          <a:xfrm xmlns:a="http://schemas.openxmlformats.org/drawingml/2006/main">
            <a:off x="666750" y="461962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3394D"/>
                </a:solidFill>
                <a:latin typeface="Arial"/>
                <a:ea typeface="Arial"/>
                <a:cs typeface="Arial"/>
              </a:defRPr>
            </a:defPPr>
            <a:lvl1pPr>
              <a:defRPr sz="2250" b="0">
                <a:solidFill>
                  <a:srgbClr val="23394D"/>
                </a:solidFill>
                <a:latin typeface="Arial"/>
                <a:ea typeface="Arial"/>
                <a:cs typeface="Arial"/>
              </a:defRPr>
            </a:lvl1pPr>
            <a:lvl2pPr>
              <a:defRPr sz="2250" b="0">
                <a:solidFill>
                  <a:srgbClr val="23394D"/>
                </a:solidFill>
                <a:latin typeface="Arial"/>
                <a:ea typeface="Arial"/>
                <a:cs typeface="Arial"/>
              </a:defRPr>
            </a:lvl2pPr>
            <a:lvl3pPr>
              <a:defRPr sz="2250" b="0">
                <a:solidFill>
                  <a:srgbClr val="23394D"/>
                </a:solidFill>
                <a:latin typeface="Arial"/>
                <a:ea typeface="Arial"/>
                <a:cs typeface="Arial"/>
              </a:defRPr>
            </a:lvl3pPr>
            <a:lvl4pPr>
              <a:defRPr sz="2250" b="0">
                <a:solidFill>
                  <a:srgbClr val="23394D"/>
                </a:solidFill>
                <a:latin typeface="Arial"/>
                <a:ea typeface="Arial"/>
                <a:cs typeface="Arial"/>
              </a:defRPr>
            </a:lvl4pPr>
            <a:lvl5pPr>
              <a:defRPr sz="2250" b="0">
                <a:solidFill>
                  <a:srgbClr val="23394D"/>
                </a:solidFill>
                <a:latin typeface="Arial"/>
                <a:ea typeface="Arial"/>
                <a:cs typeface="Arial"/>
              </a:defRPr>
            </a:lvl5pPr>
            <a:lvl6pPr>
              <a:defRPr sz="2250" b="0">
                <a:solidFill>
                  <a:srgbClr val="23394D"/>
                </a:solidFill>
                <a:latin typeface="Arial"/>
                <a:ea typeface="Arial"/>
                <a:cs typeface="Arial"/>
              </a:defRPr>
            </a:lvl6pPr>
            <a:lvl7pPr>
              <a:defRPr sz="2250" b="0">
                <a:solidFill>
                  <a:srgbClr val="23394D"/>
                </a:solidFill>
                <a:latin typeface="Arial"/>
                <a:ea typeface="Arial"/>
                <a:cs typeface="Arial"/>
              </a:defRPr>
            </a:lvl7pPr>
            <a:lvl8pPr>
              <a:defRPr sz="2250" b="0">
                <a:solidFill>
                  <a:srgbClr val="23394D"/>
                </a:solidFill>
                <a:latin typeface="Arial"/>
                <a:ea typeface="Arial"/>
                <a:cs typeface="Arial"/>
              </a:defRPr>
            </a:lvl8pPr>
            <a:lvl9pPr>
              <a:defRPr sz="2250" b="0">
                <a:solidFill>
                  <a:srgbClr val="23394D"/>
                </a:solidFill>
                <a:latin typeface="Arial"/>
                <a:ea typeface="Arial"/>
                <a:cs typeface="Arial"/>
              </a:defRPr>
            </a:lvl9pPr>
          </a:lstStyle>
          <a:p xmlns:a="http://schemas.openxmlformats.org/drawingml/2006/main">
            <a:pPr>
              <a:defRPr sz="2250" b="0">
                <a:solidFill>
                  <a:srgbClr val="23394D"/>
                </a:solidFill>
                <a:latin typeface="Arial"/>
                <a:ea typeface="Arial"/>
                <a:cs typeface="Arial"/>
              </a:defRPr>
            </a:pPr>
            <a:r>
              <a:rPr sz="2250" b="0">
                <a:solidFill>
                  <a:srgbClr val="23394D"/>
                </a:solidFill>
                <a:latin typeface="Arial"/>
                <a:ea typeface="Arial"/>
                <a:cs typeface="Arial"/>
              </a:rPr>
              <a:t>Padding preserves the previous hidden and memory states</a:t>
            </a:r>
          </a:p>
        </p:txBody>
      </p:sp>
    </p:spTree>
    <p:extLst>
      <p:ext uri="{BB962C8B-B14F-4D97-AF65-F5344CB8AC3E}">
        <p14:creationId xmlns:p14="http://schemas.microsoft.com/office/powerpoint/2010/main" val="837875084"/>
      </p:ext>
    </p:extLst>
  </p:cSld>
</p:sld>
</file>

<file path=ppt/slides/slide5.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4026F4D0-D3D0-4108-BE66-930E4B1A2BE6}"/>
              </a:ext>
            </a:extLst>
          </p:cNvPr>
          <p:cNvSpPr>
            <a:spLocks xmlns:a="http://schemas.openxmlformats.org/drawingml/2006/main" noGrp="1"/>
          </p:cNvSpPr>
          <p:nvPr/>
        </p:nvSpPr>
        <p:spPr>
          <a:xfrm xmlns:a="http://schemas.openxmlformats.org/drawingml/2006/main">
            <a:off x="619125" y="428625"/>
            <a:ext cx="10953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955"/>
                </a:solidFill>
                <a:latin typeface="Arial"/>
                <a:ea typeface="Arial"/>
                <a:cs typeface="Arial"/>
              </a:defRPr>
            </a:defPPr>
            <a:lvl1pPr>
              <a:defRPr sz="3225" b="1">
                <a:solidFill>
                  <a:srgbClr val="173955"/>
                </a:solidFill>
                <a:latin typeface="Arial"/>
                <a:ea typeface="Arial"/>
                <a:cs typeface="Arial"/>
              </a:defRPr>
            </a:lvl1pPr>
            <a:lvl2pPr>
              <a:defRPr sz="3225" b="1">
                <a:solidFill>
                  <a:srgbClr val="173955"/>
                </a:solidFill>
                <a:latin typeface="Arial"/>
                <a:ea typeface="Arial"/>
                <a:cs typeface="Arial"/>
              </a:defRPr>
            </a:lvl2pPr>
            <a:lvl3pPr>
              <a:defRPr sz="3225" b="1">
                <a:solidFill>
                  <a:srgbClr val="173955"/>
                </a:solidFill>
                <a:latin typeface="Arial"/>
                <a:ea typeface="Arial"/>
                <a:cs typeface="Arial"/>
              </a:defRPr>
            </a:lvl3pPr>
            <a:lvl4pPr>
              <a:defRPr sz="3225" b="1">
                <a:solidFill>
                  <a:srgbClr val="173955"/>
                </a:solidFill>
                <a:latin typeface="Arial"/>
                <a:ea typeface="Arial"/>
                <a:cs typeface="Arial"/>
              </a:defRPr>
            </a:lvl4pPr>
            <a:lvl5pPr>
              <a:defRPr sz="3225" b="1">
                <a:solidFill>
                  <a:srgbClr val="173955"/>
                </a:solidFill>
                <a:latin typeface="Arial"/>
                <a:ea typeface="Arial"/>
                <a:cs typeface="Arial"/>
              </a:defRPr>
            </a:lvl5pPr>
            <a:lvl6pPr>
              <a:defRPr sz="3225" b="1">
                <a:solidFill>
                  <a:srgbClr val="173955"/>
                </a:solidFill>
                <a:latin typeface="Arial"/>
                <a:ea typeface="Arial"/>
                <a:cs typeface="Arial"/>
              </a:defRPr>
            </a:lvl6pPr>
            <a:lvl7pPr>
              <a:defRPr sz="3225" b="1">
                <a:solidFill>
                  <a:srgbClr val="173955"/>
                </a:solidFill>
                <a:latin typeface="Arial"/>
                <a:ea typeface="Arial"/>
                <a:cs typeface="Arial"/>
              </a:defRPr>
            </a:lvl7pPr>
            <a:lvl8pPr>
              <a:defRPr sz="3225" b="1">
                <a:solidFill>
                  <a:srgbClr val="173955"/>
                </a:solidFill>
                <a:latin typeface="Arial"/>
                <a:ea typeface="Arial"/>
                <a:cs typeface="Arial"/>
              </a:defRPr>
            </a:lvl8pPr>
            <a:lvl9pPr>
              <a:defRPr sz="3225" b="1">
                <a:solidFill>
                  <a:srgbClr val="173955"/>
                </a:solidFill>
                <a:latin typeface="Arial"/>
                <a:ea typeface="Arial"/>
                <a:cs typeface="Arial"/>
              </a:defRPr>
            </a:lvl9pPr>
          </a:lstStyle>
          <a:p xmlns:a="http://schemas.openxmlformats.org/drawingml/2006/main">
            <a:pPr>
              <a:defRPr sz="3225" b="1">
                <a:solidFill>
                  <a:srgbClr val="173955"/>
                </a:solidFill>
                <a:latin typeface="Arial"/>
                <a:ea typeface="Arial"/>
                <a:cs typeface="Arial"/>
              </a:defRPr>
            </a:pPr>
            <a:r>
              <a:rPr sz="3225" b="1">
                <a:solidFill>
                  <a:srgbClr val="173955"/>
                </a:solidFill>
                <a:latin typeface="Arial"/>
                <a:ea typeface="Arial"/>
                <a:cs typeface="Arial"/>
              </a:rPr>
              <a:t>Three manually implemented cells</a:t>
            </a:r>
          </a:p>
        </p:txBody>
      </p:sp>
      <p:graphicFrame>
        <p:nvGraphicFramePr>
          <p:cNvPr id="2" name="">
            <a:extLst xmlns:a="http://schemas.openxmlformats.org/drawingml/2006/main">
              <a:ext uri="{FF2B5EF4-FFF2-40B4-BE49-F238E27FC236}">
                <a16:creationId xmlns:a16="http://schemas.microsoft.com/office/drawing/2014/main" id="{2BA8CCBF-4C40-4F47-8663-56580DA808A8}"/>
              </a:ext>
            </a:extLst>
          </p:cNvPr>
          <p:cNvGraphicFramePr/>
          <p:nvPr/>
        </p:nvGraphicFramePr>
        <p:xfrm>
          <a:off xmlns:a="http://schemas.openxmlformats.org/drawingml/2006/main" x="666750" y="1714500"/>
          <a:ext xmlns:a="http://schemas.openxmlformats.org/drawingml/2006/main" cx="10810875" cy="3238500"/>
        </p:xfrm>
        <a:graphic xmlns:a="http://schemas.openxmlformats.org/drawingml/2006/main">
          <a:graphicData uri="http://schemas.openxmlformats.org/drawingml/2006/table">
            <a:tbl>
              <a:tblPr/>
              <a:tblGrid>
                <a:gridCol w="3603625"/>
                <a:gridCol w="3603625"/>
                <a:gridCol w="3603625"/>
              </a:tblGrid>
              <a:tr h="809625">
                <a:tc>
                  <a:txBody>
                    <a:bodyPr/>
                    <a:lstStyle/>
                    <a:p>
                      <a:r>
                        <a:rPr sz="1875" b="1">
                          <a:solidFill>
                            <a:srgbClr val="FFFFFF"/>
                          </a:solidFill>
                          <a:latin typeface="Arial"/>
                          <a:ea typeface="Arial"/>
                          <a:cs typeface="Arial"/>
                        </a:rPr>
                        <a:t>Cell</a:t>
                      </a:r>
                    </a:p>
                  </a:txBody>
                  <a:tcPr marL="91440" marR="91440" marT="45720" marB="45720">
                    <a:solidFill>
                      <a:srgbClr val="173955"/>
                    </a:solidFill>
                  </a:tcPr>
                </a:tc>
                <a:tc>
                  <a:txBody>
                    <a:bodyPr/>
                    <a:lstStyle/>
                    <a:p>
                      <a:r>
                        <a:rPr sz="1875" b="1">
                          <a:solidFill>
                            <a:srgbClr val="FFFFFF"/>
                          </a:solidFill>
                          <a:latin typeface="Arial"/>
                          <a:ea typeface="Arial"/>
                          <a:cs typeface="Arial"/>
                        </a:rPr>
                        <a:t>Distinctive operation</a:t>
                      </a:r>
                    </a:p>
                  </a:txBody>
                  <a:tcPr marL="91440" marR="91440" marT="45720" marB="45720">
                    <a:solidFill>
                      <a:srgbClr val="173955"/>
                    </a:solidFill>
                  </a:tcPr>
                </a:tc>
                <a:tc>
                  <a:txBody>
                    <a:bodyPr/>
                    <a:lstStyle/>
                    <a:p>
                      <a:r>
                        <a:rPr sz="1875" b="1">
                          <a:solidFill>
                            <a:srgbClr val="FFFFFF"/>
                          </a:solidFill>
                          <a:latin typeface="Arial"/>
                          <a:ea typeface="Arial"/>
                          <a:cs typeface="Arial"/>
                        </a:rPr>
                        <a:t>Parameters</a:t>
                      </a:r>
                    </a:p>
                  </a:txBody>
                  <a:tcPr marL="91440" marR="91440" marT="45720" marB="45720">
                    <a:solidFill>
                      <a:srgbClr val="173955"/>
                    </a:solidFill>
                  </a:tcPr>
                </a:tc>
              </a:tr>
              <a:tr h="809625">
                <a:tc>
                  <a:txBody>
                    <a:bodyPr/>
                    <a:lstStyle/>
                    <a:p>
                      <a:r>
                        <a:rPr sz="1875" b="0">
                          <a:solidFill>
                            <a:srgbClr val="23394D"/>
                          </a:solidFill>
                          <a:latin typeface="Arial"/>
                          <a:ea typeface="Arial"/>
                          <a:cs typeface="Arial"/>
                        </a:rPr>
                        <a:t>Vanilla</a:t>
                      </a:r>
                    </a:p>
                  </a:txBody>
                  <a:tcPr marL="91440" marR="91440" marT="45720" marB="45720">
                    <a:solidFill>
                      <a:srgbClr val="EAF0F6"/>
                    </a:solidFill>
                  </a:tcPr>
                </a:tc>
                <a:tc>
                  <a:txBody>
                    <a:bodyPr/>
                    <a:lstStyle/>
                    <a:p>
                      <a:r>
                        <a:rPr sz="1875" b="0">
                          <a:solidFill>
                            <a:srgbClr val="23394D"/>
                          </a:solidFill>
                          <a:latin typeface="Arial"/>
                          <a:ea typeface="Arial"/>
                          <a:cs typeface="Arial"/>
                        </a:rPr>
                        <a:t>Independent gates</a:t>
                      </a:r>
                    </a:p>
                  </a:txBody>
                  <a:tcPr marL="91440" marR="91440" marT="45720" marB="45720">
                    <a:solidFill>
                      <a:srgbClr val="EAF0F6"/>
                    </a:solidFill>
                  </a:tcPr>
                </a:tc>
                <a:tc>
                  <a:txBody>
                    <a:bodyPr/>
                    <a:lstStyle/>
                    <a:p>
                      <a:r>
                        <a:rPr sz="1875" b="0">
                          <a:solidFill>
                            <a:srgbClr val="23394D"/>
                          </a:solidFill>
                          <a:latin typeface="Arial"/>
                          <a:ea typeface="Arial"/>
                          <a:cs typeface="Arial"/>
                        </a:rPr>
                        <a:t>801,219</a:t>
                      </a:r>
                    </a:p>
                  </a:txBody>
                  <a:tcPr marL="91440" marR="91440" marT="45720" marB="45720">
                    <a:solidFill>
                      <a:srgbClr val="EAF0F6"/>
                    </a:solidFill>
                  </a:tcPr>
                </a:tc>
              </a:tr>
              <a:tr h="809625">
                <a:tc>
                  <a:txBody>
                    <a:bodyPr/>
                    <a:lstStyle/>
                    <a:p>
                      <a:r>
                        <a:rPr sz="1875" b="0">
                          <a:solidFill>
                            <a:srgbClr val="23394D"/>
                          </a:solidFill>
                          <a:latin typeface="Arial"/>
                          <a:ea typeface="Arial"/>
                          <a:cs typeface="Arial"/>
                        </a:rPr>
                        <a:t>CIFG</a:t>
                      </a:r>
                    </a:p>
                  </a:txBody>
                  <a:tcPr marL="91440" marR="91440" marT="45720" marB="45720">
                    <a:solidFill>
                      <a:srgbClr val="FFFFFF"/>
                    </a:solidFill>
                  </a:tcPr>
                </a:tc>
                <a:tc>
                  <a:txBody>
                    <a:bodyPr/>
                    <a:lstStyle/>
                    <a:p>
                      <a:r>
                        <a:rPr sz="1875" b="0">
                          <a:solidFill>
                            <a:srgbClr val="23394D"/>
                          </a:solidFill>
                          <a:latin typeface="Arial"/>
                          <a:ea typeface="Arial"/>
                          <a:cs typeface="Arial"/>
                        </a:rPr>
                        <a:t>i_t = 1 - f_t</a:t>
                      </a:r>
                    </a:p>
                  </a:txBody>
                  <a:tcPr marL="91440" marR="91440" marT="45720" marB="45720">
                    <a:solidFill>
                      <a:srgbClr val="FFFFFF"/>
                    </a:solidFill>
                  </a:tcPr>
                </a:tc>
                <a:tc>
                  <a:txBody>
                    <a:bodyPr/>
                    <a:lstStyle/>
                    <a:p>
                      <a:r>
                        <a:rPr sz="1875" b="0">
                          <a:solidFill>
                            <a:srgbClr val="23394D"/>
                          </a:solidFill>
                          <a:latin typeface="Arial"/>
                          <a:ea typeface="Arial"/>
                          <a:cs typeface="Arial"/>
                        </a:rPr>
                        <a:t>792,963</a:t>
                      </a:r>
                    </a:p>
                  </a:txBody>
                  <a:tcPr marL="91440" marR="91440" marT="45720" marB="45720">
                    <a:solidFill>
                      <a:srgbClr val="FFFFFF"/>
                    </a:solidFill>
                  </a:tcPr>
                </a:tc>
              </a:tr>
              <a:tr h="809625">
                <a:tc>
                  <a:txBody>
                    <a:bodyPr/>
                    <a:lstStyle/>
                    <a:p>
                      <a:r>
                        <a:rPr sz="1875" b="0">
                          <a:solidFill>
                            <a:srgbClr val="23394D"/>
                          </a:solidFill>
                          <a:latin typeface="Arial"/>
                          <a:ea typeface="Arial"/>
                          <a:cs typeface="Arial"/>
                        </a:rPr>
                        <a:t>WMC</a:t>
                      </a:r>
                    </a:p>
                  </a:txBody>
                  <a:tcPr marL="91440" marR="91440" marT="45720" marB="45720">
                    <a:solidFill>
                      <a:srgbClr val="EAF0F6"/>
                    </a:solidFill>
                  </a:tcPr>
                </a:tc>
                <a:tc>
                  <a:txBody>
                    <a:bodyPr/>
                    <a:lstStyle/>
                    <a:p>
                      <a:r>
                        <a:rPr sz="1875" b="0">
                          <a:solidFill>
                            <a:srgbClr val="23394D"/>
                          </a:solidFill>
                          <a:latin typeface="Arial"/>
                          <a:ea typeface="Arial"/>
                          <a:cs typeface="Arial"/>
                        </a:rPr>
                        <a:t>Memory-to-gate connections</a:t>
                      </a:r>
                    </a:p>
                  </a:txBody>
                  <a:tcPr marL="91440" marR="91440" marT="45720" marB="45720">
                    <a:solidFill>
                      <a:srgbClr val="EAF0F6"/>
                    </a:solidFill>
                  </a:tcPr>
                </a:tc>
                <a:tc>
                  <a:txBody>
                    <a:bodyPr/>
                    <a:lstStyle/>
                    <a:p>
                      <a:r>
                        <a:rPr sz="1875" b="0">
                          <a:solidFill>
                            <a:srgbClr val="23394D"/>
                          </a:solidFill>
                          <a:latin typeface="Arial"/>
                          <a:ea typeface="Arial"/>
                          <a:cs typeface="Arial"/>
                        </a:rPr>
                        <a:t>813,507</a:t>
                      </a:r>
                    </a:p>
                  </a:txBody>
                  <a:tcPr marL="91440" marR="91440" marT="45720" marB="45720">
                    <a:solidFill>
                      <a:srgbClr val="EAF0F6"/>
                    </a:solidFill>
                  </a:tcPr>
                </a:tc>
              </a:tr>
            </a:tbl>
          </a:graphicData>
        </a:graphic>
      </p:graphicFrame>
      <p:sp>
        <p:nvSpPr>
          <p:cNvPr id="3" name="">
            <a:extLst xmlns:a="http://schemas.openxmlformats.org/drawingml/2006/main">
              <a:ext uri="{FF2B5EF4-FFF2-40B4-BE49-F238E27FC236}">
                <a16:creationId xmlns:a16="http://schemas.microsoft.com/office/drawing/2014/main" id="{966B798A-4F70-4E3B-A5A8-3FE9E904E5AF}"/>
              </a:ext>
            </a:extLst>
          </p:cNvPr>
          <p:cNvSpPr>
            <a:spLocks xmlns:a="http://schemas.openxmlformats.org/drawingml/2006/main" noGrp="1"/>
          </p:cNvSpPr>
          <p:nvPr/>
        </p:nvSpPr>
        <p:spPr>
          <a:xfrm xmlns:a="http://schemas.openxmlformats.org/drawingml/2006/main">
            <a:off x="666750" y="542925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23394D"/>
                </a:solidFill>
                <a:latin typeface="Arial"/>
                <a:ea typeface="Arial"/>
                <a:cs typeface="Arial"/>
              </a:defRPr>
            </a:defPPr>
            <a:lvl1pPr>
              <a:defRPr sz="2025" b="0">
                <a:solidFill>
                  <a:srgbClr val="23394D"/>
                </a:solidFill>
                <a:latin typeface="Arial"/>
                <a:ea typeface="Arial"/>
                <a:cs typeface="Arial"/>
              </a:defRPr>
            </a:lvl1pPr>
            <a:lvl2pPr>
              <a:defRPr sz="2025" b="0">
                <a:solidFill>
                  <a:srgbClr val="23394D"/>
                </a:solidFill>
                <a:latin typeface="Arial"/>
                <a:ea typeface="Arial"/>
                <a:cs typeface="Arial"/>
              </a:defRPr>
            </a:lvl2pPr>
            <a:lvl3pPr>
              <a:defRPr sz="2025" b="0">
                <a:solidFill>
                  <a:srgbClr val="23394D"/>
                </a:solidFill>
                <a:latin typeface="Arial"/>
                <a:ea typeface="Arial"/>
                <a:cs typeface="Arial"/>
              </a:defRPr>
            </a:lvl3pPr>
            <a:lvl4pPr>
              <a:defRPr sz="2025" b="0">
                <a:solidFill>
                  <a:srgbClr val="23394D"/>
                </a:solidFill>
                <a:latin typeface="Arial"/>
                <a:ea typeface="Arial"/>
                <a:cs typeface="Arial"/>
              </a:defRPr>
            </a:lvl4pPr>
            <a:lvl5pPr>
              <a:defRPr sz="2025" b="0">
                <a:solidFill>
                  <a:srgbClr val="23394D"/>
                </a:solidFill>
                <a:latin typeface="Arial"/>
                <a:ea typeface="Arial"/>
                <a:cs typeface="Arial"/>
              </a:defRPr>
            </a:lvl5pPr>
            <a:lvl6pPr>
              <a:defRPr sz="2025" b="0">
                <a:solidFill>
                  <a:srgbClr val="23394D"/>
                </a:solidFill>
                <a:latin typeface="Arial"/>
                <a:ea typeface="Arial"/>
                <a:cs typeface="Arial"/>
              </a:defRPr>
            </a:lvl6pPr>
            <a:lvl7pPr>
              <a:defRPr sz="2025" b="0">
                <a:solidFill>
                  <a:srgbClr val="23394D"/>
                </a:solidFill>
                <a:latin typeface="Arial"/>
                <a:ea typeface="Arial"/>
                <a:cs typeface="Arial"/>
              </a:defRPr>
            </a:lvl7pPr>
            <a:lvl8pPr>
              <a:defRPr sz="2025" b="0">
                <a:solidFill>
                  <a:srgbClr val="23394D"/>
                </a:solidFill>
                <a:latin typeface="Arial"/>
                <a:ea typeface="Arial"/>
                <a:cs typeface="Arial"/>
              </a:defRPr>
            </a:lvl8pPr>
            <a:lvl9pPr>
              <a:defRPr sz="2025" b="0">
                <a:solidFill>
                  <a:srgbClr val="23394D"/>
                </a:solidFill>
                <a:latin typeface="Arial"/>
                <a:ea typeface="Arial"/>
                <a:cs typeface="Arial"/>
              </a:defRPr>
            </a:lvl9pPr>
          </a:lstStyle>
          <a:p xmlns:a="http://schemas.openxmlformats.org/drawingml/2006/main">
            <a:pPr>
              <a:defRPr sz="2025" b="0">
                <a:solidFill>
                  <a:srgbClr val="23394D"/>
                </a:solidFill>
                <a:latin typeface="Arial"/>
                <a:ea typeface="Arial"/>
                <a:cs typeface="Arial"/>
              </a:defRPr>
            </a:pPr>
            <a:r>
              <a:rPr sz="2025" b="0">
                <a:solidFill>
                  <a:srgbClr val="23394D"/>
                </a:solidFill>
                <a:latin typeface="Arial"/>
                <a:ea typeface="Arial"/>
                <a:cs typeface="Arial"/>
              </a:rPr>
              <a:t>Shared 64-dimensional embedding and hidden state, dropout 0.2</a:t>
            </a:r>
          </a:p>
        </p:txBody>
      </p:sp>
    </p:spTree>
    <p:extLst>
      <p:ext uri="{BB962C8B-B14F-4D97-AF65-F5344CB8AC3E}">
        <p14:creationId xmlns:p14="http://schemas.microsoft.com/office/powerpoint/2010/main" val="1810541597"/>
      </p:ext>
    </p:extLst>
  </p:cSld>
</p:sld>
</file>

<file path=ppt/slides/slide6.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D948F095-9BDF-43F3-9473-143B04FD8DFA}"/>
              </a:ext>
            </a:extLst>
          </p:cNvPr>
          <p:cNvSpPr>
            <a:spLocks xmlns:a="http://schemas.openxmlformats.org/drawingml/2006/main" noGrp="1"/>
          </p:cNvSpPr>
          <p:nvPr/>
        </p:nvSpPr>
        <p:spPr>
          <a:xfrm xmlns:a="http://schemas.openxmlformats.org/drawingml/2006/main">
            <a:off x="619125" y="428625"/>
            <a:ext cx="10953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955"/>
                </a:solidFill>
                <a:latin typeface="Arial"/>
                <a:ea typeface="Arial"/>
                <a:cs typeface="Arial"/>
              </a:defRPr>
            </a:defPPr>
            <a:lvl1pPr>
              <a:defRPr sz="3225" b="1">
                <a:solidFill>
                  <a:srgbClr val="173955"/>
                </a:solidFill>
                <a:latin typeface="Arial"/>
                <a:ea typeface="Arial"/>
                <a:cs typeface="Arial"/>
              </a:defRPr>
            </a:lvl1pPr>
            <a:lvl2pPr>
              <a:defRPr sz="3225" b="1">
                <a:solidFill>
                  <a:srgbClr val="173955"/>
                </a:solidFill>
                <a:latin typeface="Arial"/>
                <a:ea typeface="Arial"/>
                <a:cs typeface="Arial"/>
              </a:defRPr>
            </a:lvl2pPr>
            <a:lvl3pPr>
              <a:defRPr sz="3225" b="1">
                <a:solidFill>
                  <a:srgbClr val="173955"/>
                </a:solidFill>
                <a:latin typeface="Arial"/>
                <a:ea typeface="Arial"/>
                <a:cs typeface="Arial"/>
              </a:defRPr>
            </a:lvl3pPr>
            <a:lvl4pPr>
              <a:defRPr sz="3225" b="1">
                <a:solidFill>
                  <a:srgbClr val="173955"/>
                </a:solidFill>
                <a:latin typeface="Arial"/>
                <a:ea typeface="Arial"/>
                <a:cs typeface="Arial"/>
              </a:defRPr>
            </a:lvl4pPr>
            <a:lvl5pPr>
              <a:defRPr sz="3225" b="1">
                <a:solidFill>
                  <a:srgbClr val="173955"/>
                </a:solidFill>
                <a:latin typeface="Arial"/>
                <a:ea typeface="Arial"/>
                <a:cs typeface="Arial"/>
              </a:defRPr>
            </a:lvl5pPr>
            <a:lvl6pPr>
              <a:defRPr sz="3225" b="1">
                <a:solidFill>
                  <a:srgbClr val="173955"/>
                </a:solidFill>
                <a:latin typeface="Arial"/>
                <a:ea typeface="Arial"/>
                <a:cs typeface="Arial"/>
              </a:defRPr>
            </a:lvl6pPr>
            <a:lvl7pPr>
              <a:defRPr sz="3225" b="1">
                <a:solidFill>
                  <a:srgbClr val="173955"/>
                </a:solidFill>
                <a:latin typeface="Arial"/>
                <a:ea typeface="Arial"/>
                <a:cs typeface="Arial"/>
              </a:defRPr>
            </a:lvl7pPr>
            <a:lvl8pPr>
              <a:defRPr sz="3225" b="1">
                <a:solidFill>
                  <a:srgbClr val="173955"/>
                </a:solidFill>
                <a:latin typeface="Arial"/>
                <a:ea typeface="Arial"/>
                <a:cs typeface="Arial"/>
              </a:defRPr>
            </a:lvl8pPr>
            <a:lvl9pPr>
              <a:defRPr sz="3225" b="1">
                <a:solidFill>
                  <a:srgbClr val="173955"/>
                </a:solidFill>
                <a:latin typeface="Arial"/>
                <a:ea typeface="Arial"/>
                <a:cs typeface="Arial"/>
              </a:defRPr>
            </a:lvl9pPr>
          </a:lstStyle>
          <a:p xmlns:a="http://schemas.openxmlformats.org/drawingml/2006/main">
            <a:pPr>
              <a:defRPr sz="3225" b="1">
                <a:solidFill>
                  <a:srgbClr val="173955"/>
                </a:solidFill>
                <a:latin typeface="Arial"/>
                <a:ea typeface="Arial"/>
                <a:cs typeface="Arial"/>
              </a:defRPr>
            </a:pPr>
            <a:r>
              <a:rPr sz="3225" b="1">
                <a:solidFill>
                  <a:srgbClr val="173955"/>
                </a:solidFill>
                <a:latin typeface="Arial"/>
                <a:ea typeface="Arial"/>
                <a:cs typeface="Arial"/>
              </a:rPr>
              <a:t>Hyperparameter experiments</a:t>
            </a:r>
          </a:p>
        </p:txBody>
      </p:sp>
      <p:graphicFrame>
        <p:nvGraphicFramePr>
          <p:cNvPr id="2" name="Chart">
            <a:extLst xmlns:a="http://schemas.openxmlformats.org/drawingml/2006/main">
              <a:ext uri="{FF2B5EF4-FFF2-40B4-BE49-F238E27FC236}">
                <a16:creationId xmlns:a16="http://schemas.microsoft.com/office/drawing/2014/main" id="{6B94F27A-EC6A-4F05-A747-C4879C15C349}"/>
              </a:ext>
            </a:extLst>
          </p:cNvPr>
          <p:cNvGraphicFramePr/>
          <p:nvPr/>
        </p:nvGraphicFramePr>
        <p:xfrm>
          <a:off xmlns:a="http://schemas.openxmlformats.org/drawingml/2006/main" x="619125" y="1476375"/>
          <a:ext xmlns:a="http://schemas.openxmlformats.org/drawingml/2006/main" cx="10953750" cy="3857625"/>
        </p:xfrm>
        <a:graphic xmlns:a="http://schemas.openxmlformats.org/drawingml/2006/main">
          <a:graphicData uri="http://schemas.openxmlformats.org/drawingml/2006/chart">
            <c:chart xmlns:r="http://schemas.openxmlformats.org/officeDocument/2006/relationships" xmlns:c="http://schemas.openxmlformats.org/drawingml/2006/chart" r:id="Rda3d5477a4334054"/>
          </a:graphicData>
        </a:graphic>
      </p:graphicFrame>
      <p:sp>
        <p:nvSpPr>
          <p:cNvPr id="3" name="">
            <a:extLst xmlns:a="http://schemas.openxmlformats.org/drawingml/2006/main">
              <a:ext uri="{FF2B5EF4-FFF2-40B4-BE49-F238E27FC236}">
                <a16:creationId xmlns:a16="http://schemas.microsoft.com/office/drawing/2014/main" id="{A61A9540-5D50-4B2C-AA04-30A774CF506A}"/>
              </a:ext>
            </a:extLst>
          </p:cNvPr>
          <p:cNvSpPr>
            <a:spLocks xmlns:a="http://schemas.openxmlformats.org/drawingml/2006/main" noGrp="1"/>
          </p:cNvSpPr>
          <p:nvPr/>
        </p:nvSpPr>
        <p:spPr>
          <a:xfrm xmlns:a="http://schemas.openxmlformats.org/drawingml/2006/main">
            <a:off x="666750" y="5715000"/>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3394D"/>
                </a:solidFill>
                <a:latin typeface="Arial"/>
                <a:ea typeface="Arial"/>
                <a:cs typeface="Arial"/>
              </a:defRPr>
            </a:defPPr>
            <a:lvl1pPr>
              <a:defRPr sz="1875" b="0">
                <a:solidFill>
                  <a:srgbClr val="23394D"/>
                </a:solidFill>
                <a:latin typeface="Arial"/>
                <a:ea typeface="Arial"/>
                <a:cs typeface="Arial"/>
              </a:defRPr>
            </a:lvl1pPr>
            <a:lvl2pPr>
              <a:defRPr sz="1875" b="0">
                <a:solidFill>
                  <a:srgbClr val="23394D"/>
                </a:solidFill>
                <a:latin typeface="Arial"/>
                <a:ea typeface="Arial"/>
                <a:cs typeface="Arial"/>
              </a:defRPr>
            </a:lvl2pPr>
            <a:lvl3pPr>
              <a:defRPr sz="1875" b="0">
                <a:solidFill>
                  <a:srgbClr val="23394D"/>
                </a:solidFill>
                <a:latin typeface="Arial"/>
                <a:ea typeface="Arial"/>
                <a:cs typeface="Arial"/>
              </a:defRPr>
            </a:lvl3pPr>
            <a:lvl4pPr>
              <a:defRPr sz="1875" b="0">
                <a:solidFill>
                  <a:srgbClr val="23394D"/>
                </a:solidFill>
                <a:latin typeface="Arial"/>
                <a:ea typeface="Arial"/>
                <a:cs typeface="Arial"/>
              </a:defRPr>
            </a:lvl4pPr>
            <a:lvl5pPr>
              <a:defRPr sz="1875" b="0">
                <a:solidFill>
                  <a:srgbClr val="23394D"/>
                </a:solidFill>
                <a:latin typeface="Arial"/>
                <a:ea typeface="Arial"/>
                <a:cs typeface="Arial"/>
              </a:defRPr>
            </a:lvl5pPr>
            <a:lvl6pPr>
              <a:defRPr sz="1875" b="0">
                <a:solidFill>
                  <a:srgbClr val="23394D"/>
                </a:solidFill>
                <a:latin typeface="Arial"/>
                <a:ea typeface="Arial"/>
                <a:cs typeface="Arial"/>
              </a:defRPr>
            </a:lvl6pPr>
            <a:lvl7pPr>
              <a:defRPr sz="1875" b="0">
                <a:solidFill>
                  <a:srgbClr val="23394D"/>
                </a:solidFill>
                <a:latin typeface="Arial"/>
                <a:ea typeface="Arial"/>
                <a:cs typeface="Arial"/>
              </a:defRPr>
            </a:lvl7pPr>
            <a:lvl8pPr>
              <a:defRPr sz="1875" b="0">
                <a:solidFill>
                  <a:srgbClr val="23394D"/>
                </a:solidFill>
                <a:latin typeface="Arial"/>
                <a:ea typeface="Arial"/>
                <a:cs typeface="Arial"/>
              </a:defRPr>
            </a:lvl8pPr>
            <a:lvl9pPr>
              <a:defRPr sz="1875" b="0">
                <a:solidFill>
                  <a:srgbClr val="23394D"/>
                </a:solidFill>
                <a:latin typeface="Arial"/>
                <a:ea typeface="Arial"/>
                <a:cs typeface="Arial"/>
              </a:defRPr>
            </a:lvl9pPr>
          </a:lstStyle>
          <a:p xmlns:a="http://schemas.openxmlformats.org/drawingml/2006/main">
            <a:pPr>
              <a:defRPr sz="1875" b="0">
                <a:solidFill>
                  <a:srgbClr val="23394D"/>
                </a:solidFill>
                <a:latin typeface="Arial"/>
                <a:ea typeface="Arial"/>
                <a:cs typeface="Arial"/>
              </a:defRPr>
            </a:pPr>
            <a:r>
              <a:rPr sz="1875" b="0">
                <a:solidFill>
                  <a:srgbClr val="23394D"/>
                </a:solidFill>
                <a:latin typeface="Arial"/>
                <a:ea typeface="Arial"/>
                <a:cs typeface="Arial"/>
              </a:rPr>
              <a:t>Adam / learning rates 0.001 and 0.003 / batch sizes 64 and 128</a:t>
            </a:r>
          </a:p>
        </p:txBody>
      </p:sp>
    </p:spTree>
    <p:extLst>
      <p:ext uri="{BB962C8B-B14F-4D97-AF65-F5344CB8AC3E}">
        <p14:creationId xmlns:p14="http://schemas.microsoft.com/office/powerpoint/2010/main" val="585954289"/>
      </p:ext>
    </p:extLst>
  </p:cSld>
</p:sld>
</file>

<file path=ppt/slides/slide7.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0C333CA6-1E13-42A0-8C1C-F56FD2658C0F}"/>
              </a:ext>
            </a:extLst>
          </p:cNvPr>
          <p:cNvSpPr>
            <a:spLocks xmlns:a="http://schemas.openxmlformats.org/drawingml/2006/main" noGrp="1"/>
          </p:cNvSpPr>
          <p:nvPr/>
        </p:nvSpPr>
        <p:spPr>
          <a:xfrm xmlns:a="http://schemas.openxmlformats.org/drawingml/2006/main">
            <a:off x="619125" y="428625"/>
            <a:ext cx="10953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955"/>
                </a:solidFill>
                <a:latin typeface="Arial"/>
                <a:ea typeface="Arial"/>
                <a:cs typeface="Arial"/>
              </a:defRPr>
            </a:defPPr>
            <a:lvl1pPr>
              <a:defRPr sz="3225" b="1">
                <a:solidFill>
                  <a:srgbClr val="173955"/>
                </a:solidFill>
                <a:latin typeface="Arial"/>
                <a:ea typeface="Arial"/>
                <a:cs typeface="Arial"/>
              </a:defRPr>
            </a:lvl1pPr>
            <a:lvl2pPr>
              <a:defRPr sz="3225" b="1">
                <a:solidFill>
                  <a:srgbClr val="173955"/>
                </a:solidFill>
                <a:latin typeface="Arial"/>
                <a:ea typeface="Arial"/>
                <a:cs typeface="Arial"/>
              </a:defRPr>
            </a:lvl2pPr>
            <a:lvl3pPr>
              <a:defRPr sz="3225" b="1">
                <a:solidFill>
                  <a:srgbClr val="173955"/>
                </a:solidFill>
                <a:latin typeface="Arial"/>
                <a:ea typeface="Arial"/>
                <a:cs typeface="Arial"/>
              </a:defRPr>
            </a:lvl3pPr>
            <a:lvl4pPr>
              <a:defRPr sz="3225" b="1">
                <a:solidFill>
                  <a:srgbClr val="173955"/>
                </a:solidFill>
                <a:latin typeface="Arial"/>
                <a:ea typeface="Arial"/>
                <a:cs typeface="Arial"/>
              </a:defRPr>
            </a:lvl4pPr>
            <a:lvl5pPr>
              <a:defRPr sz="3225" b="1">
                <a:solidFill>
                  <a:srgbClr val="173955"/>
                </a:solidFill>
                <a:latin typeface="Arial"/>
                <a:ea typeface="Arial"/>
                <a:cs typeface="Arial"/>
              </a:defRPr>
            </a:lvl5pPr>
            <a:lvl6pPr>
              <a:defRPr sz="3225" b="1">
                <a:solidFill>
                  <a:srgbClr val="173955"/>
                </a:solidFill>
                <a:latin typeface="Arial"/>
                <a:ea typeface="Arial"/>
                <a:cs typeface="Arial"/>
              </a:defRPr>
            </a:lvl6pPr>
            <a:lvl7pPr>
              <a:defRPr sz="3225" b="1">
                <a:solidFill>
                  <a:srgbClr val="173955"/>
                </a:solidFill>
                <a:latin typeface="Arial"/>
                <a:ea typeface="Arial"/>
                <a:cs typeface="Arial"/>
              </a:defRPr>
            </a:lvl7pPr>
            <a:lvl8pPr>
              <a:defRPr sz="3225" b="1">
                <a:solidFill>
                  <a:srgbClr val="173955"/>
                </a:solidFill>
                <a:latin typeface="Arial"/>
                <a:ea typeface="Arial"/>
                <a:cs typeface="Arial"/>
              </a:defRPr>
            </a:lvl8pPr>
            <a:lvl9pPr>
              <a:defRPr sz="3225" b="1">
                <a:solidFill>
                  <a:srgbClr val="173955"/>
                </a:solidFill>
                <a:latin typeface="Arial"/>
                <a:ea typeface="Arial"/>
                <a:cs typeface="Arial"/>
              </a:defRPr>
            </a:lvl9pPr>
          </a:lstStyle>
          <a:p xmlns:a="http://schemas.openxmlformats.org/drawingml/2006/main">
            <a:pPr>
              <a:defRPr sz="3225" b="1">
                <a:solidFill>
                  <a:srgbClr val="173955"/>
                </a:solidFill>
                <a:latin typeface="Arial"/>
                <a:ea typeface="Arial"/>
                <a:cs typeface="Arial"/>
              </a:defRPr>
            </a:pPr>
            <a:r>
              <a:rPr sz="3225" b="1">
                <a:solidFill>
                  <a:srgbClr val="173955"/>
                </a:solidFill>
                <a:latin typeface="Arial"/>
                <a:ea typeface="Arial"/>
                <a:cs typeface="Arial"/>
              </a:rPr>
              <a:t>Held-out test results</a:t>
            </a:r>
          </a:p>
        </p:txBody>
      </p:sp>
      <p:graphicFrame>
        <p:nvGraphicFramePr>
          <p:cNvPr id="2" name="">
            <a:extLst xmlns:a="http://schemas.openxmlformats.org/drawingml/2006/main">
              <a:ext uri="{FF2B5EF4-FFF2-40B4-BE49-F238E27FC236}">
                <a16:creationId xmlns:a16="http://schemas.microsoft.com/office/drawing/2014/main" id="{F6911C71-5272-456B-8D4F-3E4AA58813B2}"/>
              </a:ext>
            </a:extLst>
          </p:cNvPr>
          <p:cNvGraphicFramePr/>
          <p:nvPr/>
        </p:nvGraphicFramePr>
        <p:xfrm>
          <a:off xmlns:a="http://schemas.openxmlformats.org/drawingml/2006/main" x="666750" y="1714500"/>
          <a:ext xmlns:a="http://schemas.openxmlformats.org/drawingml/2006/main" cx="10810875" cy="3238500"/>
        </p:xfrm>
        <a:graphic xmlns:a="http://schemas.openxmlformats.org/drawingml/2006/main">
          <a:graphicData uri="http://schemas.openxmlformats.org/drawingml/2006/table">
            <a:tbl>
              <a:tblPr/>
              <a:tblGrid>
                <a:gridCol w="2702719"/>
                <a:gridCol w="2702719"/>
                <a:gridCol w="2702719"/>
                <a:gridCol w="2702719"/>
              </a:tblGrid>
              <a:tr h="809625">
                <a:tc>
                  <a:txBody>
                    <a:bodyPr/>
                    <a:lstStyle/>
                    <a:p>
                      <a:r>
                        <a:rPr sz="1875" b="1">
                          <a:solidFill>
                            <a:srgbClr val="FFFFFF"/>
                          </a:solidFill>
                          <a:latin typeface="Arial"/>
                          <a:ea typeface="Arial"/>
                          <a:cs typeface="Arial"/>
                        </a:rPr>
                        <a:t>Cell</a:t>
                      </a:r>
                    </a:p>
                  </a:txBody>
                  <a:tcPr marL="91440" marR="91440" marT="45720" marB="45720">
                    <a:solidFill>
                      <a:srgbClr val="173955"/>
                    </a:solidFill>
                  </a:tcPr>
                </a:tc>
                <a:tc>
                  <a:txBody>
                    <a:bodyPr/>
                    <a:lstStyle/>
                    <a:p>
                      <a:r>
                        <a:rPr sz="1875" b="1">
                          <a:solidFill>
                            <a:srgbClr val="FFFFFF"/>
                          </a:solidFill>
                          <a:latin typeface="Arial"/>
                          <a:ea typeface="Arial"/>
                          <a:cs typeface="Arial"/>
                        </a:rPr>
                        <a:t>Accuracy</a:t>
                      </a:r>
                    </a:p>
                  </a:txBody>
                  <a:tcPr marL="91440" marR="91440" marT="45720" marB="45720">
                    <a:solidFill>
                      <a:srgbClr val="173955"/>
                    </a:solidFill>
                  </a:tcPr>
                </a:tc>
                <a:tc>
                  <a:txBody>
                    <a:bodyPr/>
                    <a:lstStyle/>
                    <a:p>
                      <a:r>
                        <a:rPr sz="1875" b="1">
                          <a:solidFill>
                            <a:srgbClr val="FFFFFF"/>
                          </a:solidFill>
                          <a:latin typeface="Arial"/>
                          <a:ea typeface="Arial"/>
                          <a:cs typeface="Arial"/>
                        </a:rPr>
                        <a:t>Macro-F1</a:t>
                      </a:r>
                    </a:p>
                  </a:txBody>
                  <a:tcPr marL="91440" marR="91440" marT="45720" marB="45720">
                    <a:solidFill>
                      <a:srgbClr val="173955"/>
                    </a:solidFill>
                  </a:tcPr>
                </a:tc>
                <a:tc>
                  <a:txBody>
                    <a:bodyPr/>
                    <a:lstStyle/>
                    <a:p>
                      <a:r>
                        <a:rPr sz="1875" b="1">
                          <a:solidFill>
                            <a:srgbClr val="FFFFFF"/>
                          </a:solidFill>
                          <a:latin typeface="Arial"/>
                          <a:ea typeface="Arial"/>
                          <a:cs typeface="Arial"/>
                        </a:rPr>
                        <a:t>LR / batch</a:t>
                      </a:r>
                    </a:p>
                  </a:txBody>
                  <a:tcPr marL="91440" marR="91440" marT="45720" marB="45720">
                    <a:solidFill>
                      <a:srgbClr val="173955"/>
                    </a:solidFill>
                  </a:tcPr>
                </a:tc>
              </a:tr>
              <a:tr h="809625">
                <a:tc>
                  <a:txBody>
                    <a:bodyPr/>
                    <a:lstStyle/>
                    <a:p>
                      <a:r>
                        <a:rPr sz="1875" b="0">
                          <a:solidFill>
                            <a:srgbClr val="23394D"/>
                          </a:solidFill>
                          <a:latin typeface="Arial"/>
                          <a:ea typeface="Arial"/>
                          <a:cs typeface="Arial"/>
                        </a:rPr>
                        <a:t>VANILLA</a:t>
                      </a:r>
                    </a:p>
                  </a:txBody>
                  <a:tcPr marL="91440" marR="91440" marT="45720" marB="45720">
                    <a:solidFill>
                      <a:srgbClr val="EAF0F6"/>
                    </a:solidFill>
                  </a:tcPr>
                </a:tc>
                <a:tc>
                  <a:txBody>
                    <a:bodyPr/>
                    <a:lstStyle/>
                    <a:p>
                      <a:r>
                        <a:rPr sz="1875" b="0">
                          <a:solidFill>
                            <a:srgbClr val="23394D"/>
                          </a:solidFill>
                          <a:latin typeface="Arial"/>
                          <a:ea typeface="Arial"/>
                          <a:cs typeface="Arial"/>
                        </a:rPr>
                        <a:t>0.5887</a:t>
                      </a:r>
                    </a:p>
                  </a:txBody>
                  <a:tcPr marL="91440" marR="91440" marT="45720" marB="45720">
                    <a:solidFill>
                      <a:srgbClr val="EAF0F6"/>
                    </a:solidFill>
                  </a:tcPr>
                </a:tc>
                <a:tc>
                  <a:txBody>
                    <a:bodyPr/>
                    <a:lstStyle/>
                    <a:p>
                      <a:r>
                        <a:rPr sz="1875" b="0">
                          <a:solidFill>
                            <a:srgbClr val="23394D"/>
                          </a:solidFill>
                          <a:latin typeface="Arial"/>
                          <a:ea typeface="Arial"/>
                          <a:cs typeface="Arial"/>
                        </a:rPr>
                        <a:t>0.4745</a:t>
                      </a:r>
                    </a:p>
                  </a:txBody>
                  <a:tcPr marL="91440" marR="91440" marT="45720" marB="45720">
                    <a:solidFill>
                      <a:srgbClr val="EAF0F6"/>
                    </a:solidFill>
                  </a:tcPr>
                </a:tc>
                <a:tc>
                  <a:txBody>
                    <a:bodyPr/>
                    <a:lstStyle/>
                    <a:p>
                      <a:r>
                        <a:rPr sz="1875" b="0">
                          <a:solidFill>
                            <a:srgbClr val="23394D"/>
                          </a:solidFill>
                          <a:latin typeface="Arial"/>
                          <a:ea typeface="Arial"/>
                          <a:cs typeface="Arial"/>
                        </a:rPr>
                        <a:t>0.001 / 64</a:t>
                      </a:r>
                    </a:p>
                  </a:txBody>
                  <a:tcPr marL="91440" marR="91440" marT="45720" marB="45720">
                    <a:solidFill>
                      <a:srgbClr val="EAF0F6"/>
                    </a:solidFill>
                  </a:tcPr>
                </a:tc>
              </a:tr>
              <a:tr h="809625">
                <a:tc>
                  <a:txBody>
                    <a:bodyPr/>
                    <a:lstStyle/>
                    <a:p>
                      <a:r>
                        <a:rPr sz="1875" b="0">
                          <a:solidFill>
                            <a:srgbClr val="23394D"/>
                          </a:solidFill>
                          <a:latin typeface="Arial"/>
                          <a:ea typeface="Arial"/>
                          <a:cs typeface="Arial"/>
                        </a:rPr>
                        <a:t>CIFG</a:t>
                      </a:r>
                    </a:p>
                  </a:txBody>
                  <a:tcPr marL="91440" marR="91440" marT="45720" marB="45720">
                    <a:solidFill>
                      <a:srgbClr val="FFFFFF"/>
                    </a:solidFill>
                  </a:tcPr>
                </a:tc>
                <a:tc>
                  <a:txBody>
                    <a:bodyPr/>
                    <a:lstStyle/>
                    <a:p>
                      <a:r>
                        <a:rPr sz="1875" b="0">
                          <a:solidFill>
                            <a:srgbClr val="23394D"/>
                          </a:solidFill>
                          <a:latin typeface="Arial"/>
                          <a:ea typeface="Arial"/>
                          <a:cs typeface="Arial"/>
                        </a:rPr>
                        <a:t>0.6395</a:t>
                      </a:r>
                    </a:p>
                  </a:txBody>
                  <a:tcPr marL="91440" marR="91440" marT="45720" marB="45720">
                    <a:solidFill>
                      <a:srgbClr val="FFFFFF"/>
                    </a:solidFill>
                  </a:tcPr>
                </a:tc>
                <a:tc>
                  <a:txBody>
                    <a:bodyPr/>
                    <a:lstStyle/>
                    <a:p>
                      <a:r>
                        <a:rPr sz="1875" b="0">
                          <a:solidFill>
                            <a:srgbClr val="23394D"/>
                          </a:solidFill>
                          <a:latin typeface="Arial"/>
                          <a:ea typeface="Arial"/>
                          <a:cs typeface="Arial"/>
                        </a:rPr>
                        <a:t>0.5001</a:t>
                      </a:r>
                    </a:p>
                  </a:txBody>
                  <a:tcPr marL="91440" marR="91440" marT="45720" marB="45720">
                    <a:solidFill>
                      <a:srgbClr val="FFFFFF"/>
                    </a:solidFill>
                  </a:tcPr>
                </a:tc>
                <a:tc>
                  <a:txBody>
                    <a:bodyPr/>
                    <a:lstStyle/>
                    <a:p>
                      <a:r>
                        <a:rPr sz="1875" b="0">
                          <a:solidFill>
                            <a:srgbClr val="23394D"/>
                          </a:solidFill>
                          <a:latin typeface="Arial"/>
                          <a:ea typeface="Arial"/>
                          <a:cs typeface="Arial"/>
                        </a:rPr>
                        <a:t>0.001 / 64</a:t>
                      </a:r>
                    </a:p>
                  </a:txBody>
                  <a:tcPr marL="91440" marR="91440" marT="45720" marB="45720">
                    <a:solidFill>
                      <a:srgbClr val="FFFFFF"/>
                    </a:solidFill>
                  </a:tcPr>
                </a:tc>
              </a:tr>
              <a:tr h="809625">
                <a:tc>
                  <a:txBody>
                    <a:bodyPr/>
                    <a:lstStyle/>
                    <a:p>
                      <a:r>
                        <a:rPr sz="1875" b="0">
                          <a:solidFill>
                            <a:srgbClr val="23394D"/>
                          </a:solidFill>
                          <a:latin typeface="Arial"/>
                          <a:ea typeface="Arial"/>
                          <a:cs typeface="Arial"/>
                        </a:rPr>
                        <a:t>WMC</a:t>
                      </a:r>
                    </a:p>
                  </a:txBody>
                  <a:tcPr marL="91440" marR="91440" marT="45720" marB="45720">
                    <a:solidFill>
                      <a:srgbClr val="EAF0F6"/>
                    </a:solidFill>
                  </a:tcPr>
                </a:tc>
                <a:tc>
                  <a:txBody>
                    <a:bodyPr/>
                    <a:lstStyle/>
                    <a:p>
                      <a:r>
                        <a:rPr sz="1875" b="0">
                          <a:solidFill>
                            <a:srgbClr val="23394D"/>
                          </a:solidFill>
                          <a:latin typeface="Arial"/>
                          <a:ea typeface="Arial"/>
                          <a:cs typeface="Arial"/>
                        </a:rPr>
                        <a:t>0.6292</a:t>
                      </a:r>
                    </a:p>
                  </a:txBody>
                  <a:tcPr marL="91440" marR="91440" marT="45720" marB="45720">
                    <a:solidFill>
                      <a:srgbClr val="EAF0F6"/>
                    </a:solidFill>
                  </a:tcPr>
                </a:tc>
                <a:tc>
                  <a:txBody>
                    <a:bodyPr/>
                    <a:lstStyle/>
                    <a:p>
                      <a:r>
                        <a:rPr sz="1875" b="0">
                          <a:solidFill>
                            <a:srgbClr val="23394D"/>
                          </a:solidFill>
                          <a:latin typeface="Arial"/>
                          <a:ea typeface="Arial"/>
                          <a:cs typeface="Arial"/>
                        </a:rPr>
                        <a:t>0.4924</a:t>
                      </a:r>
                    </a:p>
                  </a:txBody>
                  <a:tcPr marL="91440" marR="91440" marT="45720" marB="45720">
                    <a:solidFill>
                      <a:srgbClr val="EAF0F6"/>
                    </a:solidFill>
                  </a:tcPr>
                </a:tc>
                <a:tc>
                  <a:txBody>
                    <a:bodyPr/>
                    <a:lstStyle/>
                    <a:p>
                      <a:r>
                        <a:rPr sz="1875" b="0">
                          <a:solidFill>
                            <a:srgbClr val="23394D"/>
                          </a:solidFill>
                          <a:latin typeface="Arial"/>
                          <a:ea typeface="Arial"/>
                          <a:cs typeface="Arial"/>
                        </a:rPr>
                        <a:t>0.003 / 128</a:t>
                      </a:r>
                    </a:p>
                  </a:txBody>
                  <a:tcPr marL="91440" marR="91440" marT="45720" marB="45720">
                    <a:solidFill>
                      <a:srgbClr val="EAF0F6"/>
                    </a:solidFill>
                  </a:tcPr>
                </a:tc>
              </a:tr>
            </a:tbl>
          </a:graphicData>
        </a:graphic>
      </p:graphicFrame>
      <p:sp>
        <p:nvSpPr>
          <p:cNvPr id="3" name="">
            <a:extLst xmlns:a="http://schemas.openxmlformats.org/drawingml/2006/main">
              <a:ext uri="{FF2B5EF4-FFF2-40B4-BE49-F238E27FC236}">
                <a16:creationId xmlns:a16="http://schemas.microsoft.com/office/drawing/2014/main" id="{C59E02A5-7DF8-49CA-A8C0-0108BA91BC08}"/>
              </a:ext>
            </a:extLst>
          </p:cNvPr>
          <p:cNvSpPr>
            <a:spLocks xmlns:a="http://schemas.openxmlformats.org/drawingml/2006/main" noGrp="1"/>
          </p:cNvSpPr>
          <p:nvPr/>
        </p:nvSpPr>
        <p:spPr>
          <a:xfrm xmlns:a="http://schemas.openxmlformats.org/drawingml/2006/main">
            <a:off x="666750" y="5476875"/>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3394D"/>
                </a:solidFill>
                <a:latin typeface="Arial"/>
                <a:ea typeface="Arial"/>
                <a:cs typeface="Arial"/>
              </a:defRPr>
            </a:defPPr>
            <a:lvl1pPr>
              <a:defRPr sz="2100" b="0">
                <a:solidFill>
                  <a:srgbClr val="23394D"/>
                </a:solidFill>
                <a:latin typeface="Arial"/>
                <a:ea typeface="Arial"/>
                <a:cs typeface="Arial"/>
              </a:defRPr>
            </a:lvl1pPr>
            <a:lvl2pPr>
              <a:defRPr sz="2100" b="0">
                <a:solidFill>
                  <a:srgbClr val="23394D"/>
                </a:solidFill>
                <a:latin typeface="Arial"/>
                <a:ea typeface="Arial"/>
                <a:cs typeface="Arial"/>
              </a:defRPr>
            </a:lvl2pPr>
            <a:lvl3pPr>
              <a:defRPr sz="2100" b="0">
                <a:solidFill>
                  <a:srgbClr val="23394D"/>
                </a:solidFill>
                <a:latin typeface="Arial"/>
                <a:ea typeface="Arial"/>
                <a:cs typeface="Arial"/>
              </a:defRPr>
            </a:lvl3pPr>
            <a:lvl4pPr>
              <a:defRPr sz="2100" b="0">
                <a:solidFill>
                  <a:srgbClr val="23394D"/>
                </a:solidFill>
                <a:latin typeface="Arial"/>
                <a:ea typeface="Arial"/>
                <a:cs typeface="Arial"/>
              </a:defRPr>
            </a:lvl4pPr>
            <a:lvl5pPr>
              <a:defRPr sz="2100" b="0">
                <a:solidFill>
                  <a:srgbClr val="23394D"/>
                </a:solidFill>
                <a:latin typeface="Arial"/>
                <a:ea typeface="Arial"/>
                <a:cs typeface="Arial"/>
              </a:defRPr>
            </a:lvl5pPr>
            <a:lvl6pPr>
              <a:defRPr sz="2100" b="0">
                <a:solidFill>
                  <a:srgbClr val="23394D"/>
                </a:solidFill>
                <a:latin typeface="Arial"/>
                <a:ea typeface="Arial"/>
                <a:cs typeface="Arial"/>
              </a:defRPr>
            </a:lvl6pPr>
            <a:lvl7pPr>
              <a:defRPr sz="2100" b="0">
                <a:solidFill>
                  <a:srgbClr val="23394D"/>
                </a:solidFill>
                <a:latin typeface="Arial"/>
                <a:ea typeface="Arial"/>
                <a:cs typeface="Arial"/>
              </a:defRPr>
            </a:lvl7pPr>
            <a:lvl8pPr>
              <a:defRPr sz="2100" b="0">
                <a:solidFill>
                  <a:srgbClr val="23394D"/>
                </a:solidFill>
                <a:latin typeface="Arial"/>
                <a:ea typeface="Arial"/>
                <a:cs typeface="Arial"/>
              </a:defRPr>
            </a:lvl8pPr>
            <a:lvl9pPr>
              <a:defRPr sz="2100" b="0">
                <a:solidFill>
                  <a:srgbClr val="23394D"/>
                </a:solidFill>
                <a:latin typeface="Arial"/>
                <a:ea typeface="Arial"/>
                <a:cs typeface="Arial"/>
              </a:defRPr>
            </a:lvl9pPr>
          </a:lstStyle>
          <a:p xmlns:a="http://schemas.openxmlformats.org/drawingml/2006/main">
            <a:pPr>
              <a:defRPr sz="2100" b="0">
                <a:solidFill>
                  <a:srgbClr val="23394D"/>
                </a:solidFill>
                <a:latin typeface="Arial"/>
                <a:ea typeface="Arial"/>
                <a:cs typeface="Arial"/>
              </a:defRPr>
            </a:pPr>
            <a:r>
              <a:rPr sz="2100" b="0">
                <a:solidFill>
                  <a:srgbClr val="23394D"/>
                </a:solidFill>
                <a:latin typeface="Arial"/>
                <a:ea typeface="Arial"/>
                <a:cs typeface="Arial"/>
              </a:rPr>
              <a:t>Majority baseline: accuracy 0.6640, macro-F1 0.2660</a:t>
            </a:r>
          </a:p>
        </p:txBody>
      </p:sp>
    </p:spTree>
    <p:extLst>
      <p:ext uri="{BB962C8B-B14F-4D97-AF65-F5344CB8AC3E}">
        <p14:creationId xmlns:p14="http://schemas.microsoft.com/office/powerpoint/2010/main" val="55291284"/>
      </p:ext>
    </p:extLst>
  </p:cSld>
</p:sld>
</file>

<file path=ppt/slides/slide8.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F09F5805-2495-4241-8CC0-5BA3FC00C5BA}"/>
              </a:ext>
            </a:extLst>
          </p:cNvPr>
          <p:cNvSpPr>
            <a:spLocks xmlns:a="http://schemas.openxmlformats.org/drawingml/2006/main" noGrp="1"/>
          </p:cNvSpPr>
          <p:nvPr/>
        </p:nvSpPr>
        <p:spPr>
          <a:xfrm xmlns:a="http://schemas.openxmlformats.org/drawingml/2006/main">
            <a:off x="619125" y="428625"/>
            <a:ext cx="10953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955"/>
                </a:solidFill>
                <a:latin typeface="Arial"/>
                <a:ea typeface="Arial"/>
                <a:cs typeface="Arial"/>
              </a:defRPr>
            </a:defPPr>
            <a:lvl1pPr>
              <a:defRPr sz="3225" b="1">
                <a:solidFill>
                  <a:srgbClr val="173955"/>
                </a:solidFill>
                <a:latin typeface="Arial"/>
                <a:ea typeface="Arial"/>
                <a:cs typeface="Arial"/>
              </a:defRPr>
            </a:lvl1pPr>
            <a:lvl2pPr>
              <a:defRPr sz="3225" b="1">
                <a:solidFill>
                  <a:srgbClr val="173955"/>
                </a:solidFill>
                <a:latin typeface="Arial"/>
                <a:ea typeface="Arial"/>
                <a:cs typeface="Arial"/>
              </a:defRPr>
            </a:lvl2pPr>
            <a:lvl3pPr>
              <a:defRPr sz="3225" b="1">
                <a:solidFill>
                  <a:srgbClr val="173955"/>
                </a:solidFill>
                <a:latin typeface="Arial"/>
                <a:ea typeface="Arial"/>
                <a:cs typeface="Arial"/>
              </a:defRPr>
            </a:lvl3pPr>
            <a:lvl4pPr>
              <a:defRPr sz="3225" b="1">
                <a:solidFill>
                  <a:srgbClr val="173955"/>
                </a:solidFill>
                <a:latin typeface="Arial"/>
                <a:ea typeface="Arial"/>
                <a:cs typeface="Arial"/>
              </a:defRPr>
            </a:lvl4pPr>
            <a:lvl5pPr>
              <a:defRPr sz="3225" b="1">
                <a:solidFill>
                  <a:srgbClr val="173955"/>
                </a:solidFill>
                <a:latin typeface="Arial"/>
                <a:ea typeface="Arial"/>
                <a:cs typeface="Arial"/>
              </a:defRPr>
            </a:lvl5pPr>
            <a:lvl6pPr>
              <a:defRPr sz="3225" b="1">
                <a:solidFill>
                  <a:srgbClr val="173955"/>
                </a:solidFill>
                <a:latin typeface="Arial"/>
                <a:ea typeface="Arial"/>
                <a:cs typeface="Arial"/>
              </a:defRPr>
            </a:lvl6pPr>
            <a:lvl7pPr>
              <a:defRPr sz="3225" b="1">
                <a:solidFill>
                  <a:srgbClr val="173955"/>
                </a:solidFill>
                <a:latin typeface="Arial"/>
                <a:ea typeface="Arial"/>
                <a:cs typeface="Arial"/>
              </a:defRPr>
            </a:lvl7pPr>
            <a:lvl8pPr>
              <a:defRPr sz="3225" b="1">
                <a:solidFill>
                  <a:srgbClr val="173955"/>
                </a:solidFill>
                <a:latin typeface="Arial"/>
                <a:ea typeface="Arial"/>
                <a:cs typeface="Arial"/>
              </a:defRPr>
            </a:lvl8pPr>
            <a:lvl9pPr>
              <a:defRPr sz="3225" b="1">
                <a:solidFill>
                  <a:srgbClr val="173955"/>
                </a:solidFill>
                <a:latin typeface="Arial"/>
                <a:ea typeface="Arial"/>
                <a:cs typeface="Arial"/>
              </a:defRPr>
            </a:lvl9pPr>
          </a:lstStyle>
          <a:p xmlns:a="http://schemas.openxmlformats.org/drawingml/2006/main">
            <a:pPr>
              <a:defRPr sz="3225" b="1">
                <a:solidFill>
                  <a:srgbClr val="173955"/>
                </a:solidFill>
                <a:latin typeface="Arial"/>
                <a:ea typeface="Arial"/>
                <a:cs typeface="Arial"/>
              </a:defRPr>
            </a:pPr>
            <a:r>
              <a:rPr sz="3225" b="1">
                <a:solidFill>
                  <a:srgbClr val="173955"/>
                </a:solidFill>
                <a:latin typeface="Arial"/>
                <a:ea typeface="Arial"/>
                <a:cs typeface="Arial"/>
              </a:rPr>
              <a:t>Class-level performance</a:t>
            </a:r>
          </a:p>
        </p:txBody>
      </p:sp>
      <p:graphicFrame>
        <p:nvGraphicFramePr>
          <p:cNvPr id="2" name="Chart">
            <a:extLst xmlns:a="http://schemas.openxmlformats.org/drawingml/2006/main">
              <a:ext uri="{FF2B5EF4-FFF2-40B4-BE49-F238E27FC236}">
                <a16:creationId xmlns:a16="http://schemas.microsoft.com/office/drawing/2014/main" id="{0D430A06-E0A9-436E-A425-AEC2F62773CD}"/>
              </a:ext>
            </a:extLst>
          </p:cNvPr>
          <p:cNvGraphicFramePr/>
          <p:nvPr/>
        </p:nvGraphicFramePr>
        <p:xfrm>
          <a:off xmlns:a="http://schemas.openxmlformats.org/drawingml/2006/main" x="666750" y="1619250"/>
          <a:ext xmlns:a="http://schemas.openxmlformats.org/drawingml/2006/main" cx="7143750" cy="3905250"/>
        </p:xfrm>
        <a:graphic xmlns:a="http://schemas.openxmlformats.org/drawingml/2006/main">
          <a:graphicData uri="http://schemas.openxmlformats.org/drawingml/2006/chart">
            <c:chart xmlns:r="http://schemas.openxmlformats.org/officeDocument/2006/relationships" xmlns:c="http://schemas.openxmlformats.org/drawingml/2006/chart" r:id="R9780d586ec554f35"/>
          </a:graphicData>
        </a:graphic>
      </p:graphicFrame>
      <p:sp>
        <p:nvSpPr>
          <p:cNvPr id="3" name="">
            <a:extLst xmlns:a="http://schemas.openxmlformats.org/drawingml/2006/main">
              <a:ext uri="{FF2B5EF4-FFF2-40B4-BE49-F238E27FC236}">
                <a16:creationId xmlns:a16="http://schemas.microsoft.com/office/drawing/2014/main" id="{0BF316AA-7308-4FA5-9073-E4B276DA8B7B}"/>
              </a:ext>
            </a:extLst>
          </p:cNvPr>
          <p:cNvSpPr>
            <a:spLocks xmlns:a="http://schemas.openxmlformats.org/drawingml/2006/main" noGrp="1"/>
          </p:cNvSpPr>
          <p:nvPr/>
        </p:nvSpPr>
        <p:spPr>
          <a:xfrm xmlns:a="http://schemas.openxmlformats.org/drawingml/2006/main">
            <a:off x="8286750" y="2238375"/>
            <a:ext cx="3048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23394D"/>
                </a:solidFill>
                <a:latin typeface="Arial"/>
                <a:ea typeface="Arial"/>
                <a:cs typeface="Arial"/>
              </a:defRPr>
            </a:defPPr>
            <a:lvl1pPr>
              <a:defRPr sz="2250" b="1">
                <a:solidFill>
                  <a:srgbClr val="23394D"/>
                </a:solidFill>
                <a:latin typeface="Arial"/>
                <a:ea typeface="Arial"/>
                <a:cs typeface="Arial"/>
              </a:defRPr>
            </a:lvl1pPr>
            <a:lvl2pPr>
              <a:defRPr sz="2250" b="1">
                <a:solidFill>
                  <a:srgbClr val="23394D"/>
                </a:solidFill>
                <a:latin typeface="Arial"/>
                <a:ea typeface="Arial"/>
                <a:cs typeface="Arial"/>
              </a:defRPr>
            </a:lvl2pPr>
            <a:lvl3pPr>
              <a:defRPr sz="2250" b="1">
                <a:solidFill>
                  <a:srgbClr val="23394D"/>
                </a:solidFill>
                <a:latin typeface="Arial"/>
                <a:ea typeface="Arial"/>
                <a:cs typeface="Arial"/>
              </a:defRPr>
            </a:lvl3pPr>
            <a:lvl4pPr>
              <a:defRPr sz="2250" b="1">
                <a:solidFill>
                  <a:srgbClr val="23394D"/>
                </a:solidFill>
                <a:latin typeface="Arial"/>
                <a:ea typeface="Arial"/>
                <a:cs typeface="Arial"/>
              </a:defRPr>
            </a:lvl4pPr>
            <a:lvl5pPr>
              <a:defRPr sz="2250" b="1">
                <a:solidFill>
                  <a:srgbClr val="23394D"/>
                </a:solidFill>
                <a:latin typeface="Arial"/>
                <a:ea typeface="Arial"/>
                <a:cs typeface="Arial"/>
              </a:defRPr>
            </a:lvl5pPr>
            <a:lvl6pPr>
              <a:defRPr sz="2250" b="1">
                <a:solidFill>
                  <a:srgbClr val="23394D"/>
                </a:solidFill>
                <a:latin typeface="Arial"/>
                <a:ea typeface="Arial"/>
                <a:cs typeface="Arial"/>
              </a:defRPr>
            </a:lvl6pPr>
            <a:lvl7pPr>
              <a:defRPr sz="2250" b="1">
                <a:solidFill>
                  <a:srgbClr val="23394D"/>
                </a:solidFill>
                <a:latin typeface="Arial"/>
                <a:ea typeface="Arial"/>
                <a:cs typeface="Arial"/>
              </a:defRPr>
            </a:lvl7pPr>
            <a:lvl8pPr>
              <a:defRPr sz="2250" b="1">
                <a:solidFill>
                  <a:srgbClr val="23394D"/>
                </a:solidFill>
                <a:latin typeface="Arial"/>
                <a:ea typeface="Arial"/>
                <a:cs typeface="Arial"/>
              </a:defRPr>
            </a:lvl8pPr>
            <a:lvl9pPr>
              <a:defRPr sz="2250" b="1">
                <a:solidFill>
                  <a:srgbClr val="23394D"/>
                </a:solidFill>
                <a:latin typeface="Arial"/>
                <a:ea typeface="Arial"/>
                <a:cs typeface="Arial"/>
              </a:defRPr>
            </a:lvl9pPr>
          </a:lstStyle>
          <a:p xmlns:a="http://schemas.openxmlformats.org/drawingml/2006/main">
            <a:pPr>
              <a:defRPr sz="2250" b="1">
                <a:solidFill>
                  <a:srgbClr val="23394D"/>
                </a:solidFill>
                <a:latin typeface="Arial"/>
                <a:ea typeface="Arial"/>
                <a:cs typeface="Arial"/>
              </a:defRPr>
            </a:pPr>
            <a:r>
              <a:rPr sz="2250" b="1">
                <a:solidFill>
                  <a:srgbClr val="23394D"/>
                </a:solidFill>
                <a:latin typeface="Arial"/>
                <a:ea typeface="Arial"/>
                <a:cs typeface="Arial"/>
              </a:rPr>
              <a:t>CIFG</a:t>
            </a:r>
          </a:p>
          <a:p xmlns:a="http://schemas.openxmlformats.org/drawingml/2006/main">
            <a:pPr>
              <a:defRPr sz="2250" b="1">
                <a:solidFill>
                  <a:srgbClr val="23394D"/>
                </a:solidFill>
                <a:latin typeface="Arial"/>
                <a:ea typeface="Arial"/>
                <a:cs typeface="Arial"/>
              </a:defRPr>
            </a:pPr>
            <a:r>
              <a:rPr sz="2250" b="1">
                <a:solidFill>
                  <a:srgbClr val="23394D"/>
                </a:solidFill>
                <a:latin typeface="Arial"/>
                <a:ea typeface="Arial"/>
                <a:cs typeface="Arial"/>
              </a:rPr>
              <a:t>Selected by validation macro-F1</a:t>
            </a:r>
          </a:p>
        </p:txBody>
      </p:sp>
    </p:spTree>
    <p:extLst>
      <p:ext uri="{BB962C8B-B14F-4D97-AF65-F5344CB8AC3E}">
        <p14:creationId xmlns:p14="http://schemas.microsoft.com/office/powerpoint/2010/main" val="567691008"/>
      </p:ext>
    </p:extLst>
  </p:cSld>
</p:sld>
</file>

<file path=ppt/slides/slide9.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4E795A9-02E0-4958-8DC1-0723F31B17E3}"/>
              </a:ext>
            </a:extLst>
          </p:cNvPr>
          <p:cNvSpPr>
            <a:spLocks xmlns:a="http://schemas.openxmlformats.org/drawingml/2006/main" noGrp="1"/>
          </p:cNvSpPr>
          <p:nvPr/>
        </p:nvSpPr>
        <p:spPr>
          <a:xfrm xmlns:a="http://schemas.openxmlformats.org/drawingml/2006/main">
            <a:off x="619125" y="428625"/>
            <a:ext cx="10953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955"/>
                </a:solidFill>
                <a:latin typeface="Arial"/>
                <a:ea typeface="Arial"/>
                <a:cs typeface="Arial"/>
              </a:defRPr>
            </a:defPPr>
            <a:lvl1pPr>
              <a:defRPr sz="3225" b="1">
                <a:solidFill>
                  <a:srgbClr val="173955"/>
                </a:solidFill>
                <a:latin typeface="Arial"/>
                <a:ea typeface="Arial"/>
                <a:cs typeface="Arial"/>
              </a:defRPr>
            </a:lvl1pPr>
            <a:lvl2pPr>
              <a:defRPr sz="3225" b="1">
                <a:solidFill>
                  <a:srgbClr val="173955"/>
                </a:solidFill>
                <a:latin typeface="Arial"/>
                <a:ea typeface="Arial"/>
                <a:cs typeface="Arial"/>
              </a:defRPr>
            </a:lvl2pPr>
            <a:lvl3pPr>
              <a:defRPr sz="3225" b="1">
                <a:solidFill>
                  <a:srgbClr val="173955"/>
                </a:solidFill>
                <a:latin typeface="Arial"/>
                <a:ea typeface="Arial"/>
                <a:cs typeface="Arial"/>
              </a:defRPr>
            </a:lvl3pPr>
            <a:lvl4pPr>
              <a:defRPr sz="3225" b="1">
                <a:solidFill>
                  <a:srgbClr val="173955"/>
                </a:solidFill>
                <a:latin typeface="Arial"/>
                <a:ea typeface="Arial"/>
                <a:cs typeface="Arial"/>
              </a:defRPr>
            </a:lvl4pPr>
            <a:lvl5pPr>
              <a:defRPr sz="3225" b="1">
                <a:solidFill>
                  <a:srgbClr val="173955"/>
                </a:solidFill>
                <a:latin typeface="Arial"/>
                <a:ea typeface="Arial"/>
                <a:cs typeface="Arial"/>
              </a:defRPr>
            </a:lvl5pPr>
            <a:lvl6pPr>
              <a:defRPr sz="3225" b="1">
                <a:solidFill>
                  <a:srgbClr val="173955"/>
                </a:solidFill>
                <a:latin typeface="Arial"/>
                <a:ea typeface="Arial"/>
                <a:cs typeface="Arial"/>
              </a:defRPr>
            </a:lvl6pPr>
            <a:lvl7pPr>
              <a:defRPr sz="3225" b="1">
                <a:solidFill>
                  <a:srgbClr val="173955"/>
                </a:solidFill>
                <a:latin typeface="Arial"/>
                <a:ea typeface="Arial"/>
                <a:cs typeface="Arial"/>
              </a:defRPr>
            </a:lvl7pPr>
            <a:lvl8pPr>
              <a:defRPr sz="3225" b="1">
                <a:solidFill>
                  <a:srgbClr val="173955"/>
                </a:solidFill>
                <a:latin typeface="Arial"/>
                <a:ea typeface="Arial"/>
                <a:cs typeface="Arial"/>
              </a:defRPr>
            </a:lvl8pPr>
            <a:lvl9pPr>
              <a:defRPr sz="3225" b="1">
                <a:solidFill>
                  <a:srgbClr val="173955"/>
                </a:solidFill>
                <a:latin typeface="Arial"/>
                <a:ea typeface="Arial"/>
                <a:cs typeface="Arial"/>
              </a:defRPr>
            </a:lvl9pPr>
          </a:lstStyle>
          <a:p xmlns:a="http://schemas.openxmlformats.org/drawingml/2006/main">
            <a:pPr>
              <a:defRPr sz="3225" b="1">
                <a:solidFill>
                  <a:srgbClr val="173955"/>
                </a:solidFill>
                <a:latin typeface="Arial"/>
                <a:ea typeface="Arial"/>
                <a:cs typeface="Arial"/>
              </a:defRPr>
            </a:pPr>
            <a:r>
              <a:rPr sz="3225" b="1">
                <a:solidFill>
                  <a:srgbClr val="173955"/>
                </a:solidFill>
                <a:latin typeface="Arial"/>
                <a:ea typeface="Arial"/>
                <a:cs typeface="Arial"/>
              </a:rPr>
              <a:t>Limitations and improvements</a:t>
            </a:r>
          </a:p>
        </p:txBody>
      </p:sp>
      <p:sp>
        <p:nvSpPr>
          <p:cNvPr id="2" name="">
            <a:extLst xmlns:a="http://schemas.openxmlformats.org/drawingml/2006/main">
              <a:ext uri="{FF2B5EF4-FFF2-40B4-BE49-F238E27FC236}">
                <a16:creationId xmlns:a16="http://schemas.microsoft.com/office/drawing/2014/main" id="{3A45915D-61FA-43C0-A7B5-87E36C680446}"/>
              </a:ext>
            </a:extLst>
          </p:cNvPr>
          <p:cNvSpPr>
            <a:spLocks xmlns:a="http://schemas.openxmlformats.org/drawingml/2006/main" noGrp="1"/>
          </p:cNvSpPr>
          <p:nvPr/>
        </p:nvSpPr>
        <p:spPr>
          <a:xfrm xmlns:a="http://schemas.openxmlformats.org/drawingml/2006/main">
            <a:off x="666750" y="161925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3394D"/>
                </a:solidFill>
                <a:latin typeface="Arial"/>
                <a:ea typeface="Arial"/>
                <a:cs typeface="Arial"/>
              </a:defRPr>
            </a:defPPr>
            <a:lvl1pPr>
              <a:defRPr sz="2250" b="0">
                <a:solidFill>
                  <a:srgbClr val="23394D"/>
                </a:solidFill>
                <a:latin typeface="Arial"/>
                <a:ea typeface="Arial"/>
                <a:cs typeface="Arial"/>
              </a:defRPr>
            </a:lvl1pPr>
            <a:lvl2pPr>
              <a:defRPr sz="2250" b="0">
                <a:solidFill>
                  <a:srgbClr val="23394D"/>
                </a:solidFill>
                <a:latin typeface="Arial"/>
                <a:ea typeface="Arial"/>
                <a:cs typeface="Arial"/>
              </a:defRPr>
            </a:lvl2pPr>
            <a:lvl3pPr>
              <a:defRPr sz="2250" b="0">
                <a:solidFill>
                  <a:srgbClr val="23394D"/>
                </a:solidFill>
                <a:latin typeface="Arial"/>
                <a:ea typeface="Arial"/>
                <a:cs typeface="Arial"/>
              </a:defRPr>
            </a:lvl3pPr>
            <a:lvl4pPr>
              <a:defRPr sz="2250" b="0">
                <a:solidFill>
                  <a:srgbClr val="23394D"/>
                </a:solidFill>
                <a:latin typeface="Arial"/>
                <a:ea typeface="Arial"/>
                <a:cs typeface="Arial"/>
              </a:defRPr>
            </a:lvl4pPr>
            <a:lvl5pPr>
              <a:defRPr sz="2250" b="0">
                <a:solidFill>
                  <a:srgbClr val="23394D"/>
                </a:solidFill>
                <a:latin typeface="Arial"/>
                <a:ea typeface="Arial"/>
                <a:cs typeface="Arial"/>
              </a:defRPr>
            </a:lvl5pPr>
            <a:lvl6pPr>
              <a:defRPr sz="2250" b="0">
                <a:solidFill>
                  <a:srgbClr val="23394D"/>
                </a:solidFill>
                <a:latin typeface="Arial"/>
                <a:ea typeface="Arial"/>
                <a:cs typeface="Arial"/>
              </a:defRPr>
            </a:lvl6pPr>
            <a:lvl7pPr>
              <a:defRPr sz="2250" b="0">
                <a:solidFill>
                  <a:srgbClr val="23394D"/>
                </a:solidFill>
                <a:latin typeface="Arial"/>
                <a:ea typeface="Arial"/>
                <a:cs typeface="Arial"/>
              </a:defRPr>
            </a:lvl7pPr>
            <a:lvl8pPr>
              <a:defRPr sz="2250" b="0">
                <a:solidFill>
                  <a:srgbClr val="23394D"/>
                </a:solidFill>
                <a:latin typeface="Arial"/>
                <a:ea typeface="Arial"/>
                <a:cs typeface="Arial"/>
              </a:defRPr>
            </a:lvl8pPr>
            <a:lvl9pPr>
              <a:defRPr sz="2250" b="0">
                <a:solidFill>
                  <a:srgbClr val="23394D"/>
                </a:solidFill>
                <a:latin typeface="Arial"/>
                <a:ea typeface="Arial"/>
                <a:cs typeface="Arial"/>
              </a:defRPr>
            </a:lvl9pPr>
          </a:lstStyle>
          <a:p xmlns:a="http://schemas.openxmlformats.org/drawingml/2006/main">
            <a:pPr>
              <a:defRPr sz="2250" b="0">
                <a:solidFill>
                  <a:srgbClr val="23394D"/>
                </a:solidFill>
                <a:latin typeface="Arial"/>
                <a:ea typeface="Arial"/>
                <a:cs typeface="Arial"/>
              </a:defRPr>
            </a:pPr>
            <a:r>
              <a:rPr sz="2250" b="0">
                <a:solidFill>
                  <a:srgbClr val="23394D"/>
                </a:solidFill>
                <a:latin typeface="Arial"/>
                <a:ea typeface="Arial"/>
                <a:cs typeface="Arial"/>
              </a:rPr>
              <a:t>Repeat with several seeds and longer training</a:t>
            </a:r>
          </a:p>
        </p:txBody>
      </p:sp>
      <p:sp>
        <p:nvSpPr>
          <p:cNvPr id="3" name="">
            <a:extLst xmlns:a="http://schemas.openxmlformats.org/drawingml/2006/main">
              <a:ext uri="{FF2B5EF4-FFF2-40B4-BE49-F238E27FC236}">
                <a16:creationId xmlns:a16="http://schemas.microsoft.com/office/drawing/2014/main" id="{597A78BC-DBA5-420A-890C-7E2985DB6FB3}"/>
              </a:ext>
            </a:extLst>
          </p:cNvPr>
          <p:cNvSpPr>
            <a:spLocks xmlns:a="http://schemas.openxmlformats.org/drawingml/2006/main" noGrp="1"/>
          </p:cNvSpPr>
          <p:nvPr/>
        </p:nvSpPr>
        <p:spPr>
          <a:xfrm xmlns:a="http://schemas.openxmlformats.org/drawingml/2006/main">
            <a:off x="666750" y="261937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3394D"/>
                </a:solidFill>
                <a:latin typeface="Arial"/>
                <a:ea typeface="Arial"/>
                <a:cs typeface="Arial"/>
              </a:defRPr>
            </a:defPPr>
            <a:lvl1pPr>
              <a:defRPr sz="2250" b="0">
                <a:solidFill>
                  <a:srgbClr val="23394D"/>
                </a:solidFill>
                <a:latin typeface="Arial"/>
                <a:ea typeface="Arial"/>
                <a:cs typeface="Arial"/>
              </a:defRPr>
            </a:lvl1pPr>
            <a:lvl2pPr>
              <a:defRPr sz="2250" b="0">
                <a:solidFill>
                  <a:srgbClr val="23394D"/>
                </a:solidFill>
                <a:latin typeface="Arial"/>
                <a:ea typeface="Arial"/>
                <a:cs typeface="Arial"/>
              </a:defRPr>
            </a:lvl2pPr>
            <a:lvl3pPr>
              <a:defRPr sz="2250" b="0">
                <a:solidFill>
                  <a:srgbClr val="23394D"/>
                </a:solidFill>
                <a:latin typeface="Arial"/>
                <a:ea typeface="Arial"/>
                <a:cs typeface="Arial"/>
              </a:defRPr>
            </a:lvl3pPr>
            <a:lvl4pPr>
              <a:defRPr sz="2250" b="0">
                <a:solidFill>
                  <a:srgbClr val="23394D"/>
                </a:solidFill>
                <a:latin typeface="Arial"/>
                <a:ea typeface="Arial"/>
                <a:cs typeface="Arial"/>
              </a:defRPr>
            </a:lvl4pPr>
            <a:lvl5pPr>
              <a:defRPr sz="2250" b="0">
                <a:solidFill>
                  <a:srgbClr val="23394D"/>
                </a:solidFill>
                <a:latin typeface="Arial"/>
                <a:ea typeface="Arial"/>
                <a:cs typeface="Arial"/>
              </a:defRPr>
            </a:lvl5pPr>
            <a:lvl6pPr>
              <a:defRPr sz="2250" b="0">
                <a:solidFill>
                  <a:srgbClr val="23394D"/>
                </a:solidFill>
                <a:latin typeface="Arial"/>
                <a:ea typeface="Arial"/>
                <a:cs typeface="Arial"/>
              </a:defRPr>
            </a:lvl6pPr>
            <a:lvl7pPr>
              <a:defRPr sz="2250" b="0">
                <a:solidFill>
                  <a:srgbClr val="23394D"/>
                </a:solidFill>
                <a:latin typeface="Arial"/>
                <a:ea typeface="Arial"/>
                <a:cs typeface="Arial"/>
              </a:defRPr>
            </a:lvl7pPr>
            <a:lvl8pPr>
              <a:defRPr sz="2250" b="0">
                <a:solidFill>
                  <a:srgbClr val="23394D"/>
                </a:solidFill>
                <a:latin typeface="Arial"/>
                <a:ea typeface="Arial"/>
                <a:cs typeface="Arial"/>
              </a:defRPr>
            </a:lvl8pPr>
            <a:lvl9pPr>
              <a:defRPr sz="2250" b="0">
                <a:solidFill>
                  <a:srgbClr val="23394D"/>
                </a:solidFill>
                <a:latin typeface="Arial"/>
                <a:ea typeface="Arial"/>
                <a:cs typeface="Arial"/>
              </a:defRPr>
            </a:lvl9pPr>
          </a:lstStyle>
          <a:p xmlns:a="http://schemas.openxmlformats.org/drawingml/2006/main">
            <a:pPr>
              <a:defRPr sz="2250" b="0">
                <a:solidFill>
                  <a:srgbClr val="23394D"/>
                </a:solidFill>
                <a:latin typeface="Arial"/>
                <a:ea typeface="Arial"/>
                <a:cs typeface="Arial"/>
              </a:defRPr>
            </a:pPr>
            <a:r>
              <a:rPr sz="2250" b="0">
                <a:solidFill>
                  <a:srgbClr val="23394D"/>
                </a:solidFill>
                <a:latin typeface="Arial"/>
                <a:ea typeface="Arial"/>
                <a:cs typeface="Arial"/>
              </a:rPr>
              <a:t>Test longer sequences and larger training subsets</a:t>
            </a:r>
          </a:p>
        </p:txBody>
      </p:sp>
      <p:sp>
        <p:nvSpPr>
          <p:cNvPr id="4" name="">
            <a:extLst xmlns:a="http://schemas.openxmlformats.org/drawingml/2006/main">
              <a:ext uri="{FF2B5EF4-FFF2-40B4-BE49-F238E27FC236}">
                <a16:creationId xmlns:a16="http://schemas.microsoft.com/office/drawing/2014/main" id="{93CE3990-5CD9-4E2C-BF75-04D3CCD5FC6B}"/>
              </a:ext>
            </a:extLst>
          </p:cNvPr>
          <p:cNvSpPr>
            <a:spLocks xmlns:a="http://schemas.openxmlformats.org/drawingml/2006/main" noGrp="1"/>
          </p:cNvSpPr>
          <p:nvPr/>
        </p:nvSpPr>
        <p:spPr>
          <a:xfrm xmlns:a="http://schemas.openxmlformats.org/drawingml/2006/main">
            <a:off x="666750" y="3619500"/>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3394D"/>
                </a:solidFill>
                <a:latin typeface="Arial"/>
                <a:ea typeface="Arial"/>
                <a:cs typeface="Arial"/>
              </a:defRPr>
            </a:defPPr>
            <a:lvl1pPr>
              <a:defRPr sz="2250" b="0">
                <a:solidFill>
                  <a:srgbClr val="23394D"/>
                </a:solidFill>
                <a:latin typeface="Arial"/>
                <a:ea typeface="Arial"/>
                <a:cs typeface="Arial"/>
              </a:defRPr>
            </a:lvl1pPr>
            <a:lvl2pPr>
              <a:defRPr sz="2250" b="0">
                <a:solidFill>
                  <a:srgbClr val="23394D"/>
                </a:solidFill>
                <a:latin typeface="Arial"/>
                <a:ea typeface="Arial"/>
                <a:cs typeface="Arial"/>
              </a:defRPr>
            </a:lvl2pPr>
            <a:lvl3pPr>
              <a:defRPr sz="2250" b="0">
                <a:solidFill>
                  <a:srgbClr val="23394D"/>
                </a:solidFill>
                <a:latin typeface="Arial"/>
                <a:ea typeface="Arial"/>
                <a:cs typeface="Arial"/>
              </a:defRPr>
            </a:lvl3pPr>
            <a:lvl4pPr>
              <a:defRPr sz="2250" b="0">
                <a:solidFill>
                  <a:srgbClr val="23394D"/>
                </a:solidFill>
                <a:latin typeface="Arial"/>
                <a:ea typeface="Arial"/>
                <a:cs typeface="Arial"/>
              </a:defRPr>
            </a:lvl4pPr>
            <a:lvl5pPr>
              <a:defRPr sz="2250" b="0">
                <a:solidFill>
                  <a:srgbClr val="23394D"/>
                </a:solidFill>
                <a:latin typeface="Arial"/>
                <a:ea typeface="Arial"/>
                <a:cs typeface="Arial"/>
              </a:defRPr>
            </a:lvl5pPr>
            <a:lvl6pPr>
              <a:defRPr sz="2250" b="0">
                <a:solidFill>
                  <a:srgbClr val="23394D"/>
                </a:solidFill>
                <a:latin typeface="Arial"/>
                <a:ea typeface="Arial"/>
                <a:cs typeface="Arial"/>
              </a:defRPr>
            </a:lvl6pPr>
            <a:lvl7pPr>
              <a:defRPr sz="2250" b="0">
                <a:solidFill>
                  <a:srgbClr val="23394D"/>
                </a:solidFill>
                <a:latin typeface="Arial"/>
                <a:ea typeface="Arial"/>
                <a:cs typeface="Arial"/>
              </a:defRPr>
            </a:lvl7pPr>
            <a:lvl8pPr>
              <a:defRPr sz="2250" b="0">
                <a:solidFill>
                  <a:srgbClr val="23394D"/>
                </a:solidFill>
                <a:latin typeface="Arial"/>
                <a:ea typeface="Arial"/>
                <a:cs typeface="Arial"/>
              </a:defRPr>
            </a:lvl8pPr>
            <a:lvl9pPr>
              <a:defRPr sz="2250" b="0">
                <a:solidFill>
                  <a:srgbClr val="23394D"/>
                </a:solidFill>
                <a:latin typeface="Arial"/>
                <a:ea typeface="Arial"/>
                <a:cs typeface="Arial"/>
              </a:defRPr>
            </a:lvl9pPr>
          </a:lstStyle>
          <a:p xmlns:a="http://schemas.openxmlformats.org/drawingml/2006/main">
            <a:pPr>
              <a:defRPr sz="2250" b="0">
                <a:solidFill>
                  <a:srgbClr val="23394D"/>
                </a:solidFill>
                <a:latin typeface="Arial"/>
                <a:ea typeface="Arial"/>
                <a:cs typeface="Arial"/>
              </a:defRPr>
            </a:pPr>
            <a:r>
              <a:rPr sz="2250" b="0">
                <a:solidFill>
                  <a:srgbClr val="23394D"/>
                </a:solidFill>
                <a:latin typeface="Arial"/>
                <a:ea typeface="Arial"/>
                <a:cs typeface="Arial"/>
              </a:rPr>
              <a:t>Inspect mixed sentiment and ambiguous rating labels</a:t>
            </a:r>
          </a:p>
        </p:txBody>
      </p:sp>
      <p:sp>
        <p:nvSpPr>
          <p:cNvPr id="5" name="">
            <a:extLst xmlns:a="http://schemas.openxmlformats.org/drawingml/2006/main">
              <a:ext uri="{FF2B5EF4-FFF2-40B4-BE49-F238E27FC236}">
                <a16:creationId xmlns:a16="http://schemas.microsoft.com/office/drawing/2014/main" id="{E7AE2783-A937-4BED-9557-95A49FF5EC02}"/>
              </a:ext>
            </a:extLst>
          </p:cNvPr>
          <p:cNvSpPr>
            <a:spLocks xmlns:a="http://schemas.openxmlformats.org/drawingml/2006/main" noGrp="1"/>
          </p:cNvSpPr>
          <p:nvPr/>
        </p:nvSpPr>
        <p:spPr>
          <a:xfrm xmlns:a="http://schemas.openxmlformats.org/drawingml/2006/main">
            <a:off x="666750" y="461962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3394D"/>
                </a:solidFill>
                <a:latin typeface="Arial"/>
                <a:ea typeface="Arial"/>
                <a:cs typeface="Arial"/>
              </a:defRPr>
            </a:defPPr>
            <a:lvl1pPr>
              <a:defRPr sz="2250" b="0">
                <a:solidFill>
                  <a:srgbClr val="23394D"/>
                </a:solidFill>
                <a:latin typeface="Arial"/>
                <a:ea typeface="Arial"/>
                <a:cs typeface="Arial"/>
              </a:defRPr>
            </a:lvl1pPr>
            <a:lvl2pPr>
              <a:defRPr sz="2250" b="0">
                <a:solidFill>
                  <a:srgbClr val="23394D"/>
                </a:solidFill>
                <a:latin typeface="Arial"/>
                <a:ea typeface="Arial"/>
                <a:cs typeface="Arial"/>
              </a:defRPr>
            </a:lvl2pPr>
            <a:lvl3pPr>
              <a:defRPr sz="2250" b="0">
                <a:solidFill>
                  <a:srgbClr val="23394D"/>
                </a:solidFill>
                <a:latin typeface="Arial"/>
                <a:ea typeface="Arial"/>
                <a:cs typeface="Arial"/>
              </a:defRPr>
            </a:lvl3pPr>
            <a:lvl4pPr>
              <a:defRPr sz="2250" b="0">
                <a:solidFill>
                  <a:srgbClr val="23394D"/>
                </a:solidFill>
                <a:latin typeface="Arial"/>
                <a:ea typeface="Arial"/>
                <a:cs typeface="Arial"/>
              </a:defRPr>
            </a:lvl4pPr>
            <a:lvl5pPr>
              <a:defRPr sz="2250" b="0">
                <a:solidFill>
                  <a:srgbClr val="23394D"/>
                </a:solidFill>
                <a:latin typeface="Arial"/>
                <a:ea typeface="Arial"/>
                <a:cs typeface="Arial"/>
              </a:defRPr>
            </a:lvl5pPr>
            <a:lvl6pPr>
              <a:defRPr sz="2250" b="0">
                <a:solidFill>
                  <a:srgbClr val="23394D"/>
                </a:solidFill>
                <a:latin typeface="Arial"/>
                <a:ea typeface="Arial"/>
                <a:cs typeface="Arial"/>
              </a:defRPr>
            </a:lvl6pPr>
            <a:lvl7pPr>
              <a:defRPr sz="2250" b="0">
                <a:solidFill>
                  <a:srgbClr val="23394D"/>
                </a:solidFill>
                <a:latin typeface="Arial"/>
                <a:ea typeface="Arial"/>
                <a:cs typeface="Arial"/>
              </a:defRPr>
            </a:lvl7pPr>
            <a:lvl8pPr>
              <a:defRPr sz="2250" b="0">
                <a:solidFill>
                  <a:srgbClr val="23394D"/>
                </a:solidFill>
                <a:latin typeface="Arial"/>
                <a:ea typeface="Arial"/>
                <a:cs typeface="Arial"/>
              </a:defRPr>
            </a:lvl8pPr>
            <a:lvl9pPr>
              <a:defRPr sz="2250" b="0">
                <a:solidFill>
                  <a:srgbClr val="23394D"/>
                </a:solidFill>
                <a:latin typeface="Arial"/>
                <a:ea typeface="Arial"/>
                <a:cs typeface="Arial"/>
              </a:defRPr>
            </a:lvl9pPr>
          </a:lstStyle>
          <a:p xmlns:a="http://schemas.openxmlformats.org/drawingml/2006/main">
            <a:pPr>
              <a:defRPr sz="2250" b="0">
                <a:solidFill>
                  <a:srgbClr val="23394D"/>
                </a:solidFill>
                <a:latin typeface="Arial"/>
                <a:ea typeface="Arial"/>
                <a:cs typeface="Arial"/>
              </a:defRPr>
            </a:pPr>
            <a:r>
              <a:rPr sz="2250" b="0">
                <a:solidFill>
                  <a:srgbClr val="23394D"/>
                </a:solidFill>
                <a:latin typeface="Arial"/>
                <a:ea typeface="Arial"/>
                <a:cs typeface="Arial"/>
              </a:rPr>
              <a:t>Evaluate stronger deduplication and generalization by drug</a:t>
            </a:r>
          </a:p>
        </p:txBody>
      </p:sp>
    </p:spTree>
    <p:extLst>
      <p:ext uri="{BB962C8B-B14F-4D97-AF65-F5344CB8AC3E}">
        <p14:creationId xmlns:p14="http://schemas.microsoft.com/office/powerpoint/2010/main" val="119118048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2026-10-20T12:13:44.6930000Z</dcterms:created>
  <dcterms:modified xsi:type="dcterms:W3CDTF">2026-10-20T12:13:44.6930000Z</dcterms:modified>
</coreProperties>
</file>